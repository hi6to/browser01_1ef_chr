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8"/>
  </p:notesMasterIdLst>
  <p:handoutMasterIdLst>
    <p:handoutMasterId r:id="rId19"/>
  </p:handoutMasterIdLst>
  <p:sldIdLst>
    <p:sldId id="256" r:id="rId2"/>
    <p:sldId id="296" r:id="rId3"/>
    <p:sldId id="279" r:id="rId4"/>
    <p:sldId id="284" r:id="rId5"/>
    <p:sldId id="285" r:id="rId6"/>
    <p:sldId id="286" r:id="rId7"/>
    <p:sldId id="297" r:id="rId8"/>
    <p:sldId id="287" r:id="rId9"/>
    <p:sldId id="288" r:id="rId10"/>
    <p:sldId id="289" r:id="rId11"/>
    <p:sldId id="290" r:id="rId12"/>
    <p:sldId id="291" r:id="rId13"/>
    <p:sldId id="292" r:id="rId14"/>
    <p:sldId id="293" r:id="rId15"/>
    <p:sldId id="294" r:id="rId16"/>
    <p:sldId id="295" r:id="rId17"/>
  </p:sldIdLst>
  <p:sldSz cx="9144000" cy="6858000" type="screen4x3"/>
  <p:notesSz cx="6794500" cy="9931400"/>
  <p:defaultTextStyle>
    <a:defPPr>
      <a:defRPr lang="ja-JP"/>
    </a:defPPr>
    <a:lvl1pPr algn="l" rtl="0" fontAlgn="base">
      <a:spcBef>
        <a:spcPct val="0"/>
      </a:spcBef>
      <a:spcAft>
        <a:spcPct val="0"/>
      </a:spcAft>
      <a:defRPr kumimoji="1" kern="1200">
        <a:solidFill>
          <a:schemeClr val="tx1"/>
        </a:solidFill>
        <a:latin typeface="Arial" pitchFamily="34"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pitchFamily="34" charset="0"/>
        <a:ea typeface="ＭＳ Ｐゴシック" pitchFamily="50" charset="-128"/>
        <a:cs typeface="+mn-cs"/>
      </a:defRPr>
    </a:lvl2pPr>
    <a:lvl3pPr marL="914400" algn="l" rtl="0" fontAlgn="base">
      <a:spcBef>
        <a:spcPct val="0"/>
      </a:spcBef>
      <a:spcAft>
        <a:spcPct val="0"/>
      </a:spcAft>
      <a:defRPr kumimoji="1" kern="1200">
        <a:solidFill>
          <a:schemeClr val="tx1"/>
        </a:solidFill>
        <a:latin typeface="Arial" pitchFamily="34" charset="0"/>
        <a:ea typeface="ＭＳ Ｐゴシック" pitchFamily="50" charset="-128"/>
        <a:cs typeface="+mn-cs"/>
      </a:defRPr>
    </a:lvl3pPr>
    <a:lvl4pPr marL="1371600" algn="l" rtl="0" fontAlgn="base">
      <a:spcBef>
        <a:spcPct val="0"/>
      </a:spcBef>
      <a:spcAft>
        <a:spcPct val="0"/>
      </a:spcAft>
      <a:defRPr kumimoji="1" kern="1200">
        <a:solidFill>
          <a:schemeClr val="tx1"/>
        </a:solidFill>
        <a:latin typeface="Arial" pitchFamily="34" charset="0"/>
        <a:ea typeface="ＭＳ Ｐゴシック" pitchFamily="50" charset="-128"/>
        <a:cs typeface="+mn-cs"/>
      </a:defRPr>
    </a:lvl4pPr>
    <a:lvl5pPr marL="1828800" algn="l" rtl="0" fontAlgn="base">
      <a:spcBef>
        <a:spcPct val="0"/>
      </a:spcBef>
      <a:spcAft>
        <a:spcPct val="0"/>
      </a:spcAft>
      <a:defRPr kumimoji="1"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kern="1200">
        <a:solidFill>
          <a:schemeClr val="tx1"/>
        </a:solidFill>
        <a:latin typeface="Arial" pitchFamily="34" charset="0"/>
        <a:ea typeface="ＭＳ Ｐゴシック" pitchFamily="50"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FFCC99"/>
    <a:srgbClr val="FFFF00"/>
    <a:srgbClr val="FFFF99"/>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22" d="100"/>
          <a:sy n="122" d="100"/>
        </p:scale>
        <p:origin x="-1314" y="-90"/>
      </p:cViewPr>
      <p:guideLst>
        <p:guide orient="horz" pos="1797"/>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4813" cy="496888"/>
          </a:xfrm>
          <a:prstGeom prst="rect">
            <a:avLst/>
          </a:prstGeom>
        </p:spPr>
        <p:txBody>
          <a:bodyPr vert="horz" lIns="91440" tIns="45720" rIns="91440" bIns="45720" rtlCol="0"/>
          <a:lstStyle>
            <a:lvl1pPr algn="l">
              <a:defRPr sz="1200">
                <a:latin typeface="Arial" charset="0"/>
                <a:ea typeface="ＭＳ Ｐゴシック" charset="0"/>
                <a:cs typeface="ＭＳ Ｐゴシック" charset="0"/>
              </a:defRPr>
            </a:lvl1pPr>
          </a:lstStyle>
          <a:p>
            <a:pPr>
              <a:defRPr/>
            </a:pPr>
            <a:endParaRPr lang="ja-JP" altLang="en-US"/>
          </a:p>
        </p:txBody>
      </p:sp>
      <p:sp>
        <p:nvSpPr>
          <p:cNvPr id="3" name="日付プレースホルダー 2"/>
          <p:cNvSpPr>
            <a:spLocks noGrp="1"/>
          </p:cNvSpPr>
          <p:nvPr>
            <p:ph type="dt" sz="quarter" idx="1"/>
          </p:nvPr>
        </p:nvSpPr>
        <p:spPr>
          <a:xfrm>
            <a:off x="3848100" y="0"/>
            <a:ext cx="2944813" cy="496888"/>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812A3E05-20B9-401C-9CDB-C8AA716219B6}" type="datetimeFigureOut">
              <a:rPr lang="ja-JP" altLang="en-US"/>
              <a:pPr/>
              <a:t>2016/5/9</a:t>
            </a:fld>
            <a:endParaRPr lang="ja-JP" altLang="en-US"/>
          </a:p>
        </p:txBody>
      </p:sp>
      <p:sp>
        <p:nvSpPr>
          <p:cNvPr id="4" name="フッター プレースホルダー 3"/>
          <p:cNvSpPr>
            <a:spLocks noGrp="1"/>
          </p:cNvSpPr>
          <p:nvPr>
            <p:ph type="ftr" sz="quarter" idx="2"/>
          </p:nvPr>
        </p:nvSpPr>
        <p:spPr>
          <a:xfrm>
            <a:off x="0" y="9432925"/>
            <a:ext cx="2944813" cy="496888"/>
          </a:xfrm>
          <a:prstGeom prst="rect">
            <a:avLst/>
          </a:prstGeom>
        </p:spPr>
        <p:txBody>
          <a:bodyPr vert="horz" lIns="91440" tIns="45720" rIns="91440" bIns="45720" rtlCol="0" anchor="b"/>
          <a:lstStyle>
            <a:lvl1pPr algn="l">
              <a:defRPr sz="1200">
                <a:latin typeface="Arial" charset="0"/>
                <a:ea typeface="ＭＳ Ｐゴシック" charset="0"/>
                <a:cs typeface="ＭＳ Ｐゴシック" charset="0"/>
              </a:defRPr>
            </a:lvl1pPr>
          </a:lstStyle>
          <a:p>
            <a:pPr>
              <a:defRPr/>
            </a:pPr>
            <a:endParaRPr lang="ja-JP" altLang="en-US"/>
          </a:p>
        </p:txBody>
      </p:sp>
      <p:sp>
        <p:nvSpPr>
          <p:cNvPr id="5" name="スライド番号プレースホルダー 4"/>
          <p:cNvSpPr>
            <a:spLocks noGrp="1"/>
          </p:cNvSpPr>
          <p:nvPr>
            <p:ph type="sldNum" sz="quarter" idx="3"/>
          </p:nvPr>
        </p:nvSpPr>
        <p:spPr>
          <a:xfrm>
            <a:off x="3848100" y="9432925"/>
            <a:ext cx="2944813" cy="496888"/>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8CF7773C-9C2F-4654-BBDF-E9DA7FD0564A}" type="slidenum">
              <a:rPr lang="ja-JP" altLang="en-US"/>
              <a:pPr/>
              <a:t>‹#›</a:t>
            </a:fld>
            <a:endParaRPr lang="ja-JP" altLang="en-US"/>
          </a:p>
        </p:txBody>
      </p:sp>
    </p:spTree>
    <p:extLst>
      <p:ext uri="{BB962C8B-B14F-4D97-AF65-F5344CB8AC3E}">
        <p14:creationId xmlns:p14="http://schemas.microsoft.com/office/powerpoint/2010/main" val="345598298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44813"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ea typeface="ＭＳ Ｐゴシック" pitchFamily="50" charset="-128"/>
                <a:cs typeface="+mn-cs"/>
              </a:defRPr>
            </a:lvl1pPr>
          </a:lstStyle>
          <a:p>
            <a:pPr>
              <a:defRPr/>
            </a:pPr>
            <a:endParaRPr lang="en-US" altLang="ja-JP"/>
          </a:p>
        </p:txBody>
      </p:sp>
      <p:sp>
        <p:nvSpPr>
          <p:cNvPr id="46083" name="Rectangle 3"/>
          <p:cNvSpPr>
            <a:spLocks noGrp="1" noChangeArrowheads="1"/>
          </p:cNvSpPr>
          <p:nvPr>
            <p:ph type="dt" idx="1"/>
          </p:nvPr>
        </p:nvSpPr>
        <p:spPr bwMode="auto">
          <a:xfrm>
            <a:off x="3848100" y="0"/>
            <a:ext cx="2944813"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pitchFamily="50" charset="-128"/>
                <a:cs typeface="+mn-cs"/>
              </a:defRPr>
            </a:lvl1pPr>
          </a:lstStyle>
          <a:p>
            <a:pPr>
              <a:defRPr/>
            </a:pPr>
            <a:endParaRPr lang="en-US" altLang="ja-JP"/>
          </a:p>
        </p:txBody>
      </p:sp>
      <p:sp>
        <p:nvSpPr>
          <p:cNvPr id="18436" name="Rectangle 4"/>
          <p:cNvSpPr>
            <a:spLocks noGrp="1" noRot="1" noChangeAspect="1" noChangeArrowheads="1" noTextEdit="1"/>
          </p:cNvSpPr>
          <p:nvPr>
            <p:ph type="sldImg" idx="2"/>
          </p:nvPr>
        </p:nvSpPr>
        <p:spPr bwMode="auto">
          <a:xfrm>
            <a:off x="914400" y="744538"/>
            <a:ext cx="4965700" cy="37242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ma14:placeholderFlag xmlns:ma14="http://schemas.microsoft.com/office/mac/drawingml/2011/main" xmlns="" val="1"/>
            </a:ext>
          </a:extLst>
        </p:spPr>
      </p:sp>
      <p:sp>
        <p:nvSpPr>
          <p:cNvPr id="46085" name="Rectangle 5"/>
          <p:cNvSpPr>
            <a:spLocks noGrp="1" noChangeArrowheads="1"/>
          </p:cNvSpPr>
          <p:nvPr>
            <p:ph type="body" sz="quarter" idx="3"/>
          </p:nvPr>
        </p:nvSpPr>
        <p:spPr bwMode="auto">
          <a:xfrm>
            <a:off x="679450" y="4718050"/>
            <a:ext cx="5435600" cy="446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46086" name="Rectangle 6"/>
          <p:cNvSpPr>
            <a:spLocks noGrp="1" noChangeArrowheads="1"/>
          </p:cNvSpPr>
          <p:nvPr>
            <p:ph type="ftr" sz="quarter" idx="4"/>
          </p:nvPr>
        </p:nvSpPr>
        <p:spPr bwMode="auto">
          <a:xfrm>
            <a:off x="0" y="9432925"/>
            <a:ext cx="2944813"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ea typeface="ＭＳ Ｐゴシック" pitchFamily="50" charset="-128"/>
                <a:cs typeface="+mn-cs"/>
              </a:defRPr>
            </a:lvl1pPr>
          </a:lstStyle>
          <a:p>
            <a:pPr>
              <a:defRPr/>
            </a:pPr>
            <a:endParaRPr lang="en-US" altLang="ja-JP"/>
          </a:p>
        </p:txBody>
      </p:sp>
      <p:sp>
        <p:nvSpPr>
          <p:cNvPr id="46087" name="Rectangle 7"/>
          <p:cNvSpPr>
            <a:spLocks noGrp="1" noChangeArrowheads="1"/>
          </p:cNvSpPr>
          <p:nvPr>
            <p:ph type="sldNum" sz="quarter" idx="5"/>
          </p:nvPr>
        </p:nvSpPr>
        <p:spPr bwMode="auto">
          <a:xfrm>
            <a:off x="3848100" y="9432925"/>
            <a:ext cx="2944813"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6A4C2F3D-51AA-4459-AC71-9B3D297DAC10}" type="slidenum">
              <a:rPr lang="en-US" altLang="ja-JP"/>
              <a:pPr/>
              <a:t>‹#›</a:t>
            </a:fld>
            <a:endParaRPr lang="en-US" altLang="ja-JP"/>
          </a:p>
        </p:txBody>
      </p:sp>
    </p:spTree>
    <p:extLst>
      <p:ext uri="{BB962C8B-B14F-4D97-AF65-F5344CB8AC3E}">
        <p14:creationId xmlns:p14="http://schemas.microsoft.com/office/powerpoint/2010/main" val="4132319393"/>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ＭＳ Ｐ明朝" charset="0"/>
      </a:defRPr>
    </a:lvl1pPr>
    <a:lvl2pPr marL="4572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ＭＳ Ｐ明朝" charset="0"/>
      </a:defRPr>
    </a:lvl2pPr>
    <a:lvl3pPr marL="9144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ＭＳ Ｐ明朝" charset="0"/>
      </a:defRPr>
    </a:lvl3pPr>
    <a:lvl4pPr marL="13716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ＭＳ Ｐ明朝" charset="0"/>
      </a:defRPr>
    </a:lvl4pPr>
    <a:lvl5pPr marL="18288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ＭＳ Ｐ明朝" charset="0"/>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ja-JP" sz="2400">
                <a:latin typeface="Times New Roman" charset="0"/>
                <a:ea typeface="ＭＳ Ｐゴシック" charset="0"/>
                <a:cs typeface="ＭＳ Ｐゴシック"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endParaRPr kumimoji="0" lang="ja-JP" altLang="en-US">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endParaRPr kumimoji="0" lang="ja-JP" altLang="en-US">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endParaRPr kumimoji="0" lang="ja-JP" altLang="en-US">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endParaRPr kumimoji="0" lang="ja-JP" altLang="en-US">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endParaRPr kumimoji="0" lang="ja-JP" altLang="en-US">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endParaRPr kumimoji="0" lang="ja-JP" altLang="en-US">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endParaRPr kumimoji="0" lang="ja-JP" altLang="en-US">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endParaRPr kumimoji="0" lang="ja-JP" altLang="en-US">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endParaRPr kumimoji="0" lang="ja-JP" altLang="en-US">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endParaRPr kumimoji="0" lang="ja-JP" altLang="en-US">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endParaRPr kumimoji="0" lang="ja-JP" altLang="en-US">
                  <a:latin typeface="Times New Roman" pitchFamily="18" charset="0"/>
                </a:endParaRPr>
              </a:p>
            </p:txBody>
          </p:sp>
        </p:grpSp>
      </p:grpSp>
      <p:sp>
        <p:nvSpPr>
          <p:cNvPr id="2459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ja-JP" altLang="en-US" noProof="0" smtClean="0"/>
              <a:t>マスタ タイトルの書式設定</a:t>
            </a:r>
          </a:p>
        </p:txBody>
      </p:sp>
      <p:sp>
        <p:nvSpPr>
          <p:cNvPr id="24596"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ja-JP" altLang="en-US" noProof="0" smtClean="0"/>
              <a:t>マスタ サブタイトルの書式設定</a:t>
            </a:r>
          </a:p>
        </p:txBody>
      </p:sp>
      <p:sp>
        <p:nvSpPr>
          <p:cNvPr id="18" name="Rectangle 16"/>
          <p:cNvSpPr>
            <a:spLocks noGrp="1" noChangeArrowheads="1"/>
          </p:cNvSpPr>
          <p:nvPr>
            <p:ph type="dt" sz="half" idx="10"/>
          </p:nvPr>
        </p:nvSpPr>
        <p:spPr>
          <a:xfrm>
            <a:off x="34925" y="6381750"/>
            <a:ext cx="2133600" cy="457200"/>
          </a:xfrm>
        </p:spPr>
        <p:txBody>
          <a:bodyPr/>
          <a:lstStyle>
            <a:lvl1pPr>
              <a:defRPr smtClean="0"/>
            </a:lvl1pPr>
          </a:lstStyle>
          <a:p>
            <a:pPr>
              <a:defRPr/>
            </a:pPr>
            <a:r>
              <a:rPr lang="en-US" altLang="ja-JP" smtClean="0"/>
              <a:t>2015/11/18</a:t>
            </a:r>
            <a:endParaRPr lang="en-US" altLang="ja-JP"/>
          </a:p>
        </p:txBody>
      </p:sp>
      <p:sp>
        <p:nvSpPr>
          <p:cNvPr id="19" name="Rectangle 17"/>
          <p:cNvSpPr>
            <a:spLocks noGrp="1" noChangeArrowheads="1"/>
          </p:cNvSpPr>
          <p:nvPr>
            <p:ph type="ftr" sz="quarter" idx="11"/>
          </p:nvPr>
        </p:nvSpPr>
        <p:spPr/>
        <p:txBody>
          <a:bodyPr/>
          <a:lstStyle>
            <a:lvl1pPr>
              <a:defRPr smtClean="0"/>
            </a:lvl1pPr>
          </a:lstStyle>
          <a:p>
            <a:pPr>
              <a:defRPr/>
            </a:pPr>
            <a:r>
              <a:rPr lang="ja-JP" altLang="en-US"/>
              <a:t>アルゴリズムとデータ構造 </a:t>
            </a:r>
            <a:r>
              <a:rPr lang="en-US" altLang="ja-JP"/>
              <a:t>2015</a:t>
            </a:r>
          </a:p>
        </p:txBody>
      </p:sp>
      <p:sp>
        <p:nvSpPr>
          <p:cNvPr id="20" name="Rectangle 18"/>
          <p:cNvSpPr>
            <a:spLocks noGrp="1" noChangeArrowheads="1"/>
          </p:cNvSpPr>
          <p:nvPr>
            <p:ph type="sldNum" sz="quarter" idx="12"/>
          </p:nvPr>
        </p:nvSpPr>
        <p:spPr/>
        <p:txBody>
          <a:bodyPr/>
          <a:lstStyle>
            <a:lvl1pPr>
              <a:defRPr/>
            </a:lvl1pPr>
          </a:lstStyle>
          <a:p>
            <a:fld id="{E858AA75-D076-492B-8F70-C7AE5D99B842}" type="slidenum">
              <a:rPr lang="en-US" altLang="ja-JP"/>
              <a:pPr/>
              <a:t>‹#›</a:t>
            </a:fld>
            <a:endParaRPr lang="en-US" altLang="ja-JP"/>
          </a:p>
        </p:txBody>
      </p:sp>
    </p:spTree>
    <p:extLst>
      <p:ext uri="{BB962C8B-B14F-4D97-AF65-F5344CB8AC3E}">
        <p14:creationId xmlns:p14="http://schemas.microsoft.com/office/powerpoint/2010/main" val="3777918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2"/>
          <p:cNvSpPr>
            <a:spLocks noGrp="1" noChangeArrowheads="1"/>
          </p:cNvSpPr>
          <p:nvPr>
            <p:ph type="ftr" sz="quarter" idx="10"/>
          </p:nvPr>
        </p:nvSpPr>
        <p:spPr>
          <a:ln/>
        </p:spPr>
        <p:txBody>
          <a:bodyPr/>
          <a:lstStyle>
            <a:lvl1pPr>
              <a:defRPr/>
            </a:lvl1pPr>
          </a:lstStyle>
          <a:p>
            <a:pPr>
              <a:defRPr/>
            </a:pPr>
            <a:r>
              <a:rPr lang="ja-JP" altLang="en-US"/>
              <a:t>アルゴリズムとデータ構造 </a:t>
            </a:r>
            <a:r>
              <a:rPr lang="en-US" altLang="ja-JP"/>
              <a:t>2015</a:t>
            </a:r>
          </a:p>
        </p:txBody>
      </p:sp>
      <p:sp>
        <p:nvSpPr>
          <p:cNvPr id="5" name="Rectangle 16"/>
          <p:cNvSpPr>
            <a:spLocks noGrp="1" noChangeArrowheads="1"/>
          </p:cNvSpPr>
          <p:nvPr>
            <p:ph type="dt" sz="half" idx="11"/>
          </p:nvPr>
        </p:nvSpPr>
        <p:spPr>
          <a:ln/>
        </p:spPr>
        <p:txBody>
          <a:bodyPr/>
          <a:lstStyle>
            <a:lvl1pPr>
              <a:defRPr/>
            </a:lvl1pPr>
          </a:lstStyle>
          <a:p>
            <a:pPr>
              <a:defRPr/>
            </a:pPr>
            <a:r>
              <a:rPr lang="en-US" altLang="ja-JP" smtClean="0"/>
              <a:t>2015/11/18</a:t>
            </a:r>
            <a:endParaRPr lang="en-US" altLang="ja-JP"/>
          </a:p>
        </p:txBody>
      </p:sp>
      <p:sp>
        <p:nvSpPr>
          <p:cNvPr id="6" name="Rectangle 3"/>
          <p:cNvSpPr>
            <a:spLocks noGrp="1" noChangeArrowheads="1"/>
          </p:cNvSpPr>
          <p:nvPr>
            <p:ph type="sldNum" sz="quarter" idx="12"/>
          </p:nvPr>
        </p:nvSpPr>
        <p:spPr>
          <a:ln/>
        </p:spPr>
        <p:txBody>
          <a:bodyPr/>
          <a:lstStyle>
            <a:lvl1pPr>
              <a:defRPr/>
            </a:lvl1pPr>
          </a:lstStyle>
          <a:p>
            <a:fld id="{6AC8D203-DEB7-44BC-9646-49EA64EF1BF8}" type="slidenum">
              <a:rPr lang="en-US" altLang="ja-JP"/>
              <a:pPr/>
              <a:t>‹#›</a:t>
            </a:fld>
            <a:endParaRPr lang="en-US" altLang="ja-JP"/>
          </a:p>
        </p:txBody>
      </p:sp>
    </p:spTree>
    <p:extLst>
      <p:ext uri="{BB962C8B-B14F-4D97-AF65-F5344CB8AC3E}">
        <p14:creationId xmlns:p14="http://schemas.microsoft.com/office/powerpoint/2010/main" val="3406135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smtClean="0"/>
              <a:t>マスター テキストの書式設定</a:t>
            </a:r>
          </a:p>
        </p:txBody>
      </p:sp>
      <p:sp>
        <p:nvSpPr>
          <p:cNvPr id="4" name="Rectangle 2"/>
          <p:cNvSpPr>
            <a:spLocks noGrp="1" noChangeArrowheads="1"/>
          </p:cNvSpPr>
          <p:nvPr>
            <p:ph type="ftr" sz="quarter" idx="10"/>
          </p:nvPr>
        </p:nvSpPr>
        <p:spPr>
          <a:ln/>
        </p:spPr>
        <p:txBody>
          <a:bodyPr/>
          <a:lstStyle>
            <a:lvl1pPr>
              <a:defRPr/>
            </a:lvl1pPr>
          </a:lstStyle>
          <a:p>
            <a:pPr>
              <a:defRPr/>
            </a:pPr>
            <a:r>
              <a:rPr lang="ja-JP" altLang="en-US"/>
              <a:t>アルゴリズムとデータ構造 </a:t>
            </a:r>
            <a:r>
              <a:rPr lang="en-US" altLang="ja-JP"/>
              <a:t>2015</a:t>
            </a:r>
          </a:p>
        </p:txBody>
      </p:sp>
      <p:sp>
        <p:nvSpPr>
          <p:cNvPr id="5" name="Rectangle 16"/>
          <p:cNvSpPr>
            <a:spLocks noGrp="1" noChangeArrowheads="1"/>
          </p:cNvSpPr>
          <p:nvPr>
            <p:ph type="dt" sz="half" idx="11"/>
          </p:nvPr>
        </p:nvSpPr>
        <p:spPr>
          <a:ln/>
        </p:spPr>
        <p:txBody>
          <a:bodyPr/>
          <a:lstStyle>
            <a:lvl1pPr>
              <a:defRPr/>
            </a:lvl1pPr>
          </a:lstStyle>
          <a:p>
            <a:pPr>
              <a:defRPr/>
            </a:pPr>
            <a:r>
              <a:rPr lang="en-US" altLang="ja-JP" smtClean="0"/>
              <a:t>2015/11/18</a:t>
            </a:r>
            <a:endParaRPr lang="en-US" altLang="ja-JP"/>
          </a:p>
        </p:txBody>
      </p:sp>
      <p:sp>
        <p:nvSpPr>
          <p:cNvPr id="6" name="Rectangle 3"/>
          <p:cNvSpPr>
            <a:spLocks noGrp="1" noChangeArrowheads="1"/>
          </p:cNvSpPr>
          <p:nvPr>
            <p:ph type="sldNum" sz="quarter" idx="12"/>
          </p:nvPr>
        </p:nvSpPr>
        <p:spPr>
          <a:ln/>
        </p:spPr>
        <p:txBody>
          <a:bodyPr/>
          <a:lstStyle>
            <a:lvl1pPr>
              <a:defRPr/>
            </a:lvl1pPr>
          </a:lstStyle>
          <a:p>
            <a:fld id="{7CA75B05-7DDE-4E75-9E63-7D1CF5548C55}" type="slidenum">
              <a:rPr lang="en-US" altLang="ja-JP"/>
              <a:pPr/>
              <a:t>‹#›</a:t>
            </a:fld>
            <a:endParaRPr lang="en-US" altLang="ja-JP"/>
          </a:p>
        </p:txBody>
      </p:sp>
    </p:spTree>
    <p:extLst>
      <p:ext uri="{BB962C8B-B14F-4D97-AF65-F5344CB8AC3E}">
        <p14:creationId xmlns:p14="http://schemas.microsoft.com/office/powerpoint/2010/main" val="2151171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ー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Rectangle 2"/>
          <p:cNvSpPr>
            <a:spLocks noGrp="1" noChangeArrowheads="1"/>
          </p:cNvSpPr>
          <p:nvPr>
            <p:ph type="ftr" sz="quarter" idx="10"/>
          </p:nvPr>
        </p:nvSpPr>
        <p:spPr>
          <a:ln/>
        </p:spPr>
        <p:txBody>
          <a:bodyPr/>
          <a:lstStyle>
            <a:lvl1pPr>
              <a:defRPr/>
            </a:lvl1pPr>
          </a:lstStyle>
          <a:p>
            <a:pPr>
              <a:defRPr/>
            </a:pPr>
            <a:r>
              <a:rPr lang="ja-JP" altLang="en-US"/>
              <a:t>アルゴリズムとデータ構造 </a:t>
            </a:r>
            <a:r>
              <a:rPr lang="en-US" altLang="ja-JP"/>
              <a:t>2015</a:t>
            </a:r>
          </a:p>
        </p:txBody>
      </p:sp>
      <p:sp>
        <p:nvSpPr>
          <p:cNvPr id="6" name="Rectangle 16"/>
          <p:cNvSpPr>
            <a:spLocks noGrp="1" noChangeArrowheads="1"/>
          </p:cNvSpPr>
          <p:nvPr>
            <p:ph type="dt" sz="half" idx="11"/>
          </p:nvPr>
        </p:nvSpPr>
        <p:spPr>
          <a:ln/>
        </p:spPr>
        <p:txBody>
          <a:bodyPr/>
          <a:lstStyle>
            <a:lvl1pPr>
              <a:defRPr/>
            </a:lvl1pPr>
          </a:lstStyle>
          <a:p>
            <a:pPr>
              <a:defRPr/>
            </a:pPr>
            <a:r>
              <a:rPr lang="en-US" altLang="ja-JP" smtClean="0"/>
              <a:t>2015/11/18</a:t>
            </a:r>
            <a:endParaRPr lang="en-US" altLang="ja-JP"/>
          </a:p>
        </p:txBody>
      </p:sp>
      <p:sp>
        <p:nvSpPr>
          <p:cNvPr id="7" name="Rectangle 3"/>
          <p:cNvSpPr>
            <a:spLocks noGrp="1" noChangeArrowheads="1"/>
          </p:cNvSpPr>
          <p:nvPr>
            <p:ph type="sldNum" sz="quarter" idx="12"/>
          </p:nvPr>
        </p:nvSpPr>
        <p:spPr>
          <a:ln/>
        </p:spPr>
        <p:txBody>
          <a:bodyPr/>
          <a:lstStyle>
            <a:lvl1pPr>
              <a:defRPr/>
            </a:lvl1pPr>
          </a:lstStyle>
          <a:p>
            <a:fld id="{C7671892-E469-4544-8347-CA404BDD979C}" type="slidenum">
              <a:rPr lang="en-US" altLang="ja-JP"/>
              <a:pPr/>
              <a:t>‹#›</a:t>
            </a:fld>
            <a:endParaRPr lang="en-US" altLang="ja-JP"/>
          </a:p>
        </p:txBody>
      </p:sp>
    </p:spTree>
    <p:extLst>
      <p:ext uri="{BB962C8B-B14F-4D97-AF65-F5344CB8AC3E}">
        <p14:creationId xmlns:p14="http://schemas.microsoft.com/office/powerpoint/2010/main" val="675986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Rectangle 2"/>
          <p:cNvSpPr>
            <a:spLocks noGrp="1" noChangeArrowheads="1"/>
          </p:cNvSpPr>
          <p:nvPr>
            <p:ph type="ftr" sz="quarter" idx="10"/>
          </p:nvPr>
        </p:nvSpPr>
        <p:spPr>
          <a:ln/>
        </p:spPr>
        <p:txBody>
          <a:bodyPr/>
          <a:lstStyle>
            <a:lvl1pPr>
              <a:defRPr/>
            </a:lvl1pPr>
          </a:lstStyle>
          <a:p>
            <a:pPr>
              <a:defRPr/>
            </a:pPr>
            <a:r>
              <a:rPr lang="ja-JP" altLang="en-US"/>
              <a:t>アルゴリズムとデータ構造 </a:t>
            </a:r>
            <a:r>
              <a:rPr lang="en-US" altLang="ja-JP"/>
              <a:t>2015</a:t>
            </a:r>
          </a:p>
        </p:txBody>
      </p:sp>
      <p:sp>
        <p:nvSpPr>
          <p:cNvPr id="8" name="Rectangle 16"/>
          <p:cNvSpPr>
            <a:spLocks noGrp="1" noChangeArrowheads="1"/>
          </p:cNvSpPr>
          <p:nvPr>
            <p:ph type="dt" sz="half" idx="11"/>
          </p:nvPr>
        </p:nvSpPr>
        <p:spPr>
          <a:ln/>
        </p:spPr>
        <p:txBody>
          <a:bodyPr/>
          <a:lstStyle>
            <a:lvl1pPr>
              <a:defRPr/>
            </a:lvl1pPr>
          </a:lstStyle>
          <a:p>
            <a:pPr>
              <a:defRPr/>
            </a:pPr>
            <a:r>
              <a:rPr lang="en-US" altLang="ja-JP" smtClean="0"/>
              <a:t>2015/11/18</a:t>
            </a:r>
            <a:endParaRPr lang="en-US" altLang="ja-JP"/>
          </a:p>
        </p:txBody>
      </p:sp>
      <p:sp>
        <p:nvSpPr>
          <p:cNvPr id="9" name="Rectangle 3"/>
          <p:cNvSpPr>
            <a:spLocks noGrp="1" noChangeArrowheads="1"/>
          </p:cNvSpPr>
          <p:nvPr>
            <p:ph type="sldNum" sz="quarter" idx="12"/>
          </p:nvPr>
        </p:nvSpPr>
        <p:spPr>
          <a:ln/>
        </p:spPr>
        <p:txBody>
          <a:bodyPr/>
          <a:lstStyle>
            <a:lvl1pPr>
              <a:defRPr/>
            </a:lvl1pPr>
          </a:lstStyle>
          <a:p>
            <a:fld id="{6F37CDD1-51B0-4501-9692-A362B4EA9840}" type="slidenum">
              <a:rPr lang="en-US" altLang="ja-JP"/>
              <a:pPr/>
              <a:t>‹#›</a:t>
            </a:fld>
            <a:endParaRPr lang="en-US" altLang="ja-JP"/>
          </a:p>
        </p:txBody>
      </p:sp>
    </p:spTree>
    <p:extLst>
      <p:ext uri="{BB962C8B-B14F-4D97-AF65-F5344CB8AC3E}">
        <p14:creationId xmlns:p14="http://schemas.microsoft.com/office/powerpoint/2010/main" val="2152904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Rectangle 2"/>
          <p:cNvSpPr>
            <a:spLocks noGrp="1" noChangeArrowheads="1"/>
          </p:cNvSpPr>
          <p:nvPr>
            <p:ph type="ftr" sz="quarter" idx="10"/>
          </p:nvPr>
        </p:nvSpPr>
        <p:spPr>
          <a:ln/>
        </p:spPr>
        <p:txBody>
          <a:bodyPr/>
          <a:lstStyle>
            <a:lvl1pPr>
              <a:defRPr/>
            </a:lvl1pPr>
          </a:lstStyle>
          <a:p>
            <a:pPr>
              <a:defRPr/>
            </a:pPr>
            <a:r>
              <a:rPr lang="ja-JP" altLang="en-US"/>
              <a:t>アルゴリズムとデータ構造 </a:t>
            </a:r>
            <a:r>
              <a:rPr lang="en-US" altLang="ja-JP"/>
              <a:t>2015</a:t>
            </a:r>
          </a:p>
        </p:txBody>
      </p:sp>
      <p:sp>
        <p:nvSpPr>
          <p:cNvPr id="4" name="Rectangle 16"/>
          <p:cNvSpPr>
            <a:spLocks noGrp="1" noChangeArrowheads="1"/>
          </p:cNvSpPr>
          <p:nvPr>
            <p:ph type="dt" sz="half" idx="11"/>
          </p:nvPr>
        </p:nvSpPr>
        <p:spPr>
          <a:ln/>
        </p:spPr>
        <p:txBody>
          <a:bodyPr/>
          <a:lstStyle>
            <a:lvl1pPr>
              <a:defRPr/>
            </a:lvl1pPr>
          </a:lstStyle>
          <a:p>
            <a:pPr>
              <a:defRPr/>
            </a:pPr>
            <a:r>
              <a:rPr lang="en-US" altLang="ja-JP" smtClean="0"/>
              <a:t>2015/11/18</a:t>
            </a:r>
            <a:endParaRPr lang="en-US" altLang="ja-JP"/>
          </a:p>
        </p:txBody>
      </p:sp>
      <p:sp>
        <p:nvSpPr>
          <p:cNvPr id="5" name="Rectangle 3"/>
          <p:cNvSpPr>
            <a:spLocks noGrp="1" noChangeArrowheads="1"/>
          </p:cNvSpPr>
          <p:nvPr>
            <p:ph type="sldNum" sz="quarter" idx="12"/>
          </p:nvPr>
        </p:nvSpPr>
        <p:spPr>
          <a:ln/>
        </p:spPr>
        <p:txBody>
          <a:bodyPr/>
          <a:lstStyle>
            <a:lvl1pPr>
              <a:defRPr/>
            </a:lvl1pPr>
          </a:lstStyle>
          <a:p>
            <a:fld id="{34B8E193-4162-4BAD-902B-F2B9BA2C89FB}" type="slidenum">
              <a:rPr lang="en-US" altLang="ja-JP"/>
              <a:pPr/>
              <a:t>‹#›</a:t>
            </a:fld>
            <a:endParaRPr lang="en-US" altLang="ja-JP"/>
          </a:p>
        </p:txBody>
      </p:sp>
    </p:spTree>
    <p:extLst>
      <p:ext uri="{BB962C8B-B14F-4D97-AF65-F5344CB8AC3E}">
        <p14:creationId xmlns:p14="http://schemas.microsoft.com/office/powerpoint/2010/main" val="936830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r>
              <a:rPr lang="ja-JP" altLang="en-US"/>
              <a:t>アルゴリズムとデータ構造 </a:t>
            </a:r>
            <a:r>
              <a:rPr lang="en-US" altLang="ja-JP"/>
              <a:t>2015</a:t>
            </a:r>
          </a:p>
        </p:txBody>
      </p:sp>
      <p:sp>
        <p:nvSpPr>
          <p:cNvPr id="3" name="Rectangle 16"/>
          <p:cNvSpPr>
            <a:spLocks noGrp="1" noChangeArrowheads="1"/>
          </p:cNvSpPr>
          <p:nvPr>
            <p:ph type="dt" sz="half" idx="11"/>
          </p:nvPr>
        </p:nvSpPr>
        <p:spPr>
          <a:ln/>
        </p:spPr>
        <p:txBody>
          <a:bodyPr/>
          <a:lstStyle>
            <a:lvl1pPr>
              <a:defRPr/>
            </a:lvl1pPr>
          </a:lstStyle>
          <a:p>
            <a:pPr>
              <a:defRPr/>
            </a:pPr>
            <a:r>
              <a:rPr lang="en-US" altLang="ja-JP" smtClean="0"/>
              <a:t>2015/11/18</a:t>
            </a:r>
            <a:endParaRPr lang="en-US" altLang="ja-JP"/>
          </a:p>
        </p:txBody>
      </p:sp>
      <p:sp>
        <p:nvSpPr>
          <p:cNvPr id="4" name="Rectangle 3"/>
          <p:cNvSpPr>
            <a:spLocks noGrp="1" noChangeArrowheads="1"/>
          </p:cNvSpPr>
          <p:nvPr>
            <p:ph type="sldNum" sz="quarter" idx="12"/>
          </p:nvPr>
        </p:nvSpPr>
        <p:spPr>
          <a:ln/>
        </p:spPr>
        <p:txBody>
          <a:bodyPr/>
          <a:lstStyle>
            <a:lvl1pPr>
              <a:defRPr/>
            </a:lvl1pPr>
          </a:lstStyle>
          <a:p>
            <a:fld id="{647E84B6-8A3B-4BBD-BBA3-C401D5D3F349}" type="slidenum">
              <a:rPr lang="en-US" altLang="ja-JP"/>
              <a:pPr/>
              <a:t>‹#›</a:t>
            </a:fld>
            <a:endParaRPr lang="en-US" altLang="ja-JP"/>
          </a:p>
        </p:txBody>
      </p:sp>
    </p:spTree>
    <p:extLst>
      <p:ext uri="{BB962C8B-B14F-4D97-AF65-F5344CB8AC3E}">
        <p14:creationId xmlns:p14="http://schemas.microsoft.com/office/powerpoint/2010/main" val="3722875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Rectangle 2"/>
          <p:cNvSpPr>
            <a:spLocks noGrp="1" noChangeArrowheads="1"/>
          </p:cNvSpPr>
          <p:nvPr>
            <p:ph type="ftr" sz="quarter" idx="10"/>
          </p:nvPr>
        </p:nvSpPr>
        <p:spPr>
          <a:ln/>
        </p:spPr>
        <p:txBody>
          <a:bodyPr/>
          <a:lstStyle>
            <a:lvl1pPr>
              <a:defRPr/>
            </a:lvl1pPr>
          </a:lstStyle>
          <a:p>
            <a:pPr>
              <a:defRPr/>
            </a:pPr>
            <a:r>
              <a:rPr lang="ja-JP" altLang="en-US"/>
              <a:t>アルゴリズムとデータ構造 </a:t>
            </a:r>
            <a:r>
              <a:rPr lang="en-US" altLang="ja-JP"/>
              <a:t>2015</a:t>
            </a:r>
          </a:p>
        </p:txBody>
      </p:sp>
      <p:sp>
        <p:nvSpPr>
          <p:cNvPr id="6" name="Rectangle 16"/>
          <p:cNvSpPr>
            <a:spLocks noGrp="1" noChangeArrowheads="1"/>
          </p:cNvSpPr>
          <p:nvPr>
            <p:ph type="dt" sz="half" idx="11"/>
          </p:nvPr>
        </p:nvSpPr>
        <p:spPr>
          <a:ln/>
        </p:spPr>
        <p:txBody>
          <a:bodyPr/>
          <a:lstStyle>
            <a:lvl1pPr>
              <a:defRPr/>
            </a:lvl1pPr>
          </a:lstStyle>
          <a:p>
            <a:pPr>
              <a:defRPr/>
            </a:pPr>
            <a:r>
              <a:rPr lang="en-US" altLang="ja-JP" smtClean="0"/>
              <a:t>2015/11/18</a:t>
            </a:r>
            <a:endParaRPr lang="en-US" altLang="ja-JP"/>
          </a:p>
        </p:txBody>
      </p:sp>
      <p:sp>
        <p:nvSpPr>
          <p:cNvPr id="7" name="Rectangle 3"/>
          <p:cNvSpPr>
            <a:spLocks noGrp="1" noChangeArrowheads="1"/>
          </p:cNvSpPr>
          <p:nvPr>
            <p:ph type="sldNum" sz="quarter" idx="12"/>
          </p:nvPr>
        </p:nvSpPr>
        <p:spPr>
          <a:ln/>
        </p:spPr>
        <p:txBody>
          <a:bodyPr/>
          <a:lstStyle>
            <a:lvl1pPr>
              <a:defRPr/>
            </a:lvl1pPr>
          </a:lstStyle>
          <a:p>
            <a:fld id="{002677E5-1045-4BB9-A6A7-B433C9FB5FA9}" type="slidenum">
              <a:rPr lang="en-US" altLang="ja-JP"/>
              <a:pPr/>
              <a:t>‹#›</a:t>
            </a:fld>
            <a:endParaRPr lang="en-US" altLang="ja-JP"/>
          </a:p>
        </p:txBody>
      </p:sp>
    </p:spTree>
    <p:extLst>
      <p:ext uri="{BB962C8B-B14F-4D97-AF65-F5344CB8AC3E}">
        <p14:creationId xmlns:p14="http://schemas.microsoft.com/office/powerpoint/2010/main" val="2538864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smtClean="0"/>
              <a:t>マスター タイトルの書式設定</a:t>
            </a:r>
            <a:endParaRPr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smtClean="0"/>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Rectangle 2"/>
          <p:cNvSpPr>
            <a:spLocks noGrp="1" noChangeArrowheads="1"/>
          </p:cNvSpPr>
          <p:nvPr>
            <p:ph type="ftr" sz="quarter" idx="10"/>
          </p:nvPr>
        </p:nvSpPr>
        <p:spPr>
          <a:ln/>
        </p:spPr>
        <p:txBody>
          <a:bodyPr/>
          <a:lstStyle>
            <a:lvl1pPr>
              <a:defRPr/>
            </a:lvl1pPr>
          </a:lstStyle>
          <a:p>
            <a:pPr>
              <a:defRPr/>
            </a:pPr>
            <a:r>
              <a:rPr lang="ja-JP" altLang="en-US"/>
              <a:t>アルゴリズムとデータ構造 </a:t>
            </a:r>
            <a:r>
              <a:rPr lang="en-US" altLang="ja-JP"/>
              <a:t>2015</a:t>
            </a:r>
          </a:p>
        </p:txBody>
      </p:sp>
      <p:sp>
        <p:nvSpPr>
          <p:cNvPr id="6" name="Rectangle 16"/>
          <p:cNvSpPr>
            <a:spLocks noGrp="1" noChangeArrowheads="1"/>
          </p:cNvSpPr>
          <p:nvPr>
            <p:ph type="dt" sz="half" idx="11"/>
          </p:nvPr>
        </p:nvSpPr>
        <p:spPr>
          <a:ln/>
        </p:spPr>
        <p:txBody>
          <a:bodyPr/>
          <a:lstStyle>
            <a:lvl1pPr>
              <a:defRPr/>
            </a:lvl1pPr>
          </a:lstStyle>
          <a:p>
            <a:pPr>
              <a:defRPr/>
            </a:pPr>
            <a:r>
              <a:rPr lang="en-US" altLang="ja-JP" smtClean="0"/>
              <a:t>2015/11/18</a:t>
            </a:r>
            <a:endParaRPr lang="en-US" altLang="ja-JP"/>
          </a:p>
        </p:txBody>
      </p:sp>
      <p:sp>
        <p:nvSpPr>
          <p:cNvPr id="7" name="Rectangle 3"/>
          <p:cNvSpPr>
            <a:spLocks noGrp="1" noChangeArrowheads="1"/>
          </p:cNvSpPr>
          <p:nvPr>
            <p:ph type="sldNum" sz="quarter" idx="12"/>
          </p:nvPr>
        </p:nvSpPr>
        <p:spPr>
          <a:ln/>
        </p:spPr>
        <p:txBody>
          <a:bodyPr/>
          <a:lstStyle>
            <a:lvl1pPr>
              <a:defRPr/>
            </a:lvl1pPr>
          </a:lstStyle>
          <a:p>
            <a:fld id="{D48BF5BB-35B2-4082-A660-7DC5542496BC}" type="slidenum">
              <a:rPr lang="en-US" altLang="ja-JP"/>
              <a:pPr/>
              <a:t>‹#›</a:t>
            </a:fld>
            <a:endParaRPr lang="en-US" altLang="ja-JP"/>
          </a:p>
        </p:txBody>
      </p:sp>
    </p:spTree>
    <p:extLst>
      <p:ext uri="{BB962C8B-B14F-4D97-AF65-F5344CB8AC3E}">
        <p14:creationId xmlns:p14="http://schemas.microsoft.com/office/powerpoint/2010/main" val="2634637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2"/>
          <p:cNvSpPr>
            <a:spLocks noGrp="1" noChangeArrowheads="1"/>
          </p:cNvSpPr>
          <p:nvPr>
            <p:ph type="ftr" sz="quarter" idx="10"/>
          </p:nvPr>
        </p:nvSpPr>
        <p:spPr>
          <a:ln/>
        </p:spPr>
        <p:txBody>
          <a:bodyPr/>
          <a:lstStyle>
            <a:lvl1pPr>
              <a:defRPr/>
            </a:lvl1pPr>
          </a:lstStyle>
          <a:p>
            <a:pPr>
              <a:defRPr/>
            </a:pPr>
            <a:r>
              <a:rPr lang="ja-JP" altLang="en-US"/>
              <a:t>アルゴリズムとデータ構造 </a:t>
            </a:r>
            <a:r>
              <a:rPr lang="en-US" altLang="ja-JP"/>
              <a:t>2015</a:t>
            </a:r>
          </a:p>
        </p:txBody>
      </p:sp>
      <p:sp>
        <p:nvSpPr>
          <p:cNvPr id="5" name="Rectangle 16"/>
          <p:cNvSpPr>
            <a:spLocks noGrp="1" noChangeArrowheads="1"/>
          </p:cNvSpPr>
          <p:nvPr>
            <p:ph type="dt" sz="half" idx="11"/>
          </p:nvPr>
        </p:nvSpPr>
        <p:spPr>
          <a:ln/>
        </p:spPr>
        <p:txBody>
          <a:bodyPr/>
          <a:lstStyle>
            <a:lvl1pPr>
              <a:defRPr/>
            </a:lvl1pPr>
          </a:lstStyle>
          <a:p>
            <a:pPr>
              <a:defRPr/>
            </a:pPr>
            <a:r>
              <a:rPr lang="en-US" altLang="ja-JP" smtClean="0"/>
              <a:t>2015/11/18</a:t>
            </a:r>
            <a:endParaRPr lang="en-US" altLang="ja-JP"/>
          </a:p>
        </p:txBody>
      </p:sp>
      <p:sp>
        <p:nvSpPr>
          <p:cNvPr id="6" name="Rectangle 3"/>
          <p:cNvSpPr>
            <a:spLocks noGrp="1" noChangeArrowheads="1"/>
          </p:cNvSpPr>
          <p:nvPr>
            <p:ph type="sldNum" sz="quarter" idx="12"/>
          </p:nvPr>
        </p:nvSpPr>
        <p:spPr>
          <a:ln/>
        </p:spPr>
        <p:txBody>
          <a:bodyPr/>
          <a:lstStyle>
            <a:lvl1pPr>
              <a:defRPr/>
            </a:lvl1pPr>
          </a:lstStyle>
          <a:p>
            <a:fld id="{D46709D2-353F-4110-8326-3163DF5C144A}" type="slidenum">
              <a:rPr lang="en-US" altLang="ja-JP"/>
              <a:pPr/>
              <a:t>‹#›</a:t>
            </a:fld>
            <a:endParaRPr lang="en-US" altLang="ja-JP"/>
          </a:p>
        </p:txBody>
      </p:sp>
    </p:spTree>
    <p:extLst>
      <p:ext uri="{BB962C8B-B14F-4D97-AF65-F5344CB8AC3E}">
        <p14:creationId xmlns:p14="http://schemas.microsoft.com/office/powerpoint/2010/main" val="584186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457200"/>
            <a:ext cx="2057400" cy="5410200"/>
          </a:xfrm>
        </p:spPr>
        <p:txBody>
          <a:bodyPr vert="eaVert"/>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a:xfrm>
            <a:off x="457200" y="457200"/>
            <a:ext cx="6019800" cy="5410200"/>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2"/>
          <p:cNvSpPr>
            <a:spLocks noGrp="1" noChangeArrowheads="1"/>
          </p:cNvSpPr>
          <p:nvPr>
            <p:ph type="ftr" sz="quarter" idx="10"/>
          </p:nvPr>
        </p:nvSpPr>
        <p:spPr>
          <a:ln/>
        </p:spPr>
        <p:txBody>
          <a:bodyPr/>
          <a:lstStyle>
            <a:lvl1pPr>
              <a:defRPr/>
            </a:lvl1pPr>
          </a:lstStyle>
          <a:p>
            <a:pPr>
              <a:defRPr/>
            </a:pPr>
            <a:r>
              <a:rPr lang="ja-JP" altLang="en-US"/>
              <a:t>アルゴリズムとデータ構造 </a:t>
            </a:r>
            <a:r>
              <a:rPr lang="en-US" altLang="ja-JP"/>
              <a:t>2015</a:t>
            </a:r>
          </a:p>
        </p:txBody>
      </p:sp>
      <p:sp>
        <p:nvSpPr>
          <p:cNvPr id="5" name="Rectangle 16"/>
          <p:cNvSpPr>
            <a:spLocks noGrp="1" noChangeArrowheads="1"/>
          </p:cNvSpPr>
          <p:nvPr>
            <p:ph type="dt" sz="half" idx="11"/>
          </p:nvPr>
        </p:nvSpPr>
        <p:spPr>
          <a:ln/>
        </p:spPr>
        <p:txBody>
          <a:bodyPr/>
          <a:lstStyle>
            <a:lvl1pPr>
              <a:defRPr/>
            </a:lvl1pPr>
          </a:lstStyle>
          <a:p>
            <a:pPr>
              <a:defRPr/>
            </a:pPr>
            <a:r>
              <a:rPr lang="en-US" altLang="ja-JP" smtClean="0"/>
              <a:t>2015/11/18</a:t>
            </a:r>
            <a:endParaRPr lang="en-US" altLang="ja-JP"/>
          </a:p>
        </p:txBody>
      </p:sp>
      <p:sp>
        <p:nvSpPr>
          <p:cNvPr id="6" name="Rectangle 3"/>
          <p:cNvSpPr>
            <a:spLocks noGrp="1" noChangeArrowheads="1"/>
          </p:cNvSpPr>
          <p:nvPr>
            <p:ph type="sldNum" sz="quarter" idx="12"/>
          </p:nvPr>
        </p:nvSpPr>
        <p:spPr>
          <a:ln/>
        </p:spPr>
        <p:txBody>
          <a:bodyPr/>
          <a:lstStyle>
            <a:lvl1pPr>
              <a:defRPr/>
            </a:lvl1pPr>
          </a:lstStyle>
          <a:p>
            <a:fld id="{4437DD82-7389-4EB3-ABBF-98E0EFDEAC89}" type="slidenum">
              <a:rPr lang="en-US" altLang="ja-JP"/>
              <a:pPr/>
              <a:t>‹#›</a:t>
            </a:fld>
            <a:endParaRPr lang="en-US" altLang="ja-JP"/>
          </a:p>
        </p:txBody>
      </p:sp>
    </p:spTree>
    <p:extLst>
      <p:ext uri="{BB962C8B-B14F-4D97-AF65-F5344CB8AC3E}">
        <p14:creationId xmlns:p14="http://schemas.microsoft.com/office/powerpoint/2010/main" val="28548260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タイトルと表">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57200"/>
            <a:ext cx="8229600" cy="1371600"/>
          </a:xfrm>
        </p:spPr>
        <p:txBody>
          <a:bodyPr/>
          <a:lstStyle/>
          <a:p>
            <a:r>
              <a:rPr lang="ja-JP" altLang="en-US" smtClean="0"/>
              <a:t>マスター タイトルの書式設定</a:t>
            </a:r>
            <a:endParaRPr lang="ja-JP" altLang="en-US"/>
          </a:p>
        </p:txBody>
      </p:sp>
      <p:sp>
        <p:nvSpPr>
          <p:cNvPr id="3" name="表プレースホルダー 2"/>
          <p:cNvSpPr>
            <a:spLocks noGrp="1"/>
          </p:cNvSpPr>
          <p:nvPr>
            <p:ph type="tbl" idx="1"/>
          </p:nvPr>
        </p:nvSpPr>
        <p:spPr>
          <a:xfrm>
            <a:off x="457200" y="1981200"/>
            <a:ext cx="8229600" cy="3886200"/>
          </a:xfrm>
        </p:spPr>
        <p:txBody>
          <a:bodyPr/>
          <a:lstStyle/>
          <a:p>
            <a:pPr lvl="0"/>
            <a:endParaRPr lang="ja-JP" altLang="en-US" noProof="0" smtClean="0"/>
          </a:p>
        </p:txBody>
      </p:sp>
      <p:sp>
        <p:nvSpPr>
          <p:cNvPr id="4" name="Rectangle 2"/>
          <p:cNvSpPr>
            <a:spLocks noGrp="1" noChangeArrowheads="1"/>
          </p:cNvSpPr>
          <p:nvPr>
            <p:ph type="ftr" sz="quarter" idx="10"/>
          </p:nvPr>
        </p:nvSpPr>
        <p:spPr>
          <a:ln/>
        </p:spPr>
        <p:txBody>
          <a:bodyPr/>
          <a:lstStyle>
            <a:lvl1pPr>
              <a:defRPr/>
            </a:lvl1pPr>
          </a:lstStyle>
          <a:p>
            <a:pPr>
              <a:defRPr/>
            </a:pPr>
            <a:r>
              <a:rPr lang="ja-JP" altLang="en-US"/>
              <a:t>アルゴリズムとデータ構造 </a:t>
            </a:r>
            <a:r>
              <a:rPr lang="en-US" altLang="ja-JP"/>
              <a:t>2015</a:t>
            </a:r>
          </a:p>
        </p:txBody>
      </p:sp>
      <p:sp>
        <p:nvSpPr>
          <p:cNvPr id="5" name="Rectangle 16"/>
          <p:cNvSpPr>
            <a:spLocks noGrp="1" noChangeArrowheads="1"/>
          </p:cNvSpPr>
          <p:nvPr>
            <p:ph type="dt" sz="half" idx="11"/>
          </p:nvPr>
        </p:nvSpPr>
        <p:spPr>
          <a:ln/>
        </p:spPr>
        <p:txBody>
          <a:bodyPr/>
          <a:lstStyle>
            <a:lvl1pPr>
              <a:defRPr/>
            </a:lvl1pPr>
          </a:lstStyle>
          <a:p>
            <a:pPr>
              <a:defRPr/>
            </a:pPr>
            <a:r>
              <a:rPr lang="en-US" altLang="ja-JP" smtClean="0"/>
              <a:t>2015/11/18</a:t>
            </a:r>
            <a:endParaRPr lang="en-US" altLang="ja-JP"/>
          </a:p>
        </p:txBody>
      </p:sp>
      <p:sp>
        <p:nvSpPr>
          <p:cNvPr id="6" name="Rectangle 3"/>
          <p:cNvSpPr>
            <a:spLocks noGrp="1" noChangeArrowheads="1"/>
          </p:cNvSpPr>
          <p:nvPr>
            <p:ph type="sldNum" sz="quarter" idx="12"/>
          </p:nvPr>
        </p:nvSpPr>
        <p:spPr>
          <a:ln/>
        </p:spPr>
        <p:txBody>
          <a:bodyPr/>
          <a:lstStyle>
            <a:lvl1pPr>
              <a:defRPr/>
            </a:lvl1pPr>
          </a:lstStyle>
          <a:p>
            <a:fld id="{3D969162-F5B2-454C-B858-8E1839194689}" type="slidenum">
              <a:rPr lang="en-US" altLang="ja-JP"/>
              <a:pPr/>
              <a:t>‹#›</a:t>
            </a:fld>
            <a:endParaRPr lang="en-US" altLang="ja-JP"/>
          </a:p>
        </p:txBody>
      </p:sp>
    </p:spTree>
    <p:extLst>
      <p:ext uri="{BB962C8B-B14F-4D97-AF65-F5344CB8AC3E}">
        <p14:creationId xmlns:p14="http://schemas.microsoft.com/office/powerpoint/2010/main" val="3082239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ftr" sz="quarter" idx="3"/>
          </p:nvPr>
        </p:nvSpPr>
        <p:spPr bwMode="auto">
          <a:xfrm>
            <a:off x="6284913" y="642778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kumimoji="0" sz="1200" smtClean="0">
                <a:latin typeface="Arial" charset="0"/>
                <a:ea typeface="ＭＳ Ｐゴシック" pitchFamily="50" charset="-128"/>
                <a:cs typeface="+mn-cs"/>
              </a:defRPr>
            </a:lvl1pPr>
          </a:lstStyle>
          <a:p>
            <a:pPr>
              <a:defRPr/>
            </a:pPr>
            <a:r>
              <a:rPr lang="ja-JP" altLang="en-US"/>
              <a:t>アルゴリズムとデータ構造 </a:t>
            </a:r>
            <a:r>
              <a:rPr lang="en-US" altLang="ja-JP"/>
              <a:t>2015</a:t>
            </a:r>
          </a:p>
        </p:txBody>
      </p:sp>
      <p:grpSp>
        <p:nvGrpSpPr>
          <p:cNvPr id="1027"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ja-JP" sz="2400">
                <a:latin typeface="Times New Roman" charset="0"/>
                <a:ea typeface="ＭＳ Ｐゴシック" charset="0"/>
                <a:cs typeface="ＭＳ Ｐゴシック"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endParaRPr kumimoji="0" lang="ja-JP" altLang="en-US">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endParaRPr kumimoji="0" lang="ja-JP" altLang="en-US" sz="1800">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endParaRPr kumimoji="0" lang="ja-JP" altLang="en-US" sz="1800">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endParaRPr kumimoji="0" lang="ja-JP" altLang="en-US" sz="1800">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endParaRPr kumimoji="0" lang="ja-JP" altLang="en-US" sz="1800">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endParaRPr kumimoji="0" lang="ja-JP" altLang="en-US">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endParaRPr kumimoji="0" lang="ja-JP" altLang="en-US" sz="1800">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endParaRPr kumimoji="0" lang="ja-JP" altLang="en-US" sz="1800">
                <a:solidFill>
                  <a:schemeClr val="accent2"/>
                </a:solidFill>
              </a:endParaRPr>
            </a:p>
          </p:txBody>
        </p:sp>
      </p:grpSp>
      <p:sp>
        <p:nvSpPr>
          <p:cNvPr id="1028"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9"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23568" name="Rectangle 16"/>
          <p:cNvSpPr>
            <a:spLocks noGrp="1" noChangeArrowheads="1"/>
          </p:cNvSpPr>
          <p:nvPr>
            <p:ph type="dt" sz="half" idx="2"/>
          </p:nvPr>
        </p:nvSpPr>
        <p:spPr bwMode="auto">
          <a:xfrm>
            <a:off x="34925" y="6408738"/>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0" sz="1200" smtClean="0">
                <a:latin typeface="Arial" charset="0"/>
                <a:ea typeface="ＭＳ Ｐゴシック" pitchFamily="50" charset="-128"/>
                <a:cs typeface="+mn-cs"/>
              </a:defRPr>
            </a:lvl1pPr>
          </a:lstStyle>
          <a:p>
            <a:pPr>
              <a:defRPr/>
            </a:pPr>
            <a:r>
              <a:rPr lang="en-US" altLang="ja-JP" smtClean="0"/>
              <a:t>2015/11/18</a:t>
            </a:r>
            <a:endParaRPr lang="en-US" altLang="ja-JP"/>
          </a:p>
        </p:txBody>
      </p:sp>
      <p:sp>
        <p:nvSpPr>
          <p:cNvPr id="23555" name="Rectangle 3"/>
          <p:cNvSpPr>
            <a:spLocks noGrp="1" noChangeArrowheads="1"/>
          </p:cNvSpPr>
          <p:nvPr>
            <p:ph type="sldNum" sz="quarter" idx="4"/>
          </p:nvPr>
        </p:nvSpPr>
        <p:spPr bwMode="auto">
          <a:xfrm>
            <a:off x="0" y="0"/>
            <a:ext cx="611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0" sz="1200">
                <a:latin typeface="Arial Black" pitchFamily="34" charset="0"/>
              </a:defRPr>
            </a:lvl1pPr>
          </a:lstStyle>
          <a:p>
            <a:fld id="{FE237A55-240E-49A9-9B79-12B071F716D4}" type="slidenum">
              <a:rPr lang="en-US" altLang="ja-JP"/>
              <a:pPr/>
              <a:t>‹#›</a:t>
            </a:fld>
            <a:endParaRPr lang="en-US" altLang="ja-JP"/>
          </a:p>
        </p:txBody>
      </p:sp>
    </p:spTree>
  </p:cSld>
  <p:clrMap bg1="lt1" tx1="dk1" bg2="lt2" tx2="dk2" accent1="accent1" accent2="accent2" accent3="accent3" accent4="accent4" accent5="accent5" accent6="accent6" hlink="hlink" folHlink="folHlink"/>
  <p:sldLayoutIdLst>
    <p:sldLayoutId id="2147483764"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Lst>
  <p:hf hdr="0" ftr="0" dt="0"/>
  <p:txStyles>
    <p:titleStyle>
      <a:lvl1pPr algn="l" rtl="0" eaLnBrk="0" fontAlgn="base" hangingPunct="0">
        <a:spcBef>
          <a:spcPct val="0"/>
        </a:spcBef>
        <a:spcAft>
          <a:spcPct val="0"/>
        </a:spcAft>
        <a:defRPr kumimoji="1" sz="4400">
          <a:solidFill>
            <a:schemeClr val="tx1"/>
          </a:solidFill>
          <a:latin typeface="+mj-lt"/>
          <a:ea typeface="+mj-ea"/>
          <a:cs typeface="ＭＳ Ｐゴシック" charset="0"/>
        </a:defRPr>
      </a:lvl1pPr>
      <a:lvl2pPr algn="l" rtl="0" eaLnBrk="0" fontAlgn="base" hangingPunct="0">
        <a:spcBef>
          <a:spcPct val="0"/>
        </a:spcBef>
        <a:spcAft>
          <a:spcPct val="0"/>
        </a:spcAft>
        <a:defRPr kumimoji="1" sz="4400">
          <a:solidFill>
            <a:schemeClr val="tx1"/>
          </a:solidFill>
          <a:latin typeface="Arial" charset="0"/>
          <a:ea typeface="ＭＳ Ｐゴシック" pitchFamily="50" charset="-128"/>
          <a:cs typeface="ＭＳ Ｐゴシック" charset="0"/>
        </a:defRPr>
      </a:lvl2pPr>
      <a:lvl3pPr algn="l" rtl="0" eaLnBrk="0" fontAlgn="base" hangingPunct="0">
        <a:spcBef>
          <a:spcPct val="0"/>
        </a:spcBef>
        <a:spcAft>
          <a:spcPct val="0"/>
        </a:spcAft>
        <a:defRPr kumimoji="1" sz="4400">
          <a:solidFill>
            <a:schemeClr val="tx1"/>
          </a:solidFill>
          <a:latin typeface="Arial" charset="0"/>
          <a:ea typeface="ＭＳ Ｐゴシック" pitchFamily="50" charset="-128"/>
          <a:cs typeface="ＭＳ Ｐゴシック" charset="0"/>
        </a:defRPr>
      </a:lvl3pPr>
      <a:lvl4pPr algn="l" rtl="0" eaLnBrk="0" fontAlgn="base" hangingPunct="0">
        <a:spcBef>
          <a:spcPct val="0"/>
        </a:spcBef>
        <a:spcAft>
          <a:spcPct val="0"/>
        </a:spcAft>
        <a:defRPr kumimoji="1" sz="4400">
          <a:solidFill>
            <a:schemeClr val="tx1"/>
          </a:solidFill>
          <a:latin typeface="Arial" charset="0"/>
          <a:ea typeface="ＭＳ Ｐゴシック" pitchFamily="50" charset="-128"/>
          <a:cs typeface="ＭＳ Ｐゴシック" charset="0"/>
        </a:defRPr>
      </a:lvl4pPr>
      <a:lvl5pPr algn="l" rtl="0" eaLnBrk="0" fontAlgn="base" hangingPunct="0">
        <a:spcBef>
          <a:spcPct val="0"/>
        </a:spcBef>
        <a:spcAft>
          <a:spcPct val="0"/>
        </a:spcAft>
        <a:defRPr kumimoji="1" sz="4400">
          <a:solidFill>
            <a:schemeClr val="tx1"/>
          </a:solidFill>
          <a:latin typeface="Arial" charset="0"/>
          <a:ea typeface="ＭＳ Ｐゴシック" pitchFamily="50" charset="-128"/>
          <a:cs typeface="ＭＳ Ｐゴシック" charset="0"/>
        </a:defRPr>
      </a:lvl5pPr>
      <a:lvl6pPr marL="457200" algn="l" rtl="0" fontAlgn="base">
        <a:spcBef>
          <a:spcPct val="0"/>
        </a:spcBef>
        <a:spcAft>
          <a:spcPct val="0"/>
        </a:spcAft>
        <a:defRPr kumimoji="1" sz="4400">
          <a:solidFill>
            <a:schemeClr val="tx1"/>
          </a:solidFill>
          <a:latin typeface="Arial" charset="0"/>
          <a:ea typeface="ＭＳ Ｐゴシック" pitchFamily="50" charset="-128"/>
        </a:defRPr>
      </a:lvl6pPr>
      <a:lvl7pPr marL="914400" algn="l" rtl="0" fontAlgn="base">
        <a:spcBef>
          <a:spcPct val="0"/>
        </a:spcBef>
        <a:spcAft>
          <a:spcPct val="0"/>
        </a:spcAft>
        <a:defRPr kumimoji="1" sz="4400">
          <a:solidFill>
            <a:schemeClr val="tx1"/>
          </a:solidFill>
          <a:latin typeface="Arial" charset="0"/>
          <a:ea typeface="ＭＳ Ｐゴシック" pitchFamily="50" charset="-128"/>
        </a:defRPr>
      </a:lvl7pPr>
      <a:lvl8pPr marL="1371600" algn="l" rtl="0" fontAlgn="base">
        <a:spcBef>
          <a:spcPct val="0"/>
        </a:spcBef>
        <a:spcAft>
          <a:spcPct val="0"/>
        </a:spcAft>
        <a:defRPr kumimoji="1" sz="4400">
          <a:solidFill>
            <a:schemeClr val="tx1"/>
          </a:solidFill>
          <a:latin typeface="Arial" charset="0"/>
          <a:ea typeface="ＭＳ Ｐゴシック" pitchFamily="50" charset="-128"/>
        </a:defRPr>
      </a:lvl8pPr>
      <a:lvl9pPr marL="1828800" algn="l" rtl="0" fontAlgn="base">
        <a:spcBef>
          <a:spcPct val="0"/>
        </a:spcBef>
        <a:spcAft>
          <a:spcPct val="0"/>
        </a:spcAft>
        <a:defRPr kumimoji="1" sz="4400">
          <a:solidFill>
            <a:schemeClr val="tx1"/>
          </a:solidFill>
          <a:latin typeface="Arial" charset="0"/>
          <a:ea typeface="ＭＳ Ｐゴシック" pitchFamily="50" charset="-128"/>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kumimoji="1" sz="32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kumimoji="1"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kumimoji="1"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kumimoji="1"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kumimoji="1"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ctrTitle"/>
          </p:nvPr>
        </p:nvSpPr>
        <p:spPr>
          <a:extLst>
            <a:ext uri="{FAA26D3D-D897-4be2-8F04-BA451C77F1D7}">
              <ma14:placeholderFlag xmlns:ma14="http://schemas.microsoft.com/office/mac/drawingml/2011/main" xmlns="" val="1"/>
            </a:ext>
          </a:extLst>
        </p:spPr>
        <p:txBody>
          <a:bodyPr/>
          <a:lstStyle/>
          <a:p>
            <a:pPr eaLnBrk="1" hangingPunct="1">
              <a:defRPr/>
            </a:pPr>
            <a:r>
              <a:rPr lang="ja-JP" altLang="en-US"/>
              <a:t>アルゴリズムとデータ構造</a:t>
            </a:r>
          </a:p>
        </p:txBody>
      </p:sp>
      <p:sp>
        <p:nvSpPr>
          <p:cNvPr id="3078" name="Rectangle 3"/>
          <p:cNvSpPr>
            <a:spLocks noGrp="1" noChangeArrowheads="1"/>
          </p:cNvSpPr>
          <p:nvPr>
            <p:ph type="subTitle" idx="1"/>
          </p:nvPr>
        </p:nvSpPr>
        <p:spPr>
          <a:xfrm>
            <a:off x="2339975" y="4267200"/>
            <a:ext cx="6651625" cy="1752600"/>
          </a:xfrm>
          <a:extLst>
            <a:ext uri="{FAA26D3D-D897-4be2-8F04-BA451C77F1D7}">
              <ma14:placeholderFlag xmlns:ma14="http://schemas.microsoft.com/office/mac/drawingml/2011/main" xmlns="" val="1"/>
            </a:ext>
          </a:extLst>
        </p:spPr>
        <p:txBody>
          <a:bodyPr/>
          <a:lstStyle/>
          <a:p>
            <a:pPr eaLnBrk="1" hangingPunct="1">
              <a:buFont typeface="Wingdings" charset="0"/>
              <a:buNone/>
              <a:defRPr/>
            </a:pPr>
            <a:r>
              <a:rPr lang="ja-JP" altLang="en-US"/>
              <a:t>第７回探索のためのデータ構造（１）</a:t>
            </a:r>
          </a:p>
        </p:txBody>
      </p:sp>
      <p:sp>
        <p:nvSpPr>
          <p:cNvPr id="2" name="日付プレースホルダー 1"/>
          <p:cNvSpPr>
            <a:spLocks noGrp="1"/>
          </p:cNvSpPr>
          <p:nvPr>
            <p:ph type="dt" sz="half" idx="10"/>
          </p:nvPr>
        </p:nvSpPr>
        <p:spPr/>
        <p:txBody>
          <a:bodyPr/>
          <a:lstStyle/>
          <a:p>
            <a:pPr>
              <a:defRPr/>
            </a:pPr>
            <a:fld id="{E2A026C4-AC2E-42D4-A107-BA0CB754192F}" type="datetime1">
              <a:rPr lang="ja-JP" altLang="en-US" smtClean="0"/>
              <a:t>2016/5/9</a:t>
            </a:fld>
            <a:endParaRPr lang="en-US" altLang="ja-JP"/>
          </a:p>
        </p:txBody>
      </p:sp>
      <p:sp>
        <p:nvSpPr>
          <p:cNvPr id="3" name="フッター プレースホルダー 2"/>
          <p:cNvSpPr>
            <a:spLocks noGrp="1"/>
          </p:cNvSpPr>
          <p:nvPr>
            <p:ph type="ftr" sz="quarter" idx="11"/>
          </p:nvPr>
        </p:nvSpPr>
        <p:spPr>
          <a:xfrm>
            <a:off x="6284913" y="6525344"/>
            <a:ext cx="2895600" cy="359644"/>
          </a:xfrm>
        </p:spPr>
        <p:txBody>
          <a:bodyPr/>
          <a:lstStyle/>
          <a:p>
            <a:pPr algn="r">
              <a:defRPr/>
            </a:pPr>
            <a:r>
              <a:rPr lang="ja-JP" altLang="en-US" smtClean="0"/>
              <a:t>アルゴリズムとデータ構造 </a:t>
            </a:r>
            <a:r>
              <a:rPr lang="en-US" altLang="ja-JP" smtClean="0"/>
              <a:t>2016</a:t>
            </a:r>
            <a:endParaRPr lang="en-US" altLang="ja-JP"/>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スライド番号プレースホルダー 5"/>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fld id="{423CC156-547D-4E79-98AF-6687FFFED916}" type="slidenum">
              <a:rPr kumimoji="0" lang="en-US" altLang="ja-JP" sz="1200">
                <a:latin typeface="Arial Black" pitchFamily="34" charset="0"/>
              </a:rPr>
              <a:pPr/>
              <a:t>2</a:t>
            </a:fld>
            <a:endParaRPr kumimoji="0" lang="en-US" altLang="ja-JP" sz="1200" dirty="0">
              <a:latin typeface="Arial Black" pitchFamily="34" charset="0"/>
            </a:endParaRPr>
          </a:p>
        </p:txBody>
      </p:sp>
      <p:sp>
        <p:nvSpPr>
          <p:cNvPr id="4101" name="Rectangle 2"/>
          <p:cNvSpPr>
            <a:spLocks noGrp="1" noChangeArrowheads="1"/>
          </p:cNvSpPr>
          <p:nvPr>
            <p:ph type="title"/>
          </p:nvPr>
        </p:nvSpPr>
        <p:spPr>
          <a:xfrm>
            <a:off x="6711950" y="-319088"/>
            <a:ext cx="8229600" cy="1371601"/>
          </a:xfrm>
        </p:spPr>
        <p:txBody>
          <a:bodyPr/>
          <a:lstStyle/>
          <a:p>
            <a:pPr eaLnBrk="1" hangingPunct="1">
              <a:defRPr/>
            </a:pPr>
            <a:r>
              <a:rPr lang="ja-JP" altLang="en-US" sz="3200"/>
              <a:t>前回の復習</a:t>
            </a:r>
          </a:p>
        </p:txBody>
      </p:sp>
      <p:sp>
        <p:nvSpPr>
          <p:cNvPr id="4102" name="Text Box 4"/>
          <p:cNvSpPr txBox="1">
            <a:spLocks noChangeArrowheads="1"/>
          </p:cNvSpPr>
          <p:nvPr/>
        </p:nvSpPr>
        <p:spPr bwMode="auto">
          <a:xfrm>
            <a:off x="592138" y="842963"/>
            <a:ext cx="21209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mtClean="0"/>
              <a:t>整列のアルゴリズム</a:t>
            </a:r>
          </a:p>
        </p:txBody>
      </p:sp>
      <p:sp>
        <p:nvSpPr>
          <p:cNvPr id="4103" name="Oval 5"/>
          <p:cNvSpPr>
            <a:spLocks noChangeArrowheads="1"/>
          </p:cNvSpPr>
          <p:nvPr/>
        </p:nvSpPr>
        <p:spPr bwMode="auto">
          <a:xfrm>
            <a:off x="1187450" y="1412875"/>
            <a:ext cx="1800225" cy="719138"/>
          </a:xfrm>
          <a:prstGeom prst="ellipse">
            <a:avLst/>
          </a:prstGeom>
          <a:solidFill>
            <a:schemeClr val="accent3">
              <a:lumMod val="95000"/>
            </a:schemeClr>
          </a:solidFill>
          <a:ln w="9525">
            <a:solidFill>
              <a:schemeClr val="tx1"/>
            </a:solidFill>
            <a:round/>
            <a:headEnd/>
            <a:tailEnd/>
          </a:ln>
          <a:effectLst/>
          <a:extLst/>
        </p:spPr>
        <p:txBody>
          <a:bodyPr wrap="none" anchor="ctr"/>
          <a:lstStyle/>
          <a:p>
            <a:pPr algn="ctr">
              <a:defRPr/>
            </a:pPr>
            <a:r>
              <a:rPr lang="ja-JP" altLang="en-US">
                <a:latin typeface="Arial" charset="0"/>
                <a:ea typeface="ＭＳ Ｐゴシック" charset="0"/>
                <a:cs typeface="ＭＳ Ｐゴシック" charset="0"/>
              </a:rPr>
              <a:t>比較に基づくか？</a:t>
            </a:r>
          </a:p>
        </p:txBody>
      </p:sp>
      <p:sp>
        <p:nvSpPr>
          <p:cNvPr id="4104" name="Line 8"/>
          <p:cNvSpPr>
            <a:spLocks noChangeShapeType="1"/>
          </p:cNvSpPr>
          <p:nvPr/>
        </p:nvSpPr>
        <p:spPr bwMode="auto">
          <a:xfrm>
            <a:off x="2987675" y="1773238"/>
            <a:ext cx="14398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4105" name="Text Box 9"/>
          <p:cNvSpPr txBox="1">
            <a:spLocks noChangeArrowheads="1"/>
          </p:cNvSpPr>
          <p:nvPr/>
        </p:nvSpPr>
        <p:spPr bwMode="auto">
          <a:xfrm>
            <a:off x="2987675" y="1406525"/>
            <a:ext cx="1282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mtClean="0"/>
              <a:t>基づかない</a:t>
            </a:r>
          </a:p>
        </p:txBody>
      </p:sp>
      <mc:AlternateContent xmlns:mc="http://schemas.openxmlformats.org/markup-compatibility/2006">
        <mc:Choice xmlns:a14="http://schemas.microsoft.com/office/drawing/2010/main" Requires="a14">
          <p:sp>
            <p:nvSpPr>
              <p:cNvPr id="4106" name="Text Box 10"/>
              <p:cNvSpPr txBox="1">
                <a:spLocks noChangeArrowheads="1"/>
              </p:cNvSpPr>
              <p:nvPr/>
            </p:nvSpPr>
            <p:spPr bwMode="auto">
              <a:xfrm>
                <a:off x="4479925" y="1576388"/>
                <a:ext cx="4413250" cy="646331"/>
              </a:xfrm>
              <a:prstGeom prst="rect">
                <a:avLst/>
              </a:prstGeom>
              <a:noFill/>
              <a:ln w="9525">
                <a:solidFill>
                  <a:schemeClr val="tx1"/>
                </a:solidFill>
                <a:miter lim="800000"/>
                <a:headEnd/>
                <a:tailEnd/>
              </a:ln>
              <a:effectLst/>
              <a:extLst>
                <a:ext uri="{909E8E84-426E-40DD-AFC4-6F175D3DCCD1}">
                  <a14:hiddenFill>
                    <a:solidFill>
                      <a:schemeClr val="tx1"/>
                    </a:solidFill>
                  </a14:hiddenFill>
                </a:ext>
                <a:ext uri="{AF507438-7753-43E0-B8FC-AC1667EBCBE1}">
                  <a14:hiddenEffects>
                    <a:effectLst>
                      <a:outerShdw blurRad="63500" dist="38099" dir="2700000" algn="ctr" rotWithShape="0">
                        <a:schemeClr val="bg2">
                          <a:alpha val="74998"/>
                        </a:schemeClr>
                      </a:outerShdw>
                    </a:effectLst>
                  </a14:hiddenEffects>
                </a:ext>
              </a:extLst>
            </p:spPr>
            <p:txBody>
              <a:bodyPr wrap="squar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dirty="0" smtClean="0">
                    <a:solidFill>
                      <a:srgbClr val="FF0000"/>
                    </a:solidFill>
                  </a:rPr>
                  <a:t>バケットソート</a:t>
                </a:r>
                <a:r>
                  <a:rPr lang="ja-JP" altLang="en-US" dirty="0" smtClean="0"/>
                  <a:t>、</a:t>
                </a:r>
                <a:r>
                  <a:rPr lang="ja-JP" altLang="en-US" dirty="0" smtClean="0">
                    <a:solidFill>
                      <a:srgbClr val="FF0000"/>
                    </a:solidFill>
                  </a:rPr>
                  <a:t>基数ソート</a:t>
                </a:r>
                <a:r>
                  <a:rPr lang="en-US" altLang="ja-JP" dirty="0" smtClean="0">
                    <a:solidFill>
                      <a:srgbClr val="FF0000"/>
                    </a:solidFill>
                  </a:rPr>
                  <a:t/>
                </a:r>
                <a:br>
                  <a:rPr lang="en-US" altLang="ja-JP" dirty="0" smtClean="0">
                    <a:solidFill>
                      <a:srgbClr val="FF0000"/>
                    </a:solidFill>
                  </a:rPr>
                </a:br>
                <a:r>
                  <a:rPr lang="ja-JP" altLang="en-US" dirty="0" smtClean="0"/>
                  <a:t>　最悪時計算量 </a:t>
                </a:r>
                <a14:m>
                  <m:oMath xmlns:m="http://schemas.openxmlformats.org/officeDocument/2006/math">
                    <m:r>
                      <a:rPr lang="en-US" altLang="ja-JP" i="1" dirty="0" smtClean="0">
                        <a:latin typeface="Cambria Math"/>
                      </a:rPr>
                      <m:t>𝑂</m:t>
                    </m:r>
                    <m:r>
                      <a:rPr lang="en-US" altLang="ja-JP" i="1" dirty="0" smtClean="0">
                        <a:latin typeface="Cambria Math"/>
                      </a:rPr>
                      <m:t>(</m:t>
                    </m:r>
                    <m:r>
                      <a:rPr lang="en-US" altLang="ja-JP" b="0" i="1" dirty="0" smtClean="0">
                        <a:latin typeface="Cambria Math"/>
                      </a:rPr>
                      <m:t>𝑚</m:t>
                    </m:r>
                    <m:r>
                      <a:rPr lang="en-US" altLang="ja-JP" b="0" i="1" dirty="0" smtClean="0">
                        <a:latin typeface="Cambria Math"/>
                      </a:rPr>
                      <m:t>+</m:t>
                    </m:r>
                    <m:r>
                      <a:rPr lang="en-US" altLang="ja-JP" b="0" i="1" dirty="0" smtClean="0">
                        <a:latin typeface="Cambria Math"/>
                      </a:rPr>
                      <m:t>𝑛</m:t>
                    </m:r>
                    <m:r>
                      <a:rPr lang="en-US" altLang="ja-JP" i="1" dirty="0" smtClean="0">
                        <a:latin typeface="Cambria Math"/>
                      </a:rPr>
                      <m:t>)</m:t>
                    </m:r>
                  </m:oMath>
                </a14:m>
                <a:r>
                  <a:rPr lang="ja-JP" altLang="en-US" dirty="0" smtClean="0"/>
                  <a:t>　　</a:t>
                </a:r>
                <a14:m>
                  <m:oMath xmlns:m="http://schemas.openxmlformats.org/officeDocument/2006/math">
                    <m:r>
                      <a:rPr lang="en-US" altLang="ja-JP" i="1" dirty="0" smtClean="0">
                        <a:latin typeface="Cambria Math"/>
                      </a:rPr>
                      <m:t>𝑚</m:t>
                    </m:r>
                  </m:oMath>
                </a14:m>
                <a:r>
                  <a:rPr lang="en-US" altLang="ja-JP" dirty="0" smtClean="0"/>
                  <a:t>:</a:t>
                </a:r>
                <a:r>
                  <a:rPr lang="ja-JP" altLang="en-US" dirty="0" smtClean="0"/>
                  <a:t>バケット数</a:t>
                </a:r>
              </a:p>
            </p:txBody>
          </p:sp>
        </mc:Choice>
        <mc:Fallback>
          <p:sp>
            <p:nvSpPr>
              <p:cNvPr id="4106" name="Text Box 10"/>
              <p:cNvSpPr txBox="1">
                <a:spLocks noRot="1" noChangeAspect="1" noMove="1" noResize="1" noEditPoints="1" noAdjustHandles="1" noChangeArrowheads="1" noChangeShapeType="1" noTextEdit="1"/>
              </p:cNvSpPr>
              <p:nvPr/>
            </p:nvSpPr>
            <p:spPr bwMode="auto">
              <a:xfrm>
                <a:off x="4479925" y="1576388"/>
                <a:ext cx="4413250" cy="646331"/>
              </a:xfrm>
              <a:prstGeom prst="rect">
                <a:avLst/>
              </a:prstGeom>
              <a:blipFill rotWithShape="1">
                <a:blip r:embed="rId2"/>
                <a:stretch>
                  <a:fillRect l="-1102" t="-5556" b="-13889"/>
                </a:stretch>
              </a:blipFill>
              <a:ln w="9525">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ja-JP" altLang="en-US">
                    <a:noFill/>
                  </a:rPr>
                  <a:t> </a:t>
                </a:r>
              </a:p>
            </p:txBody>
          </p:sp>
        </mc:Fallback>
      </mc:AlternateContent>
      <p:sp>
        <p:nvSpPr>
          <p:cNvPr id="4107" name="Line 11"/>
          <p:cNvSpPr>
            <a:spLocks noChangeShapeType="1"/>
          </p:cNvSpPr>
          <p:nvPr/>
        </p:nvSpPr>
        <p:spPr bwMode="auto">
          <a:xfrm>
            <a:off x="2051050" y="2133600"/>
            <a:ext cx="0" cy="3587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4108" name="Text Box 12"/>
          <p:cNvSpPr txBox="1">
            <a:spLocks noChangeArrowheads="1"/>
          </p:cNvSpPr>
          <p:nvPr/>
        </p:nvSpPr>
        <p:spPr bwMode="auto">
          <a:xfrm>
            <a:off x="2051050" y="2133600"/>
            <a:ext cx="7667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mtClean="0"/>
              <a:t>基づく</a:t>
            </a:r>
          </a:p>
        </p:txBody>
      </p:sp>
      <mc:AlternateContent xmlns:mc="http://schemas.openxmlformats.org/markup-compatibility/2006">
        <mc:Choice xmlns:a14="http://schemas.microsoft.com/office/drawing/2010/main" Requires="a14">
          <p:sp>
            <p:nvSpPr>
              <p:cNvPr id="4109" name="Text Box 13"/>
              <p:cNvSpPr txBox="1">
                <a:spLocks noChangeArrowheads="1"/>
              </p:cNvSpPr>
              <p:nvPr/>
            </p:nvSpPr>
            <p:spPr bwMode="auto">
              <a:xfrm>
                <a:off x="590550" y="2655888"/>
                <a:ext cx="4057650" cy="36671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r>
                  <a:rPr lang="ja-JP" altLang="en-US" sz="1800" u="sng" dirty="0"/>
                  <a:t>最悪</a:t>
                </a:r>
                <a:r>
                  <a:rPr lang="en-US" altLang="ja-JP" sz="1800" u="sng" dirty="0"/>
                  <a:t>/</a:t>
                </a:r>
                <a:r>
                  <a:rPr lang="ja-JP" altLang="en-US" sz="1800" u="sng" dirty="0"/>
                  <a:t>平均時間計算量の下界</a:t>
                </a:r>
                <a14:m>
                  <m:oMath xmlns:m="http://schemas.openxmlformats.org/officeDocument/2006/math">
                    <m:r>
                      <m:rPr>
                        <m:sty m:val="p"/>
                      </m:rPr>
                      <a:rPr lang="en-US" altLang="ja-JP" sz="1800" i="0" u="sng" dirty="0" smtClean="0">
                        <a:latin typeface="Cambria Math"/>
                      </a:rPr>
                      <m:t>Ω</m:t>
                    </m:r>
                    <m:r>
                      <a:rPr lang="en-US" altLang="ja-JP" sz="1800" i="1" u="sng" dirty="0">
                        <a:latin typeface="Cambria Math"/>
                      </a:rPr>
                      <m:t>(</m:t>
                    </m:r>
                    <m:r>
                      <a:rPr lang="en-US" altLang="ja-JP" sz="1800" i="1" u="sng" dirty="0">
                        <a:latin typeface="Cambria Math"/>
                      </a:rPr>
                      <m:t>𝑛</m:t>
                    </m:r>
                    <m:r>
                      <a:rPr lang="en-US" altLang="ja-JP" sz="1800" i="1" u="sng" dirty="0">
                        <a:latin typeface="Cambria Math"/>
                      </a:rPr>
                      <m:t> </m:t>
                    </m:r>
                    <m:r>
                      <m:rPr>
                        <m:sty m:val="p"/>
                      </m:rPr>
                      <a:rPr lang="en-US" altLang="ja-JP" sz="1800" i="1" u="sng" dirty="0">
                        <a:latin typeface="Cambria Math"/>
                      </a:rPr>
                      <m:t>log</m:t>
                    </m:r>
                    <m:r>
                      <a:rPr lang="en-US" altLang="ja-JP" sz="1800" i="1" u="sng" dirty="0">
                        <a:latin typeface="Cambria Math"/>
                      </a:rPr>
                      <m:t>⁡</m:t>
                    </m:r>
                    <m:r>
                      <a:rPr lang="en-US" altLang="ja-JP" sz="1800" i="1" u="sng" dirty="0">
                        <a:latin typeface="Cambria Math"/>
                      </a:rPr>
                      <m:t>𝑛</m:t>
                    </m:r>
                    <m:r>
                      <a:rPr lang="en-US" altLang="ja-JP" sz="1800" i="1" u="sng" dirty="0">
                        <a:latin typeface="Cambria Math"/>
                      </a:rPr>
                      <m:t>)</m:t>
                    </m:r>
                  </m:oMath>
                </a14:m>
                <a:endParaRPr lang="en-US" altLang="ja-JP" sz="1800" u="sng" dirty="0"/>
              </a:p>
            </p:txBody>
          </p:sp>
        </mc:Choice>
        <mc:Fallback>
          <p:sp>
            <p:nvSpPr>
              <p:cNvPr id="4109" name="Text Box 13"/>
              <p:cNvSpPr txBox="1">
                <a:spLocks noRot="1" noChangeAspect="1" noMove="1" noResize="1" noEditPoints="1" noAdjustHandles="1" noChangeArrowheads="1" noChangeShapeType="1" noTextEdit="1"/>
              </p:cNvSpPr>
              <p:nvPr/>
            </p:nvSpPr>
            <p:spPr bwMode="auto">
              <a:xfrm>
                <a:off x="590550" y="2655888"/>
                <a:ext cx="4057650" cy="366712"/>
              </a:xfrm>
              <a:prstGeom prst="rect">
                <a:avLst/>
              </a:prstGeom>
              <a:blipFill rotWithShape="1">
                <a:blip r:embed="rId3"/>
                <a:stretch>
                  <a:fillRect l="-1351" t="-11667" b="-2833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110" name="Text Box 14"/>
              <p:cNvSpPr txBox="1">
                <a:spLocks noChangeArrowheads="1"/>
              </p:cNvSpPr>
              <p:nvPr/>
            </p:nvSpPr>
            <p:spPr bwMode="auto">
              <a:xfrm>
                <a:off x="590550" y="3232150"/>
                <a:ext cx="7578485" cy="313932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r>
                  <a:rPr lang="ja-JP" altLang="en-US" sz="1800" dirty="0" smtClean="0"/>
                  <a:t>最悪</a:t>
                </a:r>
                <a:r>
                  <a:rPr lang="en-US" altLang="ja-JP" sz="1800" dirty="0"/>
                  <a:t>/</a:t>
                </a:r>
                <a:r>
                  <a:rPr lang="ja-JP" altLang="en-US" sz="1800" dirty="0"/>
                  <a:t>平均時間計算量が</a:t>
                </a:r>
                <a14:m>
                  <m:oMath xmlns:m="http://schemas.openxmlformats.org/officeDocument/2006/math">
                    <m:r>
                      <m:rPr>
                        <m:sty m:val="p"/>
                      </m:rPr>
                      <a:rPr lang="en-US" altLang="ja-JP" sz="1800" i="0" dirty="0" smtClean="0">
                        <a:latin typeface="Cambria Math"/>
                      </a:rPr>
                      <m:t>Θ</m:t>
                    </m:r>
                    <m:r>
                      <a:rPr lang="en-US" altLang="ja-JP" sz="1800" i="1" dirty="0">
                        <a:latin typeface="Cambria Math"/>
                      </a:rPr>
                      <m:t>(</m:t>
                    </m:r>
                    <m:sSup>
                      <m:sSupPr>
                        <m:ctrlPr>
                          <a:rPr lang="en-US" altLang="ja-JP" sz="1800" b="0" i="1" dirty="0" smtClean="0">
                            <a:latin typeface="Cambria Math"/>
                          </a:rPr>
                        </m:ctrlPr>
                      </m:sSupPr>
                      <m:e>
                        <m:r>
                          <a:rPr lang="en-US" altLang="ja-JP" sz="1800" i="1" dirty="0">
                            <a:latin typeface="Cambria Math"/>
                          </a:rPr>
                          <m:t>𝑛</m:t>
                        </m:r>
                      </m:e>
                      <m:sup>
                        <m:r>
                          <a:rPr lang="en-US" altLang="ja-JP" sz="1800" b="0" i="1" dirty="0" smtClean="0">
                            <a:latin typeface="Cambria Math"/>
                          </a:rPr>
                          <m:t>2</m:t>
                        </m:r>
                      </m:sup>
                    </m:sSup>
                    <m:r>
                      <a:rPr lang="en-US" altLang="ja-JP" sz="1800" i="1" dirty="0">
                        <a:latin typeface="Cambria Math"/>
                      </a:rPr>
                      <m:t>)</m:t>
                    </m:r>
                  </m:oMath>
                </a14:m>
                <a:r>
                  <a:rPr lang="ja-JP" altLang="en-US" sz="1800" dirty="0"/>
                  <a:t>のアルゴリズム</a:t>
                </a:r>
              </a:p>
              <a:p>
                <a:r>
                  <a:rPr lang="ja-JP" altLang="en-US" sz="1800" dirty="0"/>
                  <a:t>　　　　</a:t>
                </a:r>
                <a:r>
                  <a:rPr lang="ja-JP" altLang="en-US" sz="1800" dirty="0">
                    <a:solidFill>
                      <a:srgbClr val="FF0000"/>
                    </a:solidFill>
                  </a:rPr>
                  <a:t>挿入ソート</a:t>
                </a:r>
                <a:r>
                  <a:rPr lang="ja-JP" altLang="en-US" sz="1800" dirty="0"/>
                  <a:t>、</a:t>
                </a:r>
                <a:r>
                  <a:rPr lang="ja-JP" altLang="en-US" sz="1800" dirty="0">
                    <a:solidFill>
                      <a:srgbClr val="FF0000"/>
                    </a:solidFill>
                  </a:rPr>
                  <a:t>選択ソート</a:t>
                </a:r>
                <a:r>
                  <a:rPr lang="ja-JP" altLang="en-US" sz="1800" dirty="0"/>
                  <a:t>、</a:t>
                </a:r>
                <a:r>
                  <a:rPr lang="ja-JP" altLang="en-US" sz="1800" dirty="0">
                    <a:solidFill>
                      <a:srgbClr val="FF0000"/>
                    </a:solidFill>
                  </a:rPr>
                  <a:t>バブルソート</a:t>
                </a:r>
              </a:p>
              <a:p>
                <a:endParaRPr lang="ja-JP" altLang="en-US" sz="1800" dirty="0"/>
              </a:p>
              <a:p>
                <a:r>
                  <a:rPr lang="ja-JP" altLang="en-US" sz="1800" dirty="0"/>
                  <a:t>最悪</a:t>
                </a:r>
                <a:r>
                  <a:rPr lang="en-US" altLang="ja-JP" sz="1800" dirty="0"/>
                  <a:t>/</a:t>
                </a:r>
                <a:r>
                  <a:rPr lang="ja-JP" altLang="en-US" sz="1800" dirty="0"/>
                  <a:t>平均時間計算量が</a:t>
                </a:r>
                <a14:m>
                  <m:oMath xmlns:m="http://schemas.openxmlformats.org/officeDocument/2006/math">
                    <m:r>
                      <m:rPr>
                        <m:sty m:val="p"/>
                      </m:rPr>
                      <a:rPr lang="en-US" altLang="ja-JP" sz="1800" i="0" dirty="0" smtClean="0">
                        <a:latin typeface="Cambria Math"/>
                      </a:rPr>
                      <m:t>Θ</m:t>
                    </m:r>
                    <m:r>
                      <a:rPr lang="en-US" altLang="ja-JP" sz="1800" i="1" dirty="0">
                        <a:latin typeface="Cambria Math"/>
                      </a:rPr>
                      <m:t>(</m:t>
                    </m:r>
                    <m:r>
                      <a:rPr lang="en-US" altLang="ja-JP" sz="1800" i="1" dirty="0">
                        <a:latin typeface="Cambria Math"/>
                      </a:rPr>
                      <m:t>𝑛</m:t>
                    </m:r>
                    <m:r>
                      <a:rPr lang="en-US" altLang="ja-JP" sz="1800" i="1" dirty="0">
                        <a:latin typeface="Cambria Math"/>
                      </a:rPr>
                      <m:t> </m:t>
                    </m:r>
                    <m:r>
                      <m:rPr>
                        <m:sty m:val="p"/>
                      </m:rPr>
                      <a:rPr lang="en-US" altLang="ja-JP" sz="1800" i="1" dirty="0">
                        <a:latin typeface="Cambria Math"/>
                      </a:rPr>
                      <m:t>log</m:t>
                    </m:r>
                    <m:r>
                      <a:rPr lang="en-US" altLang="ja-JP" sz="1800" i="1" dirty="0">
                        <a:latin typeface="Cambria Math"/>
                      </a:rPr>
                      <m:t>⁡</m:t>
                    </m:r>
                    <m:r>
                      <a:rPr lang="en-US" altLang="ja-JP" sz="1800" i="1" dirty="0">
                        <a:latin typeface="Cambria Math"/>
                      </a:rPr>
                      <m:t>𝑛</m:t>
                    </m:r>
                    <m:r>
                      <a:rPr lang="en-US" altLang="ja-JP" sz="1800" i="1" dirty="0">
                        <a:latin typeface="Cambria Math"/>
                      </a:rPr>
                      <m:t>)</m:t>
                    </m:r>
                  </m:oMath>
                </a14:m>
                <a:r>
                  <a:rPr lang="ja-JP" altLang="en-US" sz="1800" dirty="0"/>
                  <a:t>のアルゴリズム</a:t>
                </a:r>
              </a:p>
              <a:p>
                <a:r>
                  <a:rPr lang="ja-JP" altLang="en-US" sz="1800" dirty="0"/>
                  <a:t>　　　　</a:t>
                </a:r>
                <a:r>
                  <a:rPr lang="ja-JP" altLang="en-US" sz="1800" dirty="0">
                    <a:solidFill>
                      <a:srgbClr val="FF0000"/>
                    </a:solidFill>
                  </a:rPr>
                  <a:t>マージソート</a:t>
                </a:r>
                <a:r>
                  <a:rPr lang="ja-JP" altLang="en-US" sz="1800" dirty="0"/>
                  <a:t>、</a:t>
                </a:r>
                <a:r>
                  <a:rPr lang="ja-JP" altLang="en-US" sz="1800" dirty="0">
                    <a:solidFill>
                      <a:srgbClr val="FF0000"/>
                    </a:solidFill>
                  </a:rPr>
                  <a:t>ヒープソート</a:t>
                </a:r>
              </a:p>
              <a:p>
                <a:endParaRPr lang="ja-JP" altLang="en-US" sz="1800" dirty="0"/>
              </a:p>
              <a:p>
                <a:r>
                  <a:rPr lang="ja-JP" altLang="en-US" sz="1800" dirty="0"/>
                  <a:t>最悪時間計算量が</a:t>
                </a:r>
                <a14:m>
                  <m:oMath xmlns:m="http://schemas.openxmlformats.org/officeDocument/2006/math">
                    <m:r>
                      <m:rPr>
                        <m:sty m:val="p"/>
                      </m:rPr>
                      <a:rPr lang="en-US" altLang="ja-JP" sz="1800" i="0" dirty="0" smtClean="0">
                        <a:latin typeface="Cambria Math"/>
                      </a:rPr>
                      <m:t>Θ</m:t>
                    </m:r>
                    <m:r>
                      <a:rPr lang="en-US" altLang="ja-JP" sz="1800" i="1" dirty="0">
                        <a:latin typeface="Cambria Math"/>
                      </a:rPr>
                      <m:t>(</m:t>
                    </m:r>
                    <m:sSup>
                      <m:sSupPr>
                        <m:ctrlPr>
                          <a:rPr lang="en-US" altLang="ja-JP" sz="1800" b="0" i="1" dirty="0" smtClean="0">
                            <a:latin typeface="Cambria Math"/>
                          </a:rPr>
                        </m:ctrlPr>
                      </m:sSupPr>
                      <m:e>
                        <m:r>
                          <a:rPr lang="en-US" altLang="ja-JP" sz="1800" i="1" dirty="0">
                            <a:latin typeface="Cambria Math"/>
                          </a:rPr>
                          <m:t>𝑛</m:t>
                        </m:r>
                      </m:e>
                      <m:sup>
                        <m:r>
                          <a:rPr lang="en-US" altLang="ja-JP" sz="1800" b="0" i="1" dirty="0" smtClean="0">
                            <a:latin typeface="Cambria Math"/>
                          </a:rPr>
                          <m:t>2</m:t>
                        </m:r>
                      </m:sup>
                    </m:sSup>
                    <m:r>
                      <a:rPr lang="en-US" altLang="ja-JP" sz="1800" i="1" dirty="0">
                        <a:latin typeface="Cambria Math"/>
                      </a:rPr>
                      <m:t>)</m:t>
                    </m:r>
                  </m:oMath>
                </a14:m>
                <a:r>
                  <a:rPr lang="ja-JP" altLang="en-US" sz="1800" dirty="0"/>
                  <a:t>だが平均時間計算量が</a:t>
                </a:r>
                <a14:m>
                  <m:oMath xmlns:m="http://schemas.openxmlformats.org/officeDocument/2006/math">
                    <m:r>
                      <m:rPr>
                        <m:sty m:val="p"/>
                      </m:rPr>
                      <a:rPr lang="en-US" altLang="ja-JP" sz="1800" i="0" dirty="0" smtClean="0">
                        <a:latin typeface="Cambria Math"/>
                      </a:rPr>
                      <m:t>Θ</m:t>
                    </m:r>
                    <m:r>
                      <a:rPr lang="en-US" altLang="ja-JP" sz="1800" i="1" dirty="0">
                        <a:latin typeface="Cambria Math"/>
                      </a:rPr>
                      <m:t>(</m:t>
                    </m:r>
                    <m:r>
                      <a:rPr lang="en-US" altLang="ja-JP" sz="1800" i="1" dirty="0">
                        <a:latin typeface="Cambria Math"/>
                      </a:rPr>
                      <m:t>𝑛</m:t>
                    </m:r>
                    <m:r>
                      <a:rPr lang="en-US" altLang="ja-JP" sz="1800" i="1" dirty="0">
                        <a:latin typeface="Cambria Math"/>
                      </a:rPr>
                      <m:t> </m:t>
                    </m:r>
                    <m:r>
                      <m:rPr>
                        <m:sty m:val="p"/>
                      </m:rPr>
                      <a:rPr lang="en-US" altLang="ja-JP" sz="1800" i="1" dirty="0">
                        <a:latin typeface="Cambria Math"/>
                      </a:rPr>
                      <m:t>log</m:t>
                    </m:r>
                    <m:r>
                      <a:rPr lang="en-US" altLang="ja-JP" sz="1800" i="1" dirty="0">
                        <a:latin typeface="Cambria Math"/>
                      </a:rPr>
                      <m:t>⁡</m:t>
                    </m:r>
                    <m:r>
                      <a:rPr lang="en-US" altLang="ja-JP" sz="1800" i="1" dirty="0">
                        <a:latin typeface="Cambria Math"/>
                      </a:rPr>
                      <m:t>𝑛</m:t>
                    </m:r>
                    <m:r>
                      <a:rPr lang="en-US" altLang="ja-JP" sz="1800" i="1" dirty="0">
                        <a:latin typeface="Cambria Math"/>
                      </a:rPr>
                      <m:t>)</m:t>
                    </m:r>
                  </m:oMath>
                </a14:m>
                <a:r>
                  <a:rPr lang="ja-JP" altLang="en-US" sz="1800" dirty="0"/>
                  <a:t>のアルゴリズム</a:t>
                </a:r>
              </a:p>
              <a:p>
                <a:r>
                  <a:rPr lang="ja-JP" altLang="en-US" sz="1800" dirty="0"/>
                  <a:t>　　　　</a:t>
                </a:r>
                <a:r>
                  <a:rPr lang="ja-JP" altLang="en-US" sz="1800" dirty="0">
                    <a:solidFill>
                      <a:srgbClr val="FF0000"/>
                    </a:solidFill>
                  </a:rPr>
                  <a:t>クイックソート</a:t>
                </a:r>
              </a:p>
              <a:p>
                <a:endParaRPr lang="ja-JP" altLang="en-US" sz="1800" dirty="0"/>
              </a:p>
              <a:p>
                <a:r>
                  <a:rPr lang="ja-JP" altLang="en-US" sz="1800" dirty="0"/>
                  <a:t>最悪時間計算量が</a:t>
                </a:r>
                <a14:m>
                  <m:oMath xmlns:m="http://schemas.openxmlformats.org/officeDocument/2006/math">
                    <m:r>
                      <m:rPr>
                        <m:sty m:val="p"/>
                      </m:rPr>
                      <a:rPr lang="en-US" altLang="ja-JP" sz="1800" i="0" dirty="0" smtClean="0">
                        <a:latin typeface="Cambria Math"/>
                      </a:rPr>
                      <m:t>Θ</m:t>
                    </m:r>
                    <m:d>
                      <m:dPr>
                        <m:ctrlPr>
                          <a:rPr lang="en-US" altLang="ja-JP" sz="1800" i="1" dirty="0" smtClean="0">
                            <a:latin typeface="Cambria Math"/>
                          </a:rPr>
                        </m:ctrlPr>
                      </m:dPr>
                      <m:e>
                        <m:r>
                          <a:rPr lang="en-US" altLang="ja-JP" sz="1800" i="1" dirty="0">
                            <a:latin typeface="Cambria Math"/>
                          </a:rPr>
                          <m:t>𝑛</m:t>
                        </m:r>
                        <m:sSup>
                          <m:sSupPr>
                            <m:ctrlPr>
                              <a:rPr lang="en-US" altLang="ja-JP" sz="1800" b="0" i="1" dirty="0" smtClean="0">
                                <a:latin typeface="Cambria Math"/>
                              </a:rPr>
                            </m:ctrlPr>
                          </m:sSupPr>
                          <m:e>
                            <m:d>
                              <m:dPr>
                                <m:ctrlPr>
                                  <a:rPr lang="en-US" altLang="ja-JP" sz="1800" i="1" dirty="0">
                                    <a:latin typeface="Cambria Math"/>
                                  </a:rPr>
                                </m:ctrlPr>
                              </m:dPr>
                              <m:e>
                                <m:func>
                                  <m:funcPr>
                                    <m:ctrlPr>
                                      <a:rPr lang="en-US" altLang="ja-JP" sz="1800" i="1" dirty="0">
                                        <a:latin typeface="Cambria Math"/>
                                      </a:rPr>
                                    </m:ctrlPr>
                                  </m:funcPr>
                                  <m:fName>
                                    <m:r>
                                      <m:rPr>
                                        <m:sty m:val="p"/>
                                      </m:rPr>
                                      <a:rPr lang="en-US" altLang="ja-JP" sz="1800" i="0" dirty="0">
                                        <a:latin typeface="Cambria Math"/>
                                      </a:rPr>
                                      <m:t>log</m:t>
                                    </m:r>
                                  </m:fName>
                                  <m:e>
                                    <m:r>
                                      <a:rPr lang="en-US" altLang="ja-JP" sz="1800" i="1" dirty="0">
                                        <a:latin typeface="Cambria Math"/>
                                      </a:rPr>
                                      <m:t>𝑛</m:t>
                                    </m:r>
                                  </m:e>
                                </m:func>
                              </m:e>
                            </m:d>
                          </m:e>
                          <m:sup>
                            <m:r>
                              <a:rPr lang="en-US" altLang="ja-JP" sz="1800" b="0" i="1" dirty="0" smtClean="0">
                                <a:latin typeface="Cambria Math"/>
                              </a:rPr>
                              <m:t>2</m:t>
                            </m:r>
                          </m:sup>
                        </m:sSup>
                      </m:e>
                    </m:d>
                  </m:oMath>
                </a14:m>
                <a:r>
                  <a:rPr lang="ja-JP" altLang="en-US" sz="1800" dirty="0"/>
                  <a:t>のアルゴリズム</a:t>
                </a:r>
              </a:p>
              <a:p>
                <a:r>
                  <a:rPr lang="ja-JP" altLang="en-US" sz="1800" dirty="0"/>
                  <a:t>　　　　</a:t>
                </a:r>
                <a:r>
                  <a:rPr lang="ja-JP" altLang="en-US" sz="1800" dirty="0">
                    <a:solidFill>
                      <a:srgbClr val="FF0000"/>
                    </a:solidFill>
                  </a:rPr>
                  <a:t>シェルソート</a:t>
                </a:r>
              </a:p>
            </p:txBody>
          </p:sp>
        </mc:Choice>
        <mc:Fallback>
          <p:sp>
            <p:nvSpPr>
              <p:cNvPr id="4110" name="Text Box 14"/>
              <p:cNvSpPr txBox="1">
                <a:spLocks noRot="1" noChangeAspect="1" noMove="1" noResize="1" noEditPoints="1" noAdjustHandles="1" noChangeArrowheads="1" noChangeShapeType="1" noTextEdit="1"/>
              </p:cNvSpPr>
              <p:nvPr/>
            </p:nvSpPr>
            <p:spPr bwMode="auto">
              <a:xfrm>
                <a:off x="590550" y="3232150"/>
                <a:ext cx="7578485" cy="3139321"/>
              </a:xfrm>
              <a:prstGeom prst="rect">
                <a:avLst/>
              </a:prstGeom>
              <a:blipFill rotWithShape="1">
                <a:blip r:embed="rId4"/>
                <a:stretch>
                  <a:fillRect l="-724" t="-1359" b="-174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ja-JP" altLang="en-US">
                    <a:noFill/>
                  </a:rPr>
                  <a:t> </a:t>
                </a:r>
              </a:p>
            </p:txBody>
          </p:sp>
        </mc:Fallback>
      </mc:AlternateContent>
      <p:sp>
        <p:nvSpPr>
          <p:cNvPr id="4111" name="Rectangle 15"/>
          <p:cNvSpPr>
            <a:spLocks noChangeArrowheads="1"/>
          </p:cNvSpPr>
          <p:nvPr/>
        </p:nvSpPr>
        <p:spPr bwMode="auto">
          <a:xfrm>
            <a:off x="395288" y="2565400"/>
            <a:ext cx="8497887" cy="38879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4112" name="AutoShape 19"/>
          <p:cNvSpPr>
            <a:spLocks noChangeArrowheads="1"/>
          </p:cNvSpPr>
          <p:nvPr/>
        </p:nvSpPr>
        <p:spPr bwMode="auto">
          <a:xfrm>
            <a:off x="5796136" y="5424297"/>
            <a:ext cx="2951560" cy="935207"/>
          </a:xfrm>
          <a:prstGeom prst="wedgeRoundRectCallout">
            <a:avLst>
              <a:gd name="adj1" fmla="val -35407"/>
              <a:gd name="adj2" fmla="val -61156"/>
              <a:gd name="adj3" fmla="val 16667"/>
            </a:avLst>
          </a:prstGeom>
          <a:solidFill>
            <a:schemeClr val="accent3">
              <a:lumMod val="95000"/>
            </a:schemeClr>
          </a:solidFill>
          <a:ln w="9525">
            <a:solidFill>
              <a:schemeClr val="bg2"/>
            </a:solidFill>
            <a:miter lim="800000"/>
            <a:headEnd/>
            <a:tailEnd/>
          </a:ln>
          <a:effectLst/>
          <a:extLst/>
        </p:spPr>
        <p:txBody>
          <a:bodyPr lIns="72000" rIns="72000"/>
          <a:lstStyle/>
          <a:p>
            <a:pPr>
              <a:defRPr/>
            </a:pPr>
            <a:r>
              <a:rPr lang="en-US" altLang="ja-JP" sz="1600" dirty="0">
                <a:solidFill>
                  <a:schemeClr val="bg2"/>
                </a:solidFill>
                <a:latin typeface="Arial" charset="0"/>
                <a:ea typeface="ＭＳ Ｐゴシック" charset="0"/>
                <a:cs typeface="ＭＳ Ｐゴシック" charset="0"/>
              </a:rPr>
              <a:t>C</a:t>
            </a:r>
            <a:r>
              <a:rPr lang="ja-JP" altLang="en-US" sz="1600" dirty="0">
                <a:solidFill>
                  <a:schemeClr val="bg2"/>
                </a:solidFill>
                <a:latin typeface="Arial" charset="0"/>
                <a:ea typeface="ＭＳ Ｐゴシック" charset="0"/>
                <a:cs typeface="ＭＳ Ｐゴシック" charset="0"/>
              </a:rPr>
              <a:t>言語の標準ライブラリ関数</a:t>
            </a:r>
            <a:r>
              <a:rPr lang="en-US" altLang="ja-JP" sz="1600" dirty="0" err="1">
                <a:solidFill>
                  <a:schemeClr val="bg2"/>
                </a:solidFill>
                <a:latin typeface="Consolas" panose="020B0609020204030204" pitchFamily="49" charset="0"/>
                <a:ea typeface="ＭＳ Ｐゴシック" charset="0"/>
                <a:cs typeface="Consolas" panose="020B0609020204030204" pitchFamily="49" charset="0"/>
              </a:rPr>
              <a:t>qsort</a:t>
            </a:r>
            <a:r>
              <a:rPr lang="ja-JP" altLang="en-US" sz="1600" dirty="0">
                <a:solidFill>
                  <a:schemeClr val="bg2"/>
                </a:solidFill>
                <a:latin typeface="Arial" charset="0"/>
                <a:ea typeface="ＭＳ Ｐゴシック" charset="0"/>
                <a:cs typeface="ＭＳ Ｐゴシック" charset="0"/>
              </a:rPr>
              <a:t>は一般的にクイックソートで実装されて</a:t>
            </a:r>
            <a:r>
              <a:rPr lang="ja-JP" altLang="en-US" sz="1600" dirty="0" smtClean="0">
                <a:solidFill>
                  <a:schemeClr val="bg2"/>
                </a:solidFill>
                <a:latin typeface="Arial" charset="0"/>
                <a:ea typeface="ＭＳ Ｐゴシック" charset="0"/>
                <a:cs typeface="ＭＳ Ｐゴシック" charset="0"/>
              </a:rPr>
              <a:t>いる</a:t>
            </a:r>
            <a:endParaRPr lang="ja-JP" altLang="en-US" sz="1600" dirty="0">
              <a:solidFill>
                <a:schemeClr val="bg2"/>
              </a:solidFill>
              <a:latin typeface="Arial" charset="0"/>
              <a:ea typeface="ＭＳ Ｐゴシック" charset="0"/>
              <a:cs typeface="ＭＳ Ｐゴシック"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スライド番号プレースホルダー 5"/>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fld id="{E453EE93-9CC5-4635-991E-EB377505E05A}" type="slidenum">
              <a:rPr kumimoji="0" lang="en-US" altLang="ja-JP" sz="1200">
                <a:latin typeface="Arial Black" pitchFamily="34" charset="0"/>
              </a:rPr>
              <a:pPr/>
              <a:t>3</a:t>
            </a:fld>
            <a:endParaRPr kumimoji="0" lang="en-US" altLang="ja-JP" sz="1200">
              <a:latin typeface="Arial Black" pitchFamily="34" charset="0"/>
            </a:endParaRPr>
          </a:p>
        </p:txBody>
      </p:sp>
      <p:sp>
        <p:nvSpPr>
          <p:cNvPr id="5125" name="Rectangle 2"/>
          <p:cNvSpPr>
            <a:spLocks noGrp="1" noChangeArrowheads="1"/>
          </p:cNvSpPr>
          <p:nvPr>
            <p:ph type="title"/>
          </p:nvPr>
        </p:nvSpPr>
        <p:spPr>
          <a:xfrm>
            <a:off x="457200" y="457200"/>
            <a:ext cx="8229600" cy="595536"/>
          </a:xfrm>
        </p:spPr>
        <p:txBody>
          <a:bodyPr/>
          <a:lstStyle/>
          <a:p>
            <a:pPr eaLnBrk="1" hangingPunct="1">
              <a:defRPr/>
            </a:pPr>
            <a:r>
              <a:rPr lang="ja-JP" altLang="en-US" sz="3200" dirty="0" smtClean="0"/>
              <a:t>探索のためのデータ構造：　辞書</a:t>
            </a:r>
            <a:r>
              <a:rPr lang="en-US" altLang="ja-JP" sz="3200" dirty="0" smtClean="0"/>
              <a:t>(dictionary)</a:t>
            </a:r>
            <a:endParaRPr lang="ja-JP" altLang="en-US" sz="3200" dirty="0"/>
          </a:p>
        </p:txBody>
      </p:sp>
      <mc:AlternateContent xmlns:mc="http://schemas.openxmlformats.org/markup-compatibility/2006">
        <mc:Choice xmlns:a14="http://schemas.microsoft.com/office/drawing/2010/main" Requires="a14">
          <p:sp>
            <p:nvSpPr>
              <p:cNvPr id="5126" name="Text Box 88"/>
              <p:cNvSpPr txBox="1">
                <a:spLocks noChangeArrowheads="1"/>
              </p:cNvSpPr>
              <p:nvPr/>
            </p:nvSpPr>
            <p:spPr bwMode="auto">
              <a:xfrm>
                <a:off x="539552" y="1795463"/>
                <a:ext cx="8198013" cy="2308324"/>
              </a:xfrm>
              <a:prstGeom prst="rect">
                <a:avLst/>
              </a:prstGeom>
              <a:noFill/>
              <a:ln w="9525">
                <a:solidFill>
                  <a:schemeClr val="tx1"/>
                </a:solidFill>
                <a:miter lim="800000"/>
                <a:headEnd/>
                <a:tailEnd/>
              </a:ln>
              <a:effectLst/>
              <a:extLst>
                <a:ext uri="{909E8E84-426E-40DD-AFC4-6F175D3DCCD1}">
                  <a14:hiddenFill>
                    <a:solidFill>
                      <a:schemeClr val="accent1"/>
                    </a:solidFill>
                  </a14:hiddenFill>
                </a:ext>
                <a:ext uri="{AF507438-7753-43E0-B8FC-AC1667EBCBE1}">
                  <a14:hiddenEffects>
                    <a:effectLst>
                      <a:outerShdw blurRad="63500" dist="38099" dir="2700000" algn="ctr" rotWithShape="0">
                        <a:schemeClr val="bg2">
                          <a:alpha val="74998"/>
                        </a:schemeClr>
                      </a:outerShdw>
                    </a:effectLst>
                  </a14:hiddenEffects>
                </a:ext>
              </a:extLst>
            </p:spPr>
            <p:txBody>
              <a:bodyPr wrap="none">
                <a:spAutoFit/>
              </a:bodyPr>
              <a:lstStyle>
                <a:lvl1pPr marL="342900" indent="-342900"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lnSpc>
                    <a:spcPct val="150000"/>
                  </a:lnSpc>
                  <a:defRPr/>
                </a:pPr>
                <a:r>
                  <a:rPr lang="ja-JP" altLang="en-US" sz="2400" dirty="0" smtClean="0"/>
                  <a:t>次の３つの基本操作を伴う集合</a:t>
                </a:r>
                <a14:m>
                  <m:oMath xmlns:m="http://schemas.openxmlformats.org/officeDocument/2006/math">
                    <m:r>
                      <a:rPr lang="en-US" altLang="ja-JP" sz="2400" i="1" dirty="0" smtClean="0">
                        <a:latin typeface="Cambria Math"/>
                      </a:rPr>
                      <m:t>𝑆</m:t>
                    </m:r>
                  </m:oMath>
                </a14:m>
                <a:r>
                  <a:rPr lang="ja-JP" altLang="en-US" sz="2400" dirty="0" smtClean="0"/>
                  <a:t>を</a:t>
                </a:r>
                <a:r>
                  <a:rPr lang="ja-JP" altLang="en-US" sz="2400" b="1" dirty="0" smtClean="0">
                    <a:solidFill>
                      <a:srgbClr val="FF3300"/>
                    </a:solidFill>
                  </a:rPr>
                  <a:t>辞書</a:t>
                </a:r>
                <a:r>
                  <a:rPr lang="en-US" altLang="ja-JP" sz="2400" b="1" dirty="0" smtClean="0">
                    <a:solidFill>
                      <a:srgbClr val="FF3300"/>
                    </a:solidFill>
                  </a:rPr>
                  <a:t>(dictionary)</a:t>
                </a:r>
                <a:r>
                  <a:rPr lang="ja-JP" altLang="en-US" sz="2400" dirty="0" smtClean="0"/>
                  <a:t>と</a:t>
                </a:r>
                <a:r>
                  <a:rPr lang="ja-JP" altLang="en-US" sz="2400" dirty="0" smtClean="0"/>
                  <a:t>いう</a:t>
                </a:r>
                <a:endParaRPr lang="ja-JP" altLang="en-US" sz="2400" dirty="0" smtClean="0"/>
              </a:p>
              <a:p>
                <a:pPr marL="446088" indent="-250825" eaLnBrk="1" hangingPunct="1">
                  <a:lnSpc>
                    <a:spcPct val="150000"/>
                  </a:lnSpc>
                  <a:buFontTx/>
                  <a:buAutoNum type="arabicPeriod"/>
                  <a:defRPr/>
                </a:pPr>
                <a:r>
                  <a:rPr lang="en-US" altLang="ja-JP" sz="2400" dirty="0" smtClean="0"/>
                  <a:t> </a:t>
                </a:r>
                <a:r>
                  <a:rPr lang="en-US" altLang="ja-JP" sz="2400" dirty="0" smtClean="0">
                    <a:latin typeface="Consolas" panose="020B0609020204030204" pitchFamily="49" charset="0"/>
                    <a:cs typeface="Consolas" panose="020B0609020204030204" pitchFamily="49" charset="0"/>
                  </a:rPr>
                  <a:t>member</a:t>
                </a:r>
                <a:r>
                  <a:rPr lang="en-US" altLang="ja-JP" sz="2400" dirty="0" smtClean="0">
                    <a:latin typeface="Consolas" panose="020B0609020204030204" pitchFamily="49" charset="0"/>
                    <a:cs typeface="Consolas" panose="020B0609020204030204" pitchFamily="49" charset="0"/>
                  </a:rPr>
                  <a:t>(</a:t>
                </a:r>
                <a14:m>
                  <m:oMath xmlns:m="http://schemas.openxmlformats.org/officeDocument/2006/math">
                    <m:r>
                      <a:rPr lang="en-US" altLang="ja-JP" sz="2400" i="1" dirty="0" smtClean="0">
                        <a:latin typeface="Cambria Math"/>
                      </a:rPr>
                      <m:t>𝑥</m:t>
                    </m:r>
                  </m:oMath>
                </a14:m>
                <a:r>
                  <a:rPr lang="en-US" altLang="ja-JP" sz="2400" dirty="0" err="1" smtClean="0">
                    <a:latin typeface="Consolas" panose="020B0609020204030204" pitchFamily="49" charset="0"/>
                    <a:cs typeface="Consolas" panose="020B0609020204030204" pitchFamily="49" charset="0"/>
                  </a:rPr>
                  <a:t>,</a:t>
                </a:r>
                <a14:m>
                  <m:oMath xmlns:m="http://schemas.openxmlformats.org/officeDocument/2006/math">
                    <m:r>
                      <a:rPr lang="en-US" altLang="ja-JP" sz="2400" i="1" dirty="0" smtClean="0">
                        <a:latin typeface="Cambria Math"/>
                      </a:rPr>
                      <m:t>𝑆</m:t>
                    </m:r>
                  </m:oMath>
                </a14:m>
                <a:r>
                  <a:rPr lang="en-US" altLang="ja-JP" sz="2400" dirty="0" smtClean="0">
                    <a:latin typeface="Consolas" panose="020B0609020204030204" pitchFamily="49" charset="0"/>
                    <a:cs typeface="Consolas" panose="020B0609020204030204" pitchFamily="49" charset="0"/>
                  </a:rPr>
                  <a:t>)</a:t>
                </a:r>
                <a:r>
                  <a:rPr lang="en-US" altLang="ja-JP" sz="2400" dirty="0" smtClean="0"/>
                  <a:t>: </a:t>
                </a:r>
                <a14:m>
                  <m:oMath xmlns:m="http://schemas.openxmlformats.org/officeDocument/2006/math">
                    <m:r>
                      <a:rPr lang="en-US" altLang="ja-JP" sz="2400" b="0" i="1" dirty="0" smtClean="0">
                        <a:latin typeface="Cambria Math"/>
                      </a:rPr>
                      <m:t>𝑥</m:t>
                    </m:r>
                    <m:r>
                      <a:rPr lang="en-US" altLang="ja-JP" sz="2400" b="0" i="1" dirty="0" smtClean="0">
                        <a:latin typeface="Cambria Math"/>
                      </a:rPr>
                      <m:t>∈</m:t>
                    </m:r>
                    <m:r>
                      <a:rPr lang="en-US" altLang="ja-JP" sz="2400" b="0" i="1" dirty="0" smtClean="0">
                        <a:latin typeface="Cambria Math"/>
                      </a:rPr>
                      <m:t>𝑆</m:t>
                    </m:r>
                    <m:r>
                      <a:rPr lang="en-US" altLang="ja-JP" sz="2400" b="0" i="1" dirty="0" smtClean="0">
                        <a:latin typeface="Cambria Math"/>
                      </a:rPr>
                      <m:t> </m:t>
                    </m:r>
                  </m:oMath>
                </a14:m>
                <a:r>
                  <a:rPr lang="ja-JP" altLang="en-US" sz="2400" dirty="0" smtClean="0"/>
                  <a:t>ならば </a:t>
                </a:r>
                <a:r>
                  <a:rPr lang="en-US" altLang="ja-JP" sz="2400" dirty="0" smtClean="0">
                    <a:latin typeface="Consolas" panose="020B0609020204030204" pitchFamily="49" charset="0"/>
                    <a:cs typeface="Consolas" panose="020B0609020204030204" pitchFamily="49" charset="0"/>
                  </a:rPr>
                  <a:t>yes</a:t>
                </a:r>
                <a:r>
                  <a:rPr lang="en-US" altLang="ja-JP" sz="2400" dirty="0" smtClean="0"/>
                  <a:t>, </a:t>
                </a:r>
                <a14:m>
                  <m:oMath xmlns:m="http://schemas.openxmlformats.org/officeDocument/2006/math">
                    <m:r>
                      <a:rPr lang="en-US" altLang="ja-JP" sz="2400" b="0" i="1" dirty="0" smtClean="0">
                        <a:latin typeface="Cambria Math"/>
                      </a:rPr>
                      <m:t>𝑥</m:t>
                    </m:r>
                    <m:r>
                      <a:rPr lang="en-US" altLang="ja-JP" sz="2400" b="0" i="1" dirty="0" smtClean="0">
                        <a:latin typeface="Cambria Math"/>
                      </a:rPr>
                      <m:t>∉</m:t>
                    </m:r>
                    <m:r>
                      <a:rPr lang="en-US" altLang="ja-JP" sz="2400" b="0" i="1" dirty="0" smtClean="0">
                        <a:latin typeface="Cambria Math"/>
                      </a:rPr>
                      <m:t>𝑆</m:t>
                    </m:r>
                    <m:r>
                      <a:rPr lang="en-US" altLang="ja-JP" sz="2400" b="0" i="1" dirty="0" smtClean="0">
                        <a:latin typeface="Cambria Math"/>
                      </a:rPr>
                      <m:t> </m:t>
                    </m:r>
                  </m:oMath>
                </a14:m>
                <a:r>
                  <a:rPr lang="ja-JP" altLang="en-US" sz="2400" dirty="0" smtClean="0"/>
                  <a:t>ならば </a:t>
                </a:r>
                <a:r>
                  <a:rPr lang="en-US" altLang="ja-JP" sz="2400" dirty="0">
                    <a:latin typeface="Consolas" panose="020B0609020204030204" pitchFamily="49" charset="0"/>
                    <a:cs typeface="Consolas" panose="020B0609020204030204" pitchFamily="49" charset="0"/>
                  </a:rPr>
                  <a:t>no</a:t>
                </a:r>
                <a:r>
                  <a:rPr lang="en-US" altLang="ja-JP" sz="2400" dirty="0" smtClean="0"/>
                  <a:t> </a:t>
                </a:r>
                <a:r>
                  <a:rPr lang="ja-JP" altLang="en-US" sz="2400" dirty="0" smtClean="0"/>
                  <a:t>を</a:t>
                </a:r>
                <a:r>
                  <a:rPr lang="ja-JP" altLang="en-US" sz="2400" dirty="0" smtClean="0"/>
                  <a:t>出力</a:t>
                </a:r>
              </a:p>
              <a:p>
                <a:pPr marL="446088" indent="-250825" eaLnBrk="1" hangingPunct="1">
                  <a:lnSpc>
                    <a:spcPct val="150000"/>
                  </a:lnSpc>
                  <a:buFontTx/>
                  <a:buAutoNum type="arabicPeriod"/>
                  <a:defRPr/>
                </a:pPr>
                <a:r>
                  <a:rPr lang="en-US" altLang="ja-JP" sz="2400" dirty="0" smtClean="0"/>
                  <a:t> </a:t>
                </a:r>
                <a:r>
                  <a:rPr lang="en-US" altLang="ja-JP" sz="2400" dirty="0">
                    <a:latin typeface="Consolas" panose="020B0609020204030204" pitchFamily="49" charset="0"/>
                    <a:cs typeface="Consolas" panose="020B0609020204030204" pitchFamily="49" charset="0"/>
                  </a:rPr>
                  <a:t>i</a:t>
                </a:r>
                <a:r>
                  <a:rPr lang="en-US" altLang="ja-JP" sz="2400" dirty="0" smtClean="0">
                    <a:latin typeface="Consolas" panose="020B0609020204030204" pitchFamily="49" charset="0"/>
                    <a:cs typeface="Consolas" panose="020B0609020204030204" pitchFamily="49" charset="0"/>
                  </a:rPr>
                  <a:t>nsert(</a:t>
                </a:r>
                <a14:m>
                  <m:oMath xmlns:m="http://schemas.openxmlformats.org/officeDocument/2006/math">
                    <m:r>
                      <a:rPr lang="en-US" altLang="ja-JP" sz="2400" i="1" dirty="0">
                        <a:latin typeface="Cambria Math"/>
                      </a:rPr>
                      <m:t>𝑥</m:t>
                    </m:r>
                  </m:oMath>
                </a14:m>
                <a:r>
                  <a:rPr lang="en-US" altLang="ja-JP" sz="2400" dirty="0" err="1">
                    <a:latin typeface="Consolas" panose="020B0609020204030204" pitchFamily="49" charset="0"/>
                    <a:cs typeface="Consolas" panose="020B0609020204030204" pitchFamily="49" charset="0"/>
                  </a:rPr>
                  <a:t>,</a:t>
                </a:r>
                <a14:m>
                  <m:oMath xmlns:m="http://schemas.openxmlformats.org/officeDocument/2006/math">
                    <m:r>
                      <a:rPr lang="en-US" altLang="ja-JP" sz="2400" i="1" dirty="0">
                        <a:latin typeface="Cambria Math"/>
                      </a:rPr>
                      <m:t>𝑆</m:t>
                    </m:r>
                  </m:oMath>
                </a14:m>
                <a:r>
                  <a:rPr lang="en-US" altLang="ja-JP" sz="2400" dirty="0" smtClean="0">
                    <a:latin typeface="Consolas" panose="020B0609020204030204" pitchFamily="49" charset="0"/>
                    <a:cs typeface="Consolas" panose="020B0609020204030204" pitchFamily="49" charset="0"/>
                  </a:rPr>
                  <a:t>)</a:t>
                </a:r>
                <a:r>
                  <a:rPr lang="en-US" altLang="ja-JP" sz="2400" dirty="0" smtClean="0"/>
                  <a:t>: </a:t>
                </a:r>
                <a14:m>
                  <m:oMath xmlns:m="http://schemas.openxmlformats.org/officeDocument/2006/math">
                    <m:r>
                      <a:rPr lang="en-US" altLang="ja-JP" sz="2400" i="1" dirty="0" smtClean="0">
                        <a:latin typeface="Cambria Math"/>
                      </a:rPr>
                      <m:t>𝑆</m:t>
                    </m:r>
                  </m:oMath>
                </a14:m>
                <a:r>
                  <a:rPr lang="ja-JP" altLang="en-US" sz="2400" dirty="0" smtClean="0"/>
                  <a:t> </a:t>
                </a:r>
                <a:r>
                  <a:rPr lang="ja-JP" altLang="en-US" sz="2400" dirty="0" smtClean="0"/>
                  <a:t>を</a:t>
                </a:r>
                <a14:m>
                  <m:oMath xmlns:m="http://schemas.openxmlformats.org/officeDocument/2006/math">
                    <m:r>
                      <a:rPr lang="en-US" altLang="ja-JP" sz="2400" b="0" i="0" dirty="0" smtClean="0">
                        <a:latin typeface="Cambria Math"/>
                      </a:rPr>
                      <m:t> </m:t>
                    </m:r>
                    <m:r>
                      <a:rPr lang="en-US" altLang="ja-JP" sz="2400" i="1" dirty="0" smtClean="0">
                        <a:latin typeface="Cambria Math"/>
                      </a:rPr>
                      <m:t>𝑆</m:t>
                    </m:r>
                    <m:r>
                      <a:rPr lang="en-US" altLang="ja-JP" sz="2400" b="0" i="1" dirty="0" smtClean="0">
                        <a:latin typeface="Cambria Math"/>
                      </a:rPr>
                      <m:t>∪</m:t>
                    </m:r>
                    <m:d>
                      <m:dPr>
                        <m:begChr m:val="{"/>
                        <m:endChr m:val="}"/>
                        <m:ctrlPr>
                          <a:rPr lang="en-US" altLang="ja-JP" sz="2400" i="1" dirty="0" smtClean="0">
                            <a:latin typeface="Cambria Math"/>
                          </a:rPr>
                        </m:ctrlPr>
                      </m:dPr>
                      <m:e>
                        <m:r>
                          <a:rPr lang="en-US" altLang="ja-JP" sz="2400" i="1" dirty="0" smtClean="0">
                            <a:latin typeface="Cambria Math"/>
                          </a:rPr>
                          <m:t>𝑥</m:t>
                        </m:r>
                      </m:e>
                    </m:d>
                    <m:r>
                      <a:rPr lang="en-US" altLang="ja-JP" sz="2400" b="0" i="1" dirty="0" smtClean="0">
                        <a:latin typeface="Cambria Math"/>
                      </a:rPr>
                      <m:t> </m:t>
                    </m:r>
                  </m:oMath>
                </a14:m>
                <a:r>
                  <a:rPr lang="ja-JP" altLang="en-US" sz="2400" dirty="0" smtClean="0"/>
                  <a:t>に更新</a:t>
                </a:r>
              </a:p>
              <a:p>
                <a:pPr marL="446088" indent="-250825" eaLnBrk="1" hangingPunct="1">
                  <a:lnSpc>
                    <a:spcPct val="150000"/>
                  </a:lnSpc>
                  <a:buFontTx/>
                  <a:buAutoNum type="arabicPeriod"/>
                  <a:defRPr/>
                </a:pPr>
                <a:r>
                  <a:rPr lang="en-US" altLang="ja-JP" sz="2400" dirty="0" smtClean="0"/>
                  <a:t> </a:t>
                </a:r>
                <a:r>
                  <a:rPr lang="en-US" altLang="ja-JP" sz="2400" dirty="0">
                    <a:latin typeface="Consolas" panose="020B0609020204030204" pitchFamily="49" charset="0"/>
                    <a:cs typeface="Consolas" panose="020B0609020204030204" pitchFamily="49" charset="0"/>
                  </a:rPr>
                  <a:t>delete(</a:t>
                </a:r>
                <a14:m>
                  <m:oMath xmlns:m="http://schemas.openxmlformats.org/officeDocument/2006/math">
                    <m:r>
                      <a:rPr lang="en-US" altLang="ja-JP" sz="2400" i="1" dirty="0">
                        <a:latin typeface="Cambria Math"/>
                      </a:rPr>
                      <m:t>𝑥</m:t>
                    </m:r>
                  </m:oMath>
                </a14:m>
                <a:r>
                  <a:rPr lang="en-US" altLang="ja-JP" sz="2400" dirty="0" err="1">
                    <a:latin typeface="Consolas" panose="020B0609020204030204" pitchFamily="49" charset="0"/>
                    <a:cs typeface="Consolas" panose="020B0609020204030204" pitchFamily="49" charset="0"/>
                  </a:rPr>
                  <a:t>,</a:t>
                </a:r>
                <a14:m>
                  <m:oMath xmlns:m="http://schemas.openxmlformats.org/officeDocument/2006/math">
                    <m:r>
                      <a:rPr lang="en-US" altLang="ja-JP" sz="2400" i="1" dirty="0">
                        <a:latin typeface="Cambria Math"/>
                      </a:rPr>
                      <m:t>𝑆</m:t>
                    </m:r>
                  </m:oMath>
                </a14:m>
                <a:r>
                  <a:rPr lang="en-US" altLang="ja-JP" sz="2400" dirty="0" smtClean="0">
                    <a:latin typeface="Consolas" panose="020B0609020204030204" pitchFamily="49" charset="0"/>
                    <a:cs typeface="Consolas" panose="020B0609020204030204" pitchFamily="49" charset="0"/>
                  </a:rPr>
                  <a:t>)</a:t>
                </a:r>
                <a:r>
                  <a:rPr lang="en-US" altLang="ja-JP" sz="2400" dirty="0" smtClean="0"/>
                  <a:t>: </a:t>
                </a:r>
                <a14:m>
                  <m:oMath xmlns:m="http://schemas.openxmlformats.org/officeDocument/2006/math">
                    <m:r>
                      <a:rPr lang="en-US" altLang="ja-JP" sz="2400" i="1" dirty="0">
                        <a:latin typeface="Cambria Math"/>
                      </a:rPr>
                      <m:t>𝑆</m:t>
                    </m:r>
                    <m:r>
                      <a:rPr lang="en-US" altLang="ja-JP" sz="2400" b="0" i="1" dirty="0" smtClean="0">
                        <a:latin typeface="Cambria Math"/>
                      </a:rPr>
                      <m:t> </m:t>
                    </m:r>
                  </m:oMath>
                </a14:m>
                <a:r>
                  <a:rPr lang="ja-JP" altLang="en-US" sz="2400" dirty="0" smtClean="0"/>
                  <a:t>を</a:t>
                </a:r>
                <a14:m>
                  <m:oMath xmlns:m="http://schemas.openxmlformats.org/officeDocument/2006/math">
                    <m:r>
                      <a:rPr lang="en-US" altLang="ja-JP" sz="2400" b="0" i="0" dirty="0" smtClean="0">
                        <a:latin typeface="Cambria Math"/>
                      </a:rPr>
                      <m:t> </m:t>
                    </m:r>
                    <m:r>
                      <a:rPr lang="en-US" altLang="ja-JP" sz="2400" i="1" dirty="0" smtClean="0">
                        <a:latin typeface="Cambria Math"/>
                      </a:rPr>
                      <m:t>𝑆</m:t>
                    </m:r>
                    <m:r>
                      <a:rPr lang="en-US" altLang="ja-JP" sz="2400" b="0" i="1" dirty="0" smtClean="0">
                        <a:latin typeface="Cambria Math"/>
                      </a:rPr>
                      <m:t>−</m:t>
                    </m:r>
                    <m:d>
                      <m:dPr>
                        <m:begChr m:val="{"/>
                        <m:endChr m:val="}"/>
                        <m:ctrlPr>
                          <a:rPr lang="en-US" altLang="ja-JP" sz="2400" i="1" dirty="0" smtClean="0">
                            <a:latin typeface="Cambria Math"/>
                          </a:rPr>
                        </m:ctrlPr>
                      </m:dPr>
                      <m:e>
                        <m:r>
                          <a:rPr lang="en-US" altLang="ja-JP" sz="2400" i="1" dirty="0" smtClean="0">
                            <a:latin typeface="Cambria Math"/>
                          </a:rPr>
                          <m:t>𝑥</m:t>
                        </m:r>
                      </m:e>
                    </m:d>
                    <m:r>
                      <a:rPr lang="en-US" altLang="ja-JP" sz="2400" b="0" i="1" dirty="0" smtClean="0">
                        <a:latin typeface="Cambria Math"/>
                      </a:rPr>
                      <m:t> </m:t>
                    </m:r>
                  </m:oMath>
                </a14:m>
                <a:r>
                  <a:rPr lang="ja-JP" altLang="en-US" sz="2400" dirty="0" smtClean="0"/>
                  <a:t>に更新</a:t>
                </a:r>
              </a:p>
            </p:txBody>
          </p:sp>
        </mc:Choice>
        <mc:Fallback>
          <p:sp>
            <p:nvSpPr>
              <p:cNvPr id="5126" name="Text Box 88"/>
              <p:cNvSpPr txBox="1">
                <a:spLocks noRot="1" noChangeAspect="1" noMove="1" noResize="1" noEditPoints="1" noAdjustHandles="1" noChangeArrowheads="1" noChangeShapeType="1" noTextEdit="1"/>
              </p:cNvSpPr>
              <p:nvPr/>
            </p:nvSpPr>
            <p:spPr bwMode="auto">
              <a:xfrm>
                <a:off x="539552" y="1795463"/>
                <a:ext cx="8198013" cy="2308324"/>
              </a:xfrm>
              <a:prstGeom prst="rect">
                <a:avLst/>
              </a:prstGeom>
              <a:blipFill rotWithShape="1">
                <a:blip r:embed="rId2"/>
                <a:stretch>
                  <a:fillRect l="-1114" b="-2632"/>
                </a:stretch>
              </a:blip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ja-JP" altLang="en-US">
                    <a:noFill/>
                  </a:rPr>
                  <a:t> </a:t>
                </a:r>
              </a:p>
            </p:txBody>
          </p:sp>
        </mc:Fallback>
      </mc:AlternateContent>
      <p:sp>
        <p:nvSpPr>
          <p:cNvPr id="5128" name="Text Box 92"/>
          <p:cNvSpPr txBox="1">
            <a:spLocks noChangeArrowheads="1"/>
          </p:cNvSpPr>
          <p:nvPr/>
        </p:nvSpPr>
        <p:spPr bwMode="auto">
          <a:xfrm>
            <a:off x="547682" y="4581128"/>
            <a:ext cx="8048998" cy="1646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z="2400" dirty="0" smtClean="0"/>
              <a:t>今回は、</a:t>
            </a:r>
            <a:r>
              <a:rPr lang="ja-JP" altLang="en-US" sz="2400" dirty="0" smtClean="0"/>
              <a:t>辞書に</a:t>
            </a:r>
            <a:r>
              <a:rPr lang="ja-JP" altLang="en-US" sz="2400" dirty="0" smtClean="0"/>
              <a:t>適した下記のデータ</a:t>
            </a:r>
            <a:r>
              <a:rPr lang="ja-JP" altLang="en-US" sz="2400" dirty="0" smtClean="0"/>
              <a:t>構造について</a:t>
            </a:r>
            <a:r>
              <a:rPr lang="ja-JP" altLang="en-US" sz="2400" dirty="0" smtClean="0"/>
              <a:t>学びます！</a:t>
            </a:r>
            <a:endParaRPr lang="en-US" altLang="ja-JP" sz="2400" dirty="0" smtClean="0"/>
          </a:p>
          <a:p>
            <a:pPr marL="446088" indent="-266700" eaLnBrk="1" hangingPunct="1">
              <a:spcBef>
                <a:spcPts val="600"/>
              </a:spcBef>
              <a:buFont typeface="Arial" panose="020B0604020202020204" pitchFamily="34" charset="0"/>
              <a:buChar char="•"/>
              <a:defRPr/>
            </a:pPr>
            <a:r>
              <a:rPr lang="ja-JP" altLang="en-US" sz="2400" dirty="0" smtClean="0"/>
              <a:t>ソート済み配列</a:t>
            </a:r>
            <a:endParaRPr lang="en-US" altLang="ja-JP" sz="2400" dirty="0" smtClean="0"/>
          </a:p>
          <a:p>
            <a:pPr marL="446088" indent="-266700" eaLnBrk="1" hangingPunct="1">
              <a:buFont typeface="Arial" panose="020B0604020202020204" pitchFamily="34" charset="0"/>
              <a:buChar char="•"/>
              <a:defRPr/>
            </a:pPr>
            <a:r>
              <a:rPr lang="ja-JP" altLang="en-US" sz="2400" dirty="0"/>
              <a:t>２分探索木</a:t>
            </a:r>
            <a:endParaRPr lang="en-US" altLang="ja-JP" sz="2400" dirty="0" smtClean="0"/>
          </a:p>
          <a:p>
            <a:pPr marL="446088" indent="-266700" eaLnBrk="1" hangingPunct="1">
              <a:buFont typeface="Arial" panose="020B0604020202020204" pitchFamily="34" charset="0"/>
              <a:buChar char="•"/>
              <a:defRPr/>
            </a:pPr>
            <a:r>
              <a:rPr lang="ja-JP" altLang="en-US" sz="2400" dirty="0" smtClean="0"/>
              <a:t>平衡</a:t>
            </a:r>
            <a:r>
              <a:rPr lang="ja-JP" altLang="en-US" sz="2400" dirty="0"/>
              <a:t>探索</a:t>
            </a:r>
            <a:r>
              <a:rPr lang="ja-JP" altLang="en-US" sz="2400" dirty="0" smtClean="0"/>
              <a:t>木（</a:t>
            </a:r>
            <a:r>
              <a:rPr lang="en-US" altLang="ja-JP" sz="2400" dirty="0" smtClean="0"/>
              <a:t>AVL</a:t>
            </a:r>
            <a:r>
              <a:rPr lang="ja-JP" altLang="en-US" sz="2400" dirty="0" smtClean="0"/>
              <a:t>木，</a:t>
            </a:r>
            <a:r>
              <a:rPr lang="en-US" altLang="ja-JP" sz="2400" dirty="0"/>
              <a:t> 2</a:t>
            </a:r>
            <a:r>
              <a:rPr lang="ja-JP" altLang="en-US" sz="2400" dirty="0"/>
              <a:t>色</a:t>
            </a:r>
            <a:r>
              <a:rPr lang="ja-JP" altLang="en-US" sz="2400" dirty="0" smtClean="0"/>
              <a:t>木</a:t>
            </a:r>
            <a:r>
              <a:rPr lang="en-US" altLang="ja-JP" sz="2400" dirty="0" smtClean="0"/>
              <a:t>[</a:t>
            </a:r>
            <a:r>
              <a:rPr lang="ja-JP" altLang="en-US" sz="2400" dirty="0" smtClean="0"/>
              <a:t>赤黒木</a:t>
            </a:r>
            <a:r>
              <a:rPr lang="en-US" altLang="ja-JP" sz="2400" dirty="0" smtClean="0"/>
              <a:t>]</a:t>
            </a:r>
            <a:r>
              <a:rPr lang="ja-JP" altLang="en-US" sz="2400" dirty="0" err="1" smtClean="0"/>
              <a:t>，</a:t>
            </a:r>
            <a:r>
              <a:rPr lang="en-US" altLang="ja-JP" sz="2400" dirty="0" smtClean="0"/>
              <a:t>B</a:t>
            </a:r>
            <a:r>
              <a:rPr lang="ja-JP" altLang="en-US" sz="2400" dirty="0" smtClean="0"/>
              <a:t>木など）</a:t>
            </a:r>
            <a:endParaRPr lang="ja-JP" altLang="en-US" sz="24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スライド番号プレースホルダー 4"/>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fld id="{2912B48A-5BC1-41F5-BA7D-11E8B531ABAB}" type="slidenum">
              <a:rPr kumimoji="0" lang="en-US" altLang="ja-JP" sz="1200">
                <a:latin typeface="Arial Black" pitchFamily="34" charset="0"/>
              </a:rPr>
              <a:pPr/>
              <a:t>4</a:t>
            </a:fld>
            <a:endParaRPr kumimoji="0" lang="en-US" altLang="ja-JP" sz="1200">
              <a:latin typeface="Arial Black" pitchFamily="34" charset="0"/>
            </a:endParaRPr>
          </a:p>
        </p:txBody>
      </p:sp>
      <p:sp>
        <p:nvSpPr>
          <p:cNvPr id="6149" name="Rectangle 2"/>
          <p:cNvSpPr>
            <a:spLocks noGrp="1" noChangeArrowheads="1"/>
          </p:cNvSpPr>
          <p:nvPr>
            <p:ph type="title"/>
          </p:nvPr>
        </p:nvSpPr>
        <p:spPr>
          <a:xfrm>
            <a:off x="395288" y="198438"/>
            <a:ext cx="5832896" cy="863600"/>
          </a:xfrm>
        </p:spPr>
        <p:txBody>
          <a:bodyPr/>
          <a:lstStyle/>
          <a:p>
            <a:pPr eaLnBrk="1" hangingPunct="1">
              <a:defRPr/>
            </a:pPr>
            <a:r>
              <a:rPr lang="ja-JP" altLang="en-US" sz="3200" dirty="0" smtClean="0"/>
              <a:t>ソート済み配列</a:t>
            </a:r>
            <a:endParaRPr lang="ja-JP" altLang="en-US" sz="3200" dirty="0"/>
          </a:p>
        </p:txBody>
      </p:sp>
      <p:sp>
        <p:nvSpPr>
          <p:cNvPr id="6150" name="Text Box 217"/>
          <p:cNvSpPr txBox="1">
            <a:spLocks noChangeArrowheads="1"/>
          </p:cNvSpPr>
          <p:nvPr/>
        </p:nvSpPr>
        <p:spPr bwMode="auto">
          <a:xfrm>
            <a:off x="519113" y="1465263"/>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endParaRPr lang="ja-JP" sz="2000" smtClean="0"/>
          </a:p>
        </p:txBody>
      </p:sp>
      <p:sp>
        <p:nvSpPr>
          <p:cNvPr id="6151" name="Text Box 218"/>
          <p:cNvSpPr txBox="1">
            <a:spLocks noChangeArrowheads="1"/>
          </p:cNvSpPr>
          <p:nvPr/>
        </p:nvSpPr>
        <p:spPr bwMode="auto">
          <a:xfrm>
            <a:off x="250825" y="1081088"/>
            <a:ext cx="6265391" cy="218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r>
              <a:rPr lang="ja-JP" altLang="en-US" sz="2000" dirty="0" smtClean="0"/>
              <a:t>集合</a:t>
            </a:r>
            <a:r>
              <a:rPr lang="en-US" altLang="ja-JP" sz="2000" dirty="0" smtClean="0"/>
              <a:t>S</a:t>
            </a:r>
            <a:r>
              <a:rPr lang="ja-JP" altLang="en-US" sz="2000" dirty="0" smtClean="0"/>
              <a:t>は，全順序集合であると仮定する</a:t>
            </a:r>
            <a:endParaRPr lang="ja-JP" altLang="en-US" sz="2000" dirty="0"/>
          </a:p>
          <a:p>
            <a:endParaRPr lang="ja-JP" altLang="en-US" sz="800" dirty="0"/>
          </a:p>
          <a:p>
            <a:r>
              <a:rPr lang="en-US" altLang="ja-JP" sz="2000" dirty="0"/>
              <a:t>A[0],A[1],…,A[n-1]: </a:t>
            </a:r>
            <a:r>
              <a:rPr lang="ja-JP" altLang="en-US" sz="2000" dirty="0"/>
              <a:t>配列</a:t>
            </a:r>
            <a:r>
              <a:rPr lang="en-US" altLang="ja-JP" sz="2000" dirty="0"/>
              <a:t>A</a:t>
            </a:r>
            <a:r>
              <a:rPr lang="ja-JP" altLang="en-US" sz="2000" dirty="0"/>
              <a:t>に</a:t>
            </a:r>
            <a:r>
              <a:rPr lang="en-US" altLang="ja-JP" sz="2000" dirty="0"/>
              <a:t>S</a:t>
            </a:r>
            <a:r>
              <a:rPr lang="ja-JP" altLang="en-US" sz="2000" dirty="0"/>
              <a:t>の要素を小さい順に格納</a:t>
            </a:r>
          </a:p>
          <a:p>
            <a:endParaRPr lang="ja-JP" altLang="en-US" sz="800" b="1" dirty="0"/>
          </a:p>
          <a:p>
            <a:r>
              <a:rPr lang="en-US" altLang="ja-JP" sz="2000" dirty="0"/>
              <a:t>member(</a:t>
            </a:r>
            <a:r>
              <a:rPr lang="en-US" altLang="ja-JP" sz="2000" dirty="0" err="1"/>
              <a:t>x,S</a:t>
            </a:r>
            <a:r>
              <a:rPr lang="en-US" altLang="ja-JP" sz="2000" dirty="0"/>
              <a:t>) : </a:t>
            </a:r>
            <a:r>
              <a:rPr lang="ja-JP" altLang="en-US" sz="2000" b="1" dirty="0">
                <a:solidFill>
                  <a:srgbClr val="FF3300"/>
                </a:solidFill>
              </a:rPr>
              <a:t>２分探索</a:t>
            </a:r>
            <a:r>
              <a:rPr lang="en-US" altLang="ja-JP" sz="2000" b="1" dirty="0">
                <a:solidFill>
                  <a:srgbClr val="FF3300"/>
                </a:solidFill>
              </a:rPr>
              <a:t>(binary search)</a:t>
            </a:r>
            <a:r>
              <a:rPr lang="ja-JP" altLang="en-US" sz="2000" dirty="0"/>
              <a:t>が適用可能　</a:t>
            </a:r>
          </a:p>
          <a:p>
            <a:r>
              <a:rPr lang="ja-JP" altLang="en-US" sz="2000" dirty="0"/>
              <a:t>                       </a:t>
            </a:r>
            <a:r>
              <a:rPr lang="en-US" altLang="ja-JP" sz="2000" dirty="0"/>
              <a:t>(</a:t>
            </a:r>
            <a:r>
              <a:rPr lang="ja-JP" altLang="en-US" sz="2000" dirty="0"/>
              <a:t>最悪時間計算量</a:t>
            </a:r>
            <a:r>
              <a:rPr lang="en-US" altLang="ja-JP" sz="2000" b="1" dirty="0"/>
              <a:t>O(log n)</a:t>
            </a:r>
            <a:r>
              <a:rPr lang="en-US" altLang="ja-JP" sz="2000" dirty="0"/>
              <a:t>)</a:t>
            </a:r>
          </a:p>
          <a:p>
            <a:r>
              <a:rPr lang="en-US" altLang="ja-JP" sz="2000" dirty="0"/>
              <a:t>insert(</a:t>
            </a:r>
            <a:r>
              <a:rPr lang="en-US" altLang="ja-JP" sz="2000" dirty="0" err="1"/>
              <a:t>x,S</a:t>
            </a:r>
            <a:r>
              <a:rPr lang="en-US" altLang="ja-JP" sz="2000" dirty="0"/>
              <a:t>), delete(</a:t>
            </a:r>
            <a:r>
              <a:rPr lang="en-US" altLang="ja-JP" sz="2000" dirty="0" err="1"/>
              <a:t>x,S</a:t>
            </a:r>
            <a:r>
              <a:rPr lang="en-US" altLang="ja-JP" sz="2000" dirty="0"/>
              <a:t>) : </a:t>
            </a:r>
            <a:r>
              <a:rPr lang="ja-JP" altLang="en-US" sz="2000" dirty="0"/>
              <a:t>配列への挿入</a:t>
            </a:r>
            <a:r>
              <a:rPr lang="en-US" altLang="ja-JP" sz="2000" dirty="0"/>
              <a:t>,</a:t>
            </a:r>
            <a:r>
              <a:rPr lang="ja-JP" altLang="en-US" sz="2000" dirty="0"/>
              <a:t>削除操作を伴う  </a:t>
            </a:r>
          </a:p>
          <a:p>
            <a:r>
              <a:rPr lang="ja-JP" altLang="en-US" sz="2000" dirty="0"/>
              <a:t>                       （最悪時間計算量</a:t>
            </a:r>
            <a:r>
              <a:rPr lang="en-US" altLang="ja-JP" sz="2000" b="1" dirty="0"/>
              <a:t>O(n)</a:t>
            </a:r>
            <a:r>
              <a:rPr lang="en-US" altLang="ja-JP" sz="2000" dirty="0"/>
              <a:t>)</a:t>
            </a:r>
          </a:p>
        </p:txBody>
      </p:sp>
      <p:sp>
        <p:nvSpPr>
          <p:cNvPr id="6152" name="Text Box 219"/>
          <p:cNvSpPr txBox="1">
            <a:spLocks noChangeArrowheads="1"/>
          </p:cNvSpPr>
          <p:nvPr/>
        </p:nvSpPr>
        <p:spPr bwMode="auto">
          <a:xfrm>
            <a:off x="261938" y="3171825"/>
            <a:ext cx="5505450" cy="314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pPr>
              <a:lnSpc>
                <a:spcPct val="140000"/>
              </a:lnSpc>
            </a:pPr>
            <a:r>
              <a:rPr lang="en-US" altLang="ja-JP" sz="2000"/>
              <a:t>[</a:t>
            </a:r>
            <a:r>
              <a:rPr lang="ja-JP" altLang="en-US" sz="2000"/>
              <a:t>２分探索による</a:t>
            </a:r>
            <a:r>
              <a:rPr lang="en-US" altLang="ja-JP" sz="2000"/>
              <a:t>member(x,S)</a:t>
            </a:r>
            <a:r>
              <a:rPr lang="ja-JP" altLang="en-US" sz="2000"/>
              <a:t>操作</a:t>
            </a:r>
            <a:r>
              <a:rPr lang="en-US" altLang="ja-JP" sz="2000"/>
              <a:t>]</a:t>
            </a:r>
          </a:p>
          <a:p>
            <a:pPr>
              <a:lnSpc>
                <a:spcPct val="140000"/>
              </a:lnSpc>
            </a:pPr>
            <a:r>
              <a:rPr lang="en-US" altLang="ja-JP" sz="2000"/>
              <a:t>Step 1  left←0, right←n</a:t>
            </a:r>
          </a:p>
          <a:p>
            <a:pPr>
              <a:lnSpc>
                <a:spcPct val="140000"/>
              </a:lnSpc>
            </a:pPr>
            <a:r>
              <a:rPr lang="en-US" altLang="ja-JP" sz="2000"/>
              <a:t>Step 2  left≧right</a:t>
            </a:r>
            <a:r>
              <a:rPr lang="ja-JP" altLang="en-US" sz="2000"/>
              <a:t>であれば</a:t>
            </a:r>
            <a:r>
              <a:rPr lang="en-US" altLang="ja-JP" sz="2000"/>
              <a:t>no</a:t>
            </a:r>
            <a:r>
              <a:rPr lang="ja-JP" altLang="en-US" sz="2000"/>
              <a:t>を出力して停止</a:t>
            </a:r>
          </a:p>
          <a:p>
            <a:pPr>
              <a:lnSpc>
                <a:spcPct val="140000"/>
              </a:lnSpc>
            </a:pPr>
            <a:r>
              <a:rPr lang="en-US" altLang="ja-JP" sz="2000"/>
              <a:t>Step 3  mid←  (left+right)/2</a:t>
            </a:r>
          </a:p>
          <a:p>
            <a:pPr>
              <a:lnSpc>
                <a:spcPct val="140000"/>
              </a:lnSpc>
            </a:pPr>
            <a:r>
              <a:rPr lang="en-US" altLang="ja-JP" sz="2000"/>
              <a:t>Step 4  if x&lt;A[mid] then right←mid</a:t>
            </a:r>
          </a:p>
          <a:p>
            <a:r>
              <a:rPr lang="en-US" altLang="ja-JP" sz="2000"/>
              <a:t>             else if x=A[mid] then yes</a:t>
            </a:r>
            <a:r>
              <a:rPr lang="ja-JP" altLang="en-US" sz="2000"/>
              <a:t>を出力して停止</a:t>
            </a:r>
          </a:p>
          <a:p>
            <a:r>
              <a:rPr lang="ja-JP" altLang="en-US" sz="2000"/>
              <a:t>　　　　　 </a:t>
            </a:r>
            <a:r>
              <a:rPr lang="en-US" altLang="ja-JP" sz="2000"/>
              <a:t>else left←mid+1</a:t>
            </a:r>
          </a:p>
          <a:p>
            <a:r>
              <a:rPr lang="en-US" altLang="ja-JP" sz="2000"/>
              <a:t>             Step 2 </a:t>
            </a:r>
            <a:r>
              <a:rPr lang="ja-JP" altLang="en-US" sz="2000"/>
              <a:t>へ</a:t>
            </a:r>
          </a:p>
        </p:txBody>
      </p:sp>
      <p:grpSp>
        <p:nvGrpSpPr>
          <p:cNvPr id="19464" name="Group 222"/>
          <p:cNvGrpSpPr>
            <a:grpSpLocks/>
          </p:cNvGrpSpPr>
          <p:nvPr/>
        </p:nvGrpSpPr>
        <p:grpSpPr bwMode="auto">
          <a:xfrm>
            <a:off x="1979613" y="4710113"/>
            <a:ext cx="73025" cy="144462"/>
            <a:chOff x="793" y="3702"/>
            <a:chExt cx="46" cy="91"/>
          </a:xfrm>
        </p:grpSpPr>
        <p:sp>
          <p:nvSpPr>
            <p:cNvPr id="6249" name="Line 220"/>
            <p:cNvSpPr>
              <a:spLocks noChangeShapeType="1"/>
            </p:cNvSpPr>
            <p:nvPr/>
          </p:nvSpPr>
          <p:spPr bwMode="auto">
            <a:xfrm>
              <a:off x="793" y="3702"/>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6250" name="Line 221"/>
            <p:cNvSpPr>
              <a:spLocks noChangeShapeType="1"/>
            </p:cNvSpPr>
            <p:nvPr/>
          </p:nvSpPr>
          <p:spPr bwMode="auto">
            <a:xfrm>
              <a:off x="793" y="3793"/>
              <a:ext cx="4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grpSp>
        <p:nvGrpSpPr>
          <p:cNvPr id="19465" name="Group 223"/>
          <p:cNvGrpSpPr>
            <a:grpSpLocks/>
          </p:cNvGrpSpPr>
          <p:nvPr/>
        </p:nvGrpSpPr>
        <p:grpSpPr bwMode="auto">
          <a:xfrm flipH="1">
            <a:off x="3348038" y="4710113"/>
            <a:ext cx="73025" cy="144462"/>
            <a:chOff x="793" y="3702"/>
            <a:chExt cx="46" cy="91"/>
          </a:xfrm>
        </p:grpSpPr>
        <p:sp>
          <p:nvSpPr>
            <p:cNvPr id="6247" name="Line 224"/>
            <p:cNvSpPr>
              <a:spLocks noChangeShapeType="1"/>
            </p:cNvSpPr>
            <p:nvPr/>
          </p:nvSpPr>
          <p:spPr bwMode="auto">
            <a:xfrm>
              <a:off x="793" y="3702"/>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6248" name="Line 225"/>
            <p:cNvSpPr>
              <a:spLocks noChangeShapeType="1"/>
            </p:cNvSpPr>
            <p:nvPr/>
          </p:nvSpPr>
          <p:spPr bwMode="auto">
            <a:xfrm>
              <a:off x="793" y="3793"/>
              <a:ext cx="4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sp>
        <p:nvSpPr>
          <p:cNvPr id="6155" name="AutoShape 226"/>
          <p:cNvSpPr>
            <a:spLocks noChangeArrowheads="1"/>
          </p:cNvSpPr>
          <p:nvPr/>
        </p:nvSpPr>
        <p:spPr bwMode="auto">
          <a:xfrm>
            <a:off x="250825" y="3702050"/>
            <a:ext cx="5545138" cy="360363"/>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6156" name="AutoShape 227"/>
          <p:cNvSpPr>
            <a:spLocks noChangeArrowheads="1"/>
          </p:cNvSpPr>
          <p:nvPr/>
        </p:nvSpPr>
        <p:spPr bwMode="auto">
          <a:xfrm>
            <a:off x="250825" y="4135438"/>
            <a:ext cx="5545138" cy="360362"/>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6157" name="AutoShape 228"/>
          <p:cNvSpPr>
            <a:spLocks noChangeArrowheads="1"/>
          </p:cNvSpPr>
          <p:nvPr/>
        </p:nvSpPr>
        <p:spPr bwMode="auto">
          <a:xfrm>
            <a:off x="250825" y="4568825"/>
            <a:ext cx="5545138" cy="360363"/>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6158" name="AutoShape 229"/>
          <p:cNvSpPr>
            <a:spLocks noChangeArrowheads="1"/>
          </p:cNvSpPr>
          <p:nvPr/>
        </p:nvSpPr>
        <p:spPr bwMode="auto">
          <a:xfrm>
            <a:off x="250825" y="5002213"/>
            <a:ext cx="5545138" cy="136525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6160" name="Text Box 242"/>
          <p:cNvSpPr txBox="1">
            <a:spLocks noChangeArrowheads="1"/>
          </p:cNvSpPr>
          <p:nvPr/>
        </p:nvSpPr>
        <p:spPr bwMode="auto">
          <a:xfrm>
            <a:off x="6568271" y="489670"/>
            <a:ext cx="22236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dirty="0" smtClean="0"/>
              <a:t>member(8,S)</a:t>
            </a:r>
            <a:r>
              <a:rPr lang="ja-JP" altLang="en-US" dirty="0" smtClean="0"/>
              <a:t>の処理</a:t>
            </a:r>
            <a:endParaRPr lang="en-US" altLang="ja-JP" dirty="0" smtClean="0"/>
          </a:p>
        </p:txBody>
      </p:sp>
      <p:sp>
        <p:nvSpPr>
          <p:cNvPr id="6162" name="Text Box 245"/>
          <p:cNvSpPr txBox="1">
            <a:spLocks noChangeArrowheads="1"/>
          </p:cNvSpPr>
          <p:nvPr/>
        </p:nvSpPr>
        <p:spPr bwMode="auto">
          <a:xfrm>
            <a:off x="6372200" y="838827"/>
            <a:ext cx="4556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600" dirty="0" smtClean="0">
                <a:solidFill>
                  <a:srgbClr val="FF3300"/>
                </a:solidFill>
              </a:rPr>
              <a:t>left</a:t>
            </a:r>
          </a:p>
        </p:txBody>
      </p:sp>
      <p:sp>
        <p:nvSpPr>
          <p:cNvPr id="6164" name="Text Box 247"/>
          <p:cNvSpPr txBox="1">
            <a:spLocks noChangeArrowheads="1"/>
          </p:cNvSpPr>
          <p:nvPr/>
        </p:nvSpPr>
        <p:spPr bwMode="auto">
          <a:xfrm>
            <a:off x="8467700" y="795964"/>
            <a:ext cx="5794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600" smtClean="0">
                <a:solidFill>
                  <a:schemeClr val="bg2"/>
                </a:solidFill>
              </a:rPr>
              <a:t>right</a:t>
            </a:r>
          </a:p>
        </p:txBody>
      </p:sp>
      <p:grpSp>
        <p:nvGrpSpPr>
          <p:cNvPr id="19470" name="Group 230"/>
          <p:cNvGrpSpPr>
            <a:grpSpLocks/>
          </p:cNvGrpSpPr>
          <p:nvPr/>
        </p:nvGrpSpPr>
        <p:grpSpPr bwMode="auto">
          <a:xfrm>
            <a:off x="6561138" y="1254125"/>
            <a:ext cx="2189162" cy="252413"/>
            <a:chOff x="1536" y="624"/>
            <a:chExt cx="2400" cy="144"/>
          </a:xfrm>
          <a:solidFill>
            <a:schemeClr val="bg1">
              <a:lumMod val="95000"/>
            </a:schemeClr>
          </a:solidFill>
        </p:grpSpPr>
        <p:sp>
          <p:nvSpPr>
            <p:cNvPr id="6237" name="Rectangle 231"/>
            <p:cNvSpPr>
              <a:spLocks noChangeArrowheads="1"/>
            </p:cNvSpPr>
            <p:nvPr/>
          </p:nvSpPr>
          <p:spPr bwMode="auto">
            <a:xfrm>
              <a:off x="1536"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a:t>
              </a:r>
            </a:p>
          </p:txBody>
        </p:sp>
        <p:sp>
          <p:nvSpPr>
            <p:cNvPr id="6238" name="Rectangle 232"/>
            <p:cNvSpPr>
              <a:spLocks noChangeArrowheads="1"/>
            </p:cNvSpPr>
            <p:nvPr/>
          </p:nvSpPr>
          <p:spPr bwMode="auto">
            <a:xfrm>
              <a:off x="1776"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3</a:t>
              </a:r>
            </a:p>
          </p:txBody>
        </p:sp>
        <p:sp>
          <p:nvSpPr>
            <p:cNvPr id="6239" name="Rectangle 233"/>
            <p:cNvSpPr>
              <a:spLocks noChangeArrowheads="1"/>
            </p:cNvSpPr>
            <p:nvPr/>
          </p:nvSpPr>
          <p:spPr bwMode="auto">
            <a:xfrm>
              <a:off x="2016"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5</a:t>
              </a:r>
            </a:p>
          </p:txBody>
        </p:sp>
        <p:sp>
          <p:nvSpPr>
            <p:cNvPr id="6240" name="Rectangle 234"/>
            <p:cNvSpPr>
              <a:spLocks noChangeArrowheads="1"/>
            </p:cNvSpPr>
            <p:nvPr/>
          </p:nvSpPr>
          <p:spPr bwMode="auto">
            <a:xfrm>
              <a:off x="2257"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7</a:t>
              </a:r>
            </a:p>
          </p:txBody>
        </p:sp>
        <p:sp>
          <p:nvSpPr>
            <p:cNvPr id="6241" name="Rectangle 235"/>
            <p:cNvSpPr>
              <a:spLocks noChangeArrowheads="1"/>
            </p:cNvSpPr>
            <p:nvPr/>
          </p:nvSpPr>
          <p:spPr bwMode="auto">
            <a:xfrm>
              <a:off x="2497"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9</a:t>
              </a:r>
            </a:p>
          </p:txBody>
        </p:sp>
        <p:sp>
          <p:nvSpPr>
            <p:cNvPr id="6242" name="Rectangle 236"/>
            <p:cNvSpPr>
              <a:spLocks noChangeArrowheads="1"/>
            </p:cNvSpPr>
            <p:nvPr/>
          </p:nvSpPr>
          <p:spPr bwMode="auto">
            <a:xfrm>
              <a:off x="2737" y="624"/>
              <a:ext cx="238" cy="144"/>
            </a:xfrm>
            <a:prstGeom prst="rect">
              <a:avLst/>
            </a:prstGeom>
            <a:solidFill>
              <a:schemeClr val="bg1">
                <a:lumMod val="75000"/>
              </a:schemeClr>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dirty="0">
                  <a:latin typeface="Times New Roman" charset="0"/>
                  <a:ea typeface="ＭＳ Ｐゴシック" charset="0"/>
                  <a:cs typeface="ＭＳ Ｐゴシック" charset="0"/>
                </a:rPr>
                <a:t>10</a:t>
              </a:r>
            </a:p>
          </p:txBody>
        </p:sp>
        <p:sp>
          <p:nvSpPr>
            <p:cNvPr id="6243" name="Rectangle 237"/>
            <p:cNvSpPr>
              <a:spLocks noChangeArrowheads="1"/>
            </p:cNvSpPr>
            <p:nvPr/>
          </p:nvSpPr>
          <p:spPr bwMode="auto">
            <a:xfrm>
              <a:off x="2975"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12</a:t>
              </a:r>
            </a:p>
          </p:txBody>
        </p:sp>
        <p:sp>
          <p:nvSpPr>
            <p:cNvPr id="6244" name="Rectangle 238"/>
            <p:cNvSpPr>
              <a:spLocks noChangeArrowheads="1"/>
            </p:cNvSpPr>
            <p:nvPr/>
          </p:nvSpPr>
          <p:spPr bwMode="auto">
            <a:xfrm>
              <a:off x="3215"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14</a:t>
              </a:r>
            </a:p>
          </p:txBody>
        </p:sp>
        <p:sp>
          <p:nvSpPr>
            <p:cNvPr id="6245" name="Rectangle 239"/>
            <p:cNvSpPr>
              <a:spLocks noChangeArrowheads="1"/>
            </p:cNvSpPr>
            <p:nvPr/>
          </p:nvSpPr>
          <p:spPr bwMode="auto">
            <a:xfrm>
              <a:off x="3456"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16</a:t>
              </a:r>
            </a:p>
          </p:txBody>
        </p:sp>
        <p:sp>
          <p:nvSpPr>
            <p:cNvPr id="6246" name="Rectangle 240"/>
            <p:cNvSpPr>
              <a:spLocks noChangeArrowheads="1"/>
            </p:cNvSpPr>
            <p:nvPr/>
          </p:nvSpPr>
          <p:spPr bwMode="auto">
            <a:xfrm>
              <a:off x="3696"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dirty="0">
                  <a:latin typeface="Times New Roman" charset="0"/>
                  <a:ea typeface="ＭＳ Ｐゴシック" charset="0"/>
                  <a:cs typeface="ＭＳ Ｐゴシック" charset="0"/>
                </a:rPr>
                <a:t>18</a:t>
              </a:r>
            </a:p>
          </p:txBody>
        </p:sp>
      </p:grpSp>
      <p:sp>
        <p:nvSpPr>
          <p:cNvPr id="6161" name="AutoShape 244"/>
          <p:cNvSpPr>
            <a:spLocks noChangeArrowheads="1"/>
          </p:cNvSpPr>
          <p:nvPr/>
        </p:nvSpPr>
        <p:spPr bwMode="auto">
          <a:xfrm>
            <a:off x="6561138" y="1127125"/>
            <a:ext cx="127000" cy="127000"/>
          </a:xfrm>
          <a:prstGeom prst="down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pPr>
              <a:defRPr/>
            </a:pPr>
            <a:endParaRPr lang="ja-JP" altLang="en-US">
              <a:latin typeface="Arial" charset="0"/>
              <a:ea typeface="ＭＳ Ｐゴシック" charset="0"/>
              <a:cs typeface="ＭＳ Ｐゴシック" charset="0"/>
            </a:endParaRPr>
          </a:p>
        </p:txBody>
      </p:sp>
      <p:sp>
        <p:nvSpPr>
          <p:cNvPr id="6163" name="AutoShape 246"/>
          <p:cNvSpPr>
            <a:spLocks noChangeArrowheads="1"/>
          </p:cNvSpPr>
          <p:nvPr/>
        </p:nvSpPr>
        <p:spPr bwMode="auto">
          <a:xfrm>
            <a:off x="8772525" y="1127125"/>
            <a:ext cx="127000" cy="127000"/>
          </a:xfrm>
          <a:prstGeom prst="downArrow">
            <a:avLst>
              <a:gd name="adj1" fmla="val 50000"/>
              <a:gd name="adj2" fmla="val 25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pPr>
              <a:defRPr/>
            </a:pPr>
            <a:endParaRPr lang="ja-JP" altLang="en-US">
              <a:latin typeface="Arial" charset="0"/>
              <a:ea typeface="ＭＳ Ｐゴシック" charset="0"/>
              <a:cs typeface="ＭＳ Ｐゴシック" charset="0"/>
            </a:endParaRPr>
          </a:p>
        </p:txBody>
      </p:sp>
      <p:sp>
        <p:nvSpPr>
          <p:cNvPr id="6165" name="AutoShape 249"/>
          <p:cNvSpPr>
            <a:spLocks noChangeArrowheads="1"/>
          </p:cNvSpPr>
          <p:nvPr/>
        </p:nvSpPr>
        <p:spPr bwMode="auto">
          <a:xfrm>
            <a:off x="7700963" y="1127125"/>
            <a:ext cx="127000" cy="127000"/>
          </a:xfrm>
          <a:prstGeom prst="downArrow">
            <a:avLst>
              <a:gd name="adj1" fmla="val 50000"/>
              <a:gd name="adj2" fmla="val 25000"/>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pPr>
              <a:defRPr/>
            </a:pPr>
            <a:endParaRPr lang="ja-JP" altLang="en-US">
              <a:latin typeface="Arial" charset="0"/>
              <a:ea typeface="ＭＳ Ｐゴシック" charset="0"/>
              <a:cs typeface="ＭＳ Ｐゴシック" charset="0"/>
            </a:endParaRPr>
          </a:p>
        </p:txBody>
      </p:sp>
      <p:sp>
        <p:nvSpPr>
          <p:cNvPr id="6166" name="Text Box 250"/>
          <p:cNvSpPr txBox="1">
            <a:spLocks noChangeArrowheads="1"/>
          </p:cNvSpPr>
          <p:nvPr/>
        </p:nvSpPr>
        <p:spPr bwMode="auto">
          <a:xfrm>
            <a:off x="7446937" y="838827"/>
            <a:ext cx="5111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600" smtClean="0">
                <a:solidFill>
                  <a:srgbClr val="008000"/>
                </a:solidFill>
              </a:rPr>
              <a:t>mid</a:t>
            </a:r>
          </a:p>
        </p:txBody>
      </p:sp>
      <p:grpSp>
        <p:nvGrpSpPr>
          <p:cNvPr id="19478" name="Group 251"/>
          <p:cNvGrpSpPr>
            <a:grpSpLocks/>
          </p:cNvGrpSpPr>
          <p:nvPr/>
        </p:nvGrpSpPr>
        <p:grpSpPr bwMode="auto">
          <a:xfrm>
            <a:off x="6561138" y="1835151"/>
            <a:ext cx="2189162" cy="252412"/>
            <a:chOff x="1536" y="624"/>
            <a:chExt cx="2400" cy="144"/>
          </a:xfrm>
          <a:solidFill>
            <a:schemeClr val="bg1">
              <a:lumMod val="95000"/>
            </a:schemeClr>
          </a:solidFill>
        </p:grpSpPr>
        <p:sp>
          <p:nvSpPr>
            <p:cNvPr id="6227" name="Rectangle 252"/>
            <p:cNvSpPr>
              <a:spLocks noChangeArrowheads="1"/>
            </p:cNvSpPr>
            <p:nvPr/>
          </p:nvSpPr>
          <p:spPr bwMode="auto">
            <a:xfrm>
              <a:off x="1536"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a:t>
              </a:r>
            </a:p>
          </p:txBody>
        </p:sp>
        <p:sp>
          <p:nvSpPr>
            <p:cNvPr id="6228" name="Rectangle 253"/>
            <p:cNvSpPr>
              <a:spLocks noChangeArrowheads="1"/>
            </p:cNvSpPr>
            <p:nvPr/>
          </p:nvSpPr>
          <p:spPr bwMode="auto">
            <a:xfrm>
              <a:off x="1776"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3</a:t>
              </a:r>
            </a:p>
          </p:txBody>
        </p:sp>
        <p:sp>
          <p:nvSpPr>
            <p:cNvPr id="6229" name="Rectangle 254"/>
            <p:cNvSpPr>
              <a:spLocks noChangeArrowheads="1"/>
            </p:cNvSpPr>
            <p:nvPr/>
          </p:nvSpPr>
          <p:spPr bwMode="auto">
            <a:xfrm>
              <a:off x="2016" y="624"/>
              <a:ext cx="240" cy="144"/>
            </a:xfrm>
            <a:prstGeom prst="rect">
              <a:avLst/>
            </a:prstGeom>
            <a:solidFill>
              <a:schemeClr val="bg1">
                <a:lumMod val="75000"/>
              </a:schemeClr>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dirty="0">
                  <a:latin typeface="Times New Roman" charset="0"/>
                  <a:ea typeface="ＭＳ Ｐゴシック" charset="0"/>
                  <a:cs typeface="ＭＳ Ｐゴシック" charset="0"/>
                </a:rPr>
                <a:t>5</a:t>
              </a:r>
            </a:p>
          </p:txBody>
        </p:sp>
        <p:sp>
          <p:nvSpPr>
            <p:cNvPr id="6230" name="Rectangle 255"/>
            <p:cNvSpPr>
              <a:spLocks noChangeArrowheads="1"/>
            </p:cNvSpPr>
            <p:nvPr/>
          </p:nvSpPr>
          <p:spPr bwMode="auto">
            <a:xfrm>
              <a:off x="2257"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7</a:t>
              </a:r>
            </a:p>
          </p:txBody>
        </p:sp>
        <p:sp>
          <p:nvSpPr>
            <p:cNvPr id="6231" name="Rectangle 256"/>
            <p:cNvSpPr>
              <a:spLocks noChangeArrowheads="1"/>
            </p:cNvSpPr>
            <p:nvPr/>
          </p:nvSpPr>
          <p:spPr bwMode="auto">
            <a:xfrm>
              <a:off x="2497"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9</a:t>
              </a:r>
            </a:p>
          </p:txBody>
        </p:sp>
        <p:sp>
          <p:nvSpPr>
            <p:cNvPr id="6232" name="Rectangle 257"/>
            <p:cNvSpPr>
              <a:spLocks noChangeArrowheads="1"/>
            </p:cNvSpPr>
            <p:nvPr/>
          </p:nvSpPr>
          <p:spPr bwMode="auto">
            <a:xfrm>
              <a:off x="2737" y="624"/>
              <a:ext cx="238"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dirty="0">
                  <a:latin typeface="Times New Roman" charset="0"/>
                  <a:ea typeface="ＭＳ Ｐゴシック" charset="0"/>
                  <a:cs typeface="ＭＳ Ｐゴシック" charset="0"/>
                </a:rPr>
                <a:t>10</a:t>
              </a:r>
            </a:p>
          </p:txBody>
        </p:sp>
        <p:sp>
          <p:nvSpPr>
            <p:cNvPr id="6233" name="Rectangle 258"/>
            <p:cNvSpPr>
              <a:spLocks noChangeArrowheads="1"/>
            </p:cNvSpPr>
            <p:nvPr/>
          </p:nvSpPr>
          <p:spPr bwMode="auto">
            <a:xfrm>
              <a:off x="2975" y="624"/>
              <a:ext cx="240"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12</a:t>
              </a:r>
            </a:p>
          </p:txBody>
        </p:sp>
        <p:sp>
          <p:nvSpPr>
            <p:cNvPr id="6234" name="Rectangle 259"/>
            <p:cNvSpPr>
              <a:spLocks noChangeArrowheads="1"/>
            </p:cNvSpPr>
            <p:nvPr/>
          </p:nvSpPr>
          <p:spPr bwMode="auto">
            <a:xfrm>
              <a:off x="3215" y="624"/>
              <a:ext cx="240"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14</a:t>
              </a:r>
            </a:p>
          </p:txBody>
        </p:sp>
        <p:sp>
          <p:nvSpPr>
            <p:cNvPr id="6235" name="Rectangle 260"/>
            <p:cNvSpPr>
              <a:spLocks noChangeArrowheads="1"/>
            </p:cNvSpPr>
            <p:nvPr/>
          </p:nvSpPr>
          <p:spPr bwMode="auto">
            <a:xfrm>
              <a:off x="3456" y="624"/>
              <a:ext cx="240"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16</a:t>
              </a:r>
            </a:p>
          </p:txBody>
        </p:sp>
        <p:sp>
          <p:nvSpPr>
            <p:cNvPr id="6236" name="Rectangle 261"/>
            <p:cNvSpPr>
              <a:spLocks noChangeArrowheads="1"/>
            </p:cNvSpPr>
            <p:nvPr/>
          </p:nvSpPr>
          <p:spPr bwMode="auto">
            <a:xfrm>
              <a:off x="3696" y="624"/>
              <a:ext cx="240"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18</a:t>
              </a:r>
            </a:p>
          </p:txBody>
        </p:sp>
      </p:grpSp>
      <p:sp>
        <p:nvSpPr>
          <p:cNvPr id="6168" name="AutoShape 262"/>
          <p:cNvSpPr>
            <a:spLocks noChangeArrowheads="1"/>
          </p:cNvSpPr>
          <p:nvPr/>
        </p:nvSpPr>
        <p:spPr bwMode="auto">
          <a:xfrm>
            <a:off x="6561138" y="1708151"/>
            <a:ext cx="127000" cy="127000"/>
          </a:xfrm>
          <a:prstGeom prst="down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pPr>
              <a:defRPr/>
            </a:pPr>
            <a:endParaRPr lang="ja-JP" altLang="en-US">
              <a:latin typeface="Arial" charset="0"/>
              <a:ea typeface="ＭＳ Ｐゴシック" charset="0"/>
              <a:cs typeface="ＭＳ Ｐゴシック" charset="0"/>
            </a:endParaRPr>
          </a:p>
        </p:txBody>
      </p:sp>
      <p:sp>
        <p:nvSpPr>
          <p:cNvPr id="6170" name="AutoShape 264"/>
          <p:cNvSpPr>
            <a:spLocks noChangeArrowheads="1"/>
          </p:cNvSpPr>
          <p:nvPr/>
        </p:nvSpPr>
        <p:spPr bwMode="auto">
          <a:xfrm>
            <a:off x="7697788" y="1708151"/>
            <a:ext cx="127000" cy="127000"/>
          </a:xfrm>
          <a:prstGeom prst="downArrow">
            <a:avLst>
              <a:gd name="adj1" fmla="val 50000"/>
              <a:gd name="adj2" fmla="val 25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pPr>
              <a:defRPr/>
            </a:pPr>
            <a:endParaRPr lang="ja-JP" altLang="en-US">
              <a:latin typeface="Arial" charset="0"/>
              <a:ea typeface="ＭＳ Ｐゴシック" charset="0"/>
              <a:cs typeface="ＭＳ Ｐゴシック" charset="0"/>
            </a:endParaRPr>
          </a:p>
        </p:txBody>
      </p:sp>
      <p:sp>
        <p:nvSpPr>
          <p:cNvPr id="6172" name="AutoShape 268"/>
          <p:cNvSpPr>
            <a:spLocks noChangeArrowheads="1"/>
          </p:cNvSpPr>
          <p:nvPr/>
        </p:nvSpPr>
        <p:spPr bwMode="auto">
          <a:xfrm>
            <a:off x="7005638" y="1706563"/>
            <a:ext cx="127000" cy="127000"/>
          </a:xfrm>
          <a:prstGeom prst="downArrow">
            <a:avLst>
              <a:gd name="adj1" fmla="val 50000"/>
              <a:gd name="adj2" fmla="val 25000"/>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pPr>
              <a:defRPr/>
            </a:pPr>
            <a:endParaRPr lang="ja-JP" altLang="en-US">
              <a:latin typeface="Arial" charset="0"/>
              <a:ea typeface="ＭＳ Ｐゴシック" charset="0"/>
              <a:cs typeface="ＭＳ Ｐゴシック" charset="0"/>
            </a:endParaRPr>
          </a:p>
        </p:txBody>
      </p:sp>
      <p:grpSp>
        <p:nvGrpSpPr>
          <p:cNvPr id="19485" name="Group 270"/>
          <p:cNvGrpSpPr>
            <a:grpSpLocks/>
          </p:cNvGrpSpPr>
          <p:nvPr/>
        </p:nvGrpSpPr>
        <p:grpSpPr bwMode="auto">
          <a:xfrm>
            <a:off x="6561138" y="2416176"/>
            <a:ext cx="2189162" cy="252412"/>
            <a:chOff x="1536" y="624"/>
            <a:chExt cx="2400" cy="144"/>
          </a:xfrm>
          <a:solidFill>
            <a:schemeClr val="bg1">
              <a:lumMod val="95000"/>
            </a:schemeClr>
          </a:solidFill>
        </p:grpSpPr>
        <p:sp>
          <p:nvSpPr>
            <p:cNvPr id="6217" name="Rectangle 271"/>
            <p:cNvSpPr>
              <a:spLocks noChangeArrowheads="1"/>
            </p:cNvSpPr>
            <p:nvPr/>
          </p:nvSpPr>
          <p:spPr bwMode="auto">
            <a:xfrm>
              <a:off x="1536" y="624"/>
              <a:ext cx="240"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a:t>
              </a:r>
            </a:p>
          </p:txBody>
        </p:sp>
        <p:sp>
          <p:nvSpPr>
            <p:cNvPr id="6218" name="Rectangle 272"/>
            <p:cNvSpPr>
              <a:spLocks noChangeArrowheads="1"/>
            </p:cNvSpPr>
            <p:nvPr/>
          </p:nvSpPr>
          <p:spPr bwMode="auto">
            <a:xfrm>
              <a:off x="1776" y="624"/>
              <a:ext cx="240"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3</a:t>
              </a:r>
            </a:p>
          </p:txBody>
        </p:sp>
        <p:sp>
          <p:nvSpPr>
            <p:cNvPr id="6219" name="Rectangle 273"/>
            <p:cNvSpPr>
              <a:spLocks noChangeArrowheads="1"/>
            </p:cNvSpPr>
            <p:nvPr/>
          </p:nvSpPr>
          <p:spPr bwMode="auto">
            <a:xfrm>
              <a:off x="2016" y="624"/>
              <a:ext cx="240"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dirty="0">
                  <a:latin typeface="Times New Roman" charset="0"/>
                  <a:ea typeface="ＭＳ Ｐゴシック" charset="0"/>
                  <a:cs typeface="ＭＳ Ｐゴシック" charset="0"/>
                </a:rPr>
                <a:t>5</a:t>
              </a:r>
            </a:p>
          </p:txBody>
        </p:sp>
        <p:sp>
          <p:nvSpPr>
            <p:cNvPr id="6220" name="Rectangle 274"/>
            <p:cNvSpPr>
              <a:spLocks noChangeArrowheads="1"/>
            </p:cNvSpPr>
            <p:nvPr/>
          </p:nvSpPr>
          <p:spPr bwMode="auto">
            <a:xfrm>
              <a:off x="2257"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7</a:t>
              </a:r>
            </a:p>
          </p:txBody>
        </p:sp>
        <p:sp>
          <p:nvSpPr>
            <p:cNvPr id="6221" name="Rectangle 275"/>
            <p:cNvSpPr>
              <a:spLocks noChangeArrowheads="1"/>
            </p:cNvSpPr>
            <p:nvPr/>
          </p:nvSpPr>
          <p:spPr bwMode="auto">
            <a:xfrm>
              <a:off x="2497" y="624"/>
              <a:ext cx="240" cy="144"/>
            </a:xfrm>
            <a:prstGeom prst="rect">
              <a:avLst/>
            </a:prstGeom>
            <a:solidFill>
              <a:schemeClr val="bg1">
                <a:lumMod val="75000"/>
              </a:schemeClr>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dirty="0">
                  <a:latin typeface="Times New Roman" charset="0"/>
                  <a:ea typeface="ＭＳ Ｐゴシック" charset="0"/>
                  <a:cs typeface="ＭＳ Ｐゴシック" charset="0"/>
                </a:rPr>
                <a:t>9</a:t>
              </a:r>
            </a:p>
          </p:txBody>
        </p:sp>
        <p:sp>
          <p:nvSpPr>
            <p:cNvPr id="6222" name="Rectangle 276"/>
            <p:cNvSpPr>
              <a:spLocks noChangeArrowheads="1"/>
            </p:cNvSpPr>
            <p:nvPr/>
          </p:nvSpPr>
          <p:spPr bwMode="auto">
            <a:xfrm>
              <a:off x="2737" y="624"/>
              <a:ext cx="238"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dirty="0">
                  <a:latin typeface="Times New Roman" charset="0"/>
                  <a:ea typeface="ＭＳ Ｐゴシック" charset="0"/>
                  <a:cs typeface="ＭＳ Ｐゴシック" charset="0"/>
                </a:rPr>
                <a:t>10</a:t>
              </a:r>
            </a:p>
          </p:txBody>
        </p:sp>
        <p:sp>
          <p:nvSpPr>
            <p:cNvPr id="6223" name="Rectangle 277"/>
            <p:cNvSpPr>
              <a:spLocks noChangeArrowheads="1"/>
            </p:cNvSpPr>
            <p:nvPr/>
          </p:nvSpPr>
          <p:spPr bwMode="auto">
            <a:xfrm>
              <a:off x="2975" y="624"/>
              <a:ext cx="240"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12</a:t>
              </a:r>
            </a:p>
          </p:txBody>
        </p:sp>
        <p:sp>
          <p:nvSpPr>
            <p:cNvPr id="6224" name="Rectangle 278"/>
            <p:cNvSpPr>
              <a:spLocks noChangeArrowheads="1"/>
            </p:cNvSpPr>
            <p:nvPr/>
          </p:nvSpPr>
          <p:spPr bwMode="auto">
            <a:xfrm>
              <a:off x="3215" y="624"/>
              <a:ext cx="240"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14</a:t>
              </a:r>
            </a:p>
          </p:txBody>
        </p:sp>
        <p:sp>
          <p:nvSpPr>
            <p:cNvPr id="6225" name="Rectangle 279"/>
            <p:cNvSpPr>
              <a:spLocks noChangeArrowheads="1"/>
            </p:cNvSpPr>
            <p:nvPr/>
          </p:nvSpPr>
          <p:spPr bwMode="auto">
            <a:xfrm>
              <a:off x="3456" y="624"/>
              <a:ext cx="240"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16</a:t>
              </a:r>
            </a:p>
          </p:txBody>
        </p:sp>
        <p:sp>
          <p:nvSpPr>
            <p:cNvPr id="6226" name="Rectangle 280"/>
            <p:cNvSpPr>
              <a:spLocks noChangeArrowheads="1"/>
            </p:cNvSpPr>
            <p:nvPr/>
          </p:nvSpPr>
          <p:spPr bwMode="auto">
            <a:xfrm>
              <a:off x="3696" y="624"/>
              <a:ext cx="240"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18</a:t>
              </a:r>
            </a:p>
          </p:txBody>
        </p:sp>
      </p:grpSp>
      <p:sp>
        <p:nvSpPr>
          <p:cNvPr id="6175" name="AutoShape 281"/>
          <p:cNvSpPr>
            <a:spLocks noChangeArrowheads="1"/>
          </p:cNvSpPr>
          <p:nvPr/>
        </p:nvSpPr>
        <p:spPr bwMode="auto">
          <a:xfrm>
            <a:off x="7280473" y="2289176"/>
            <a:ext cx="127000" cy="127000"/>
          </a:xfrm>
          <a:prstGeom prst="down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pPr>
              <a:defRPr/>
            </a:pPr>
            <a:endParaRPr lang="ja-JP" altLang="en-US">
              <a:latin typeface="Arial" charset="0"/>
              <a:ea typeface="ＭＳ Ｐゴシック" charset="0"/>
              <a:cs typeface="ＭＳ Ｐゴシック" charset="0"/>
            </a:endParaRPr>
          </a:p>
        </p:txBody>
      </p:sp>
      <p:sp>
        <p:nvSpPr>
          <p:cNvPr id="6177" name="AutoShape 283"/>
          <p:cNvSpPr>
            <a:spLocks noChangeArrowheads="1"/>
          </p:cNvSpPr>
          <p:nvPr/>
        </p:nvSpPr>
        <p:spPr bwMode="auto">
          <a:xfrm>
            <a:off x="7701677" y="2289176"/>
            <a:ext cx="127000" cy="127000"/>
          </a:xfrm>
          <a:prstGeom prst="downArrow">
            <a:avLst>
              <a:gd name="adj1" fmla="val 50000"/>
              <a:gd name="adj2" fmla="val 25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pPr>
              <a:defRPr/>
            </a:pPr>
            <a:endParaRPr lang="ja-JP" altLang="en-US">
              <a:latin typeface="Arial" charset="0"/>
              <a:ea typeface="ＭＳ Ｐゴシック" charset="0"/>
              <a:cs typeface="ＭＳ Ｐゴシック" charset="0"/>
            </a:endParaRPr>
          </a:p>
        </p:txBody>
      </p:sp>
      <p:sp>
        <p:nvSpPr>
          <p:cNvPr id="6179" name="AutoShape 285"/>
          <p:cNvSpPr>
            <a:spLocks noChangeArrowheads="1"/>
          </p:cNvSpPr>
          <p:nvPr/>
        </p:nvSpPr>
        <p:spPr bwMode="auto">
          <a:xfrm>
            <a:off x="7483673" y="2287588"/>
            <a:ext cx="127000" cy="127000"/>
          </a:xfrm>
          <a:prstGeom prst="downArrow">
            <a:avLst>
              <a:gd name="adj1" fmla="val 50000"/>
              <a:gd name="adj2" fmla="val 25000"/>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pPr>
              <a:defRPr/>
            </a:pPr>
            <a:endParaRPr lang="ja-JP" altLang="en-US">
              <a:latin typeface="Arial" charset="0"/>
              <a:ea typeface="ＭＳ Ｐゴシック" charset="0"/>
              <a:cs typeface="ＭＳ Ｐゴシック" charset="0"/>
            </a:endParaRPr>
          </a:p>
        </p:txBody>
      </p:sp>
      <p:sp>
        <p:nvSpPr>
          <p:cNvPr id="6181" name="Text Box 287"/>
          <p:cNvSpPr txBox="1">
            <a:spLocks noChangeArrowheads="1"/>
          </p:cNvSpPr>
          <p:nvPr/>
        </p:nvSpPr>
        <p:spPr bwMode="auto">
          <a:xfrm>
            <a:off x="7446963" y="4076700"/>
            <a:ext cx="501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dirty="0" smtClean="0"/>
              <a:t>no!</a:t>
            </a:r>
          </a:p>
        </p:txBody>
      </p:sp>
      <p:grpSp>
        <p:nvGrpSpPr>
          <p:cNvPr id="19496" name="Group 291"/>
          <p:cNvGrpSpPr>
            <a:grpSpLocks/>
          </p:cNvGrpSpPr>
          <p:nvPr/>
        </p:nvGrpSpPr>
        <p:grpSpPr bwMode="auto">
          <a:xfrm>
            <a:off x="6561138" y="2997201"/>
            <a:ext cx="2189162" cy="252412"/>
            <a:chOff x="1536" y="624"/>
            <a:chExt cx="2400" cy="144"/>
          </a:xfrm>
          <a:solidFill>
            <a:schemeClr val="bg1">
              <a:lumMod val="95000"/>
            </a:schemeClr>
          </a:solidFill>
        </p:grpSpPr>
        <p:sp>
          <p:nvSpPr>
            <p:cNvPr id="6207" name="Rectangle 292"/>
            <p:cNvSpPr>
              <a:spLocks noChangeArrowheads="1"/>
            </p:cNvSpPr>
            <p:nvPr/>
          </p:nvSpPr>
          <p:spPr bwMode="auto">
            <a:xfrm>
              <a:off x="1536" y="624"/>
              <a:ext cx="240"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a:t>
              </a:r>
            </a:p>
          </p:txBody>
        </p:sp>
        <p:sp>
          <p:nvSpPr>
            <p:cNvPr id="6208" name="Rectangle 293"/>
            <p:cNvSpPr>
              <a:spLocks noChangeArrowheads="1"/>
            </p:cNvSpPr>
            <p:nvPr/>
          </p:nvSpPr>
          <p:spPr bwMode="auto">
            <a:xfrm>
              <a:off x="1776" y="624"/>
              <a:ext cx="240"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3</a:t>
              </a:r>
            </a:p>
          </p:txBody>
        </p:sp>
        <p:sp>
          <p:nvSpPr>
            <p:cNvPr id="6209" name="Rectangle 294"/>
            <p:cNvSpPr>
              <a:spLocks noChangeArrowheads="1"/>
            </p:cNvSpPr>
            <p:nvPr/>
          </p:nvSpPr>
          <p:spPr bwMode="auto">
            <a:xfrm>
              <a:off x="2016" y="624"/>
              <a:ext cx="240"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5</a:t>
              </a:r>
            </a:p>
          </p:txBody>
        </p:sp>
        <p:sp>
          <p:nvSpPr>
            <p:cNvPr id="6210" name="Rectangle 295"/>
            <p:cNvSpPr>
              <a:spLocks noChangeArrowheads="1"/>
            </p:cNvSpPr>
            <p:nvPr/>
          </p:nvSpPr>
          <p:spPr bwMode="auto">
            <a:xfrm>
              <a:off x="2257" y="624"/>
              <a:ext cx="240" cy="144"/>
            </a:xfrm>
            <a:prstGeom prst="rect">
              <a:avLst/>
            </a:prstGeom>
            <a:solidFill>
              <a:schemeClr val="bg1">
                <a:lumMod val="75000"/>
              </a:schemeClr>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dirty="0">
                  <a:latin typeface="Times New Roman" charset="0"/>
                  <a:ea typeface="ＭＳ Ｐゴシック" charset="0"/>
                  <a:cs typeface="ＭＳ Ｐゴシック" charset="0"/>
                </a:rPr>
                <a:t>7</a:t>
              </a:r>
            </a:p>
          </p:txBody>
        </p:sp>
        <p:sp>
          <p:nvSpPr>
            <p:cNvPr id="6211" name="Rectangle 296"/>
            <p:cNvSpPr>
              <a:spLocks noChangeArrowheads="1"/>
            </p:cNvSpPr>
            <p:nvPr/>
          </p:nvSpPr>
          <p:spPr bwMode="auto">
            <a:xfrm>
              <a:off x="2497" y="624"/>
              <a:ext cx="240"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dirty="0">
                  <a:latin typeface="Times New Roman" charset="0"/>
                  <a:ea typeface="ＭＳ Ｐゴシック" charset="0"/>
                  <a:cs typeface="ＭＳ Ｐゴシック" charset="0"/>
                </a:rPr>
                <a:t>9</a:t>
              </a:r>
            </a:p>
          </p:txBody>
        </p:sp>
        <p:sp>
          <p:nvSpPr>
            <p:cNvPr id="6212" name="Rectangle 297"/>
            <p:cNvSpPr>
              <a:spLocks noChangeArrowheads="1"/>
            </p:cNvSpPr>
            <p:nvPr/>
          </p:nvSpPr>
          <p:spPr bwMode="auto">
            <a:xfrm>
              <a:off x="2737" y="624"/>
              <a:ext cx="238"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dirty="0">
                  <a:latin typeface="Times New Roman" charset="0"/>
                  <a:ea typeface="ＭＳ Ｐゴシック" charset="0"/>
                  <a:cs typeface="ＭＳ Ｐゴシック" charset="0"/>
                </a:rPr>
                <a:t>10</a:t>
              </a:r>
            </a:p>
          </p:txBody>
        </p:sp>
        <p:sp>
          <p:nvSpPr>
            <p:cNvPr id="6213" name="Rectangle 298"/>
            <p:cNvSpPr>
              <a:spLocks noChangeArrowheads="1"/>
            </p:cNvSpPr>
            <p:nvPr/>
          </p:nvSpPr>
          <p:spPr bwMode="auto">
            <a:xfrm>
              <a:off x="2975" y="624"/>
              <a:ext cx="240"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12</a:t>
              </a:r>
            </a:p>
          </p:txBody>
        </p:sp>
        <p:sp>
          <p:nvSpPr>
            <p:cNvPr id="6214" name="Rectangle 299"/>
            <p:cNvSpPr>
              <a:spLocks noChangeArrowheads="1"/>
            </p:cNvSpPr>
            <p:nvPr/>
          </p:nvSpPr>
          <p:spPr bwMode="auto">
            <a:xfrm>
              <a:off x="3215" y="624"/>
              <a:ext cx="240"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14</a:t>
              </a:r>
            </a:p>
          </p:txBody>
        </p:sp>
        <p:sp>
          <p:nvSpPr>
            <p:cNvPr id="6215" name="Rectangle 300"/>
            <p:cNvSpPr>
              <a:spLocks noChangeArrowheads="1"/>
            </p:cNvSpPr>
            <p:nvPr/>
          </p:nvSpPr>
          <p:spPr bwMode="auto">
            <a:xfrm>
              <a:off x="3456" y="624"/>
              <a:ext cx="240"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16</a:t>
              </a:r>
            </a:p>
          </p:txBody>
        </p:sp>
        <p:sp>
          <p:nvSpPr>
            <p:cNvPr id="6216" name="Rectangle 301"/>
            <p:cNvSpPr>
              <a:spLocks noChangeArrowheads="1"/>
            </p:cNvSpPr>
            <p:nvPr/>
          </p:nvSpPr>
          <p:spPr bwMode="auto">
            <a:xfrm>
              <a:off x="3696" y="624"/>
              <a:ext cx="240"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18</a:t>
              </a:r>
            </a:p>
          </p:txBody>
        </p:sp>
      </p:grpSp>
      <p:sp>
        <p:nvSpPr>
          <p:cNvPr id="6186" name="AutoShape 302"/>
          <p:cNvSpPr>
            <a:spLocks noChangeArrowheads="1"/>
          </p:cNvSpPr>
          <p:nvPr/>
        </p:nvSpPr>
        <p:spPr bwMode="auto">
          <a:xfrm>
            <a:off x="7228555" y="2870201"/>
            <a:ext cx="127000" cy="127000"/>
          </a:xfrm>
          <a:prstGeom prst="down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pPr>
              <a:defRPr/>
            </a:pPr>
            <a:endParaRPr lang="ja-JP" altLang="en-US">
              <a:latin typeface="Arial" charset="0"/>
              <a:ea typeface="ＭＳ Ｐゴシック" charset="0"/>
              <a:cs typeface="ＭＳ Ｐゴシック" charset="0"/>
            </a:endParaRPr>
          </a:p>
        </p:txBody>
      </p:sp>
      <p:sp>
        <p:nvSpPr>
          <p:cNvPr id="6187" name="AutoShape 304"/>
          <p:cNvSpPr>
            <a:spLocks noChangeArrowheads="1"/>
          </p:cNvSpPr>
          <p:nvPr/>
        </p:nvSpPr>
        <p:spPr bwMode="auto">
          <a:xfrm>
            <a:off x="7483673" y="2870201"/>
            <a:ext cx="127000" cy="127000"/>
          </a:xfrm>
          <a:prstGeom prst="downArrow">
            <a:avLst>
              <a:gd name="adj1" fmla="val 50000"/>
              <a:gd name="adj2" fmla="val 25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pPr>
              <a:defRPr/>
            </a:pPr>
            <a:endParaRPr lang="ja-JP" altLang="en-US">
              <a:latin typeface="Arial" charset="0"/>
              <a:ea typeface="ＭＳ Ｐゴシック" charset="0"/>
              <a:cs typeface="ＭＳ Ｐゴシック" charset="0"/>
            </a:endParaRPr>
          </a:p>
        </p:txBody>
      </p:sp>
      <p:sp>
        <p:nvSpPr>
          <p:cNvPr id="6188" name="AutoShape 306"/>
          <p:cNvSpPr>
            <a:spLocks noChangeArrowheads="1"/>
          </p:cNvSpPr>
          <p:nvPr/>
        </p:nvSpPr>
        <p:spPr bwMode="auto">
          <a:xfrm>
            <a:off x="7273186" y="2868613"/>
            <a:ext cx="127000" cy="127000"/>
          </a:xfrm>
          <a:prstGeom prst="downArrow">
            <a:avLst>
              <a:gd name="adj1" fmla="val 50000"/>
              <a:gd name="adj2" fmla="val 25000"/>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pPr>
              <a:defRPr/>
            </a:pPr>
            <a:endParaRPr lang="ja-JP" altLang="en-US">
              <a:latin typeface="Arial" charset="0"/>
              <a:ea typeface="ＭＳ Ｐゴシック" charset="0"/>
              <a:cs typeface="ＭＳ Ｐゴシック" charset="0"/>
            </a:endParaRPr>
          </a:p>
        </p:txBody>
      </p:sp>
      <p:grpSp>
        <p:nvGrpSpPr>
          <p:cNvPr id="19501" name="Group 309"/>
          <p:cNvGrpSpPr>
            <a:grpSpLocks/>
          </p:cNvGrpSpPr>
          <p:nvPr/>
        </p:nvGrpSpPr>
        <p:grpSpPr bwMode="auto">
          <a:xfrm>
            <a:off x="6561138" y="3576638"/>
            <a:ext cx="2189162" cy="252412"/>
            <a:chOff x="1536" y="624"/>
            <a:chExt cx="2400" cy="144"/>
          </a:xfrm>
          <a:solidFill>
            <a:schemeClr val="bg1"/>
          </a:solidFill>
        </p:grpSpPr>
        <p:sp>
          <p:nvSpPr>
            <p:cNvPr id="6197" name="Rectangle 310"/>
            <p:cNvSpPr>
              <a:spLocks noChangeArrowheads="1"/>
            </p:cNvSpPr>
            <p:nvPr/>
          </p:nvSpPr>
          <p:spPr bwMode="auto">
            <a:xfrm>
              <a:off x="1536"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a:t>
              </a:r>
            </a:p>
          </p:txBody>
        </p:sp>
        <p:sp>
          <p:nvSpPr>
            <p:cNvPr id="6198" name="Rectangle 311"/>
            <p:cNvSpPr>
              <a:spLocks noChangeArrowheads="1"/>
            </p:cNvSpPr>
            <p:nvPr/>
          </p:nvSpPr>
          <p:spPr bwMode="auto">
            <a:xfrm>
              <a:off x="1776"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3</a:t>
              </a:r>
            </a:p>
          </p:txBody>
        </p:sp>
        <p:sp>
          <p:nvSpPr>
            <p:cNvPr id="6199" name="Rectangle 312"/>
            <p:cNvSpPr>
              <a:spLocks noChangeArrowheads="1"/>
            </p:cNvSpPr>
            <p:nvPr/>
          </p:nvSpPr>
          <p:spPr bwMode="auto">
            <a:xfrm>
              <a:off x="2016"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5</a:t>
              </a:r>
            </a:p>
          </p:txBody>
        </p:sp>
        <p:sp>
          <p:nvSpPr>
            <p:cNvPr id="6200" name="Rectangle 313"/>
            <p:cNvSpPr>
              <a:spLocks noChangeArrowheads="1"/>
            </p:cNvSpPr>
            <p:nvPr/>
          </p:nvSpPr>
          <p:spPr bwMode="auto">
            <a:xfrm>
              <a:off x="2257"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7</a:t>
              </a:r>
            </a:p>
          </p:txBody>
        </p:sp>
        <p:sp>
          <p:nvSpPr>
            <p:cNvPr id="6201" name="Rectangle 314"/>
            <p:cNvSpPr>
              <a:spLocks noChangeArrowheads="1"/>
            </p:cNvSpPr>
            <p:nvPr/>
          </p:nvSpPr>
          <p:spPr bwMode="auto">
            <a:xfrm>
              <a:off x="2497"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9</a:t>
              </a:r>
            </a:p>
          </p:txBody>
        </p:sp>
        <p:sp>
          <p:nvSpPr>
            <p:cNvPr id="6202" name="Rectangle 315"/>
            <p:cNvSpPr>
              <a:spLocks noChangeArrowheads="1"/>
            </p:cNvSpPr>
            <p:nvPr/>
          </p:nvSpPr>
          <p:spPr bwMode="auto">
            <a:xfrm>
              <a:off x="2737" y="624"/>
              <a:ext cx="238"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10</a:t>
              </a:r>
            </a:p>
          </p:txBody>
        </p:sp>
        <p:sp>
          <p:nvSpPr>
            <p:cNvPr id="6203" name="Rectangle 316"/>
            <p:cNvSpPr>
              <a:spLocks noChangeArrowheads="1"/>
            </p:cNvSpPr>
            <p:nvPr/>
          </p:nvSpPr>
          <p:spPr bwMode="auto">
            <a:xfrm>
              <a:off x="2975"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12</a:t>
              </a:r>
            </a:p>
          </p:txBody>
        </p:sp>
        <p:sp>
          <p:nvSpPr>
            <p:cNvPr id="6204" name="Rectangle 317"/>
            <p:cNvSpPr>
              <a:spLocks noChangeArrowheads="1"/>
            </p:cNvSpPr>
            <p:nvPr/>
          </p:nvSpPr>
          <p:spPr bwMode="auto">
            <a:xfrm>
              <a:off x="3215"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14</a:t>
              </a:r>
            </a:p>
          </p:txBody>
        </p:sp>
        <p:sp>
          <p:nvSpPr>
            <p:cNvPr id="6205" name="Rectangle 318"/>
            <p:cNvSpPr>
              <a:spLocks noChangeArrowheads="1"/>
            </p:cNvSpPr>
            <p:nvPr/>
          </p:nvSpPr>
          <p:spPr bwMode="auto">
            <a:xfrm>
              <a:off x="3456"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dirty="0">
                  <a:latin typeface="Times New Roman" charset="0"/>
                  <a:ea typeface="ＭＳ Ｐゴシック" charset="0"/>
                  <a:cs typeface="ＭＳ Ｐゴシック" charset="0"/>
                </a:rPr>
                <a:t>16</a:t>
              </a:r>
            </a:p>
          </p:txBody>
        </p:sp>
        <p:sp>
          <p:nvSpPr>
            <p:cNvPr id="6206" name="Rectangle 319"/>
            <p:cNvSpPr>
              <a:spLocks noChangeArrowheads="1"/>
            </p:cNvSpPr>
            <p:nvPr/>
          </p:nvSpPr>
          <p:spPr bwMode="auto">
            <a:xfrm>
              <a:off x="3696" y="624"/>
              <a:ext cx="240" cy="144"/>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600">
                  <a:latin typeface="Times New Roman" charset="0"/>
                  <a:ea typeface="ＭＳ Ｐゴシック" charset="0"/>
                  <a:cs typeface="ＭＳ Ｐゴシック" charset="0"/>
                </a:rPr>
                <a:t>18</a:t>
              </a:r>
            </a:p>
          </p:txBody>
        </p:sp>
      </p:grpSp>
      <p:sp>
        <p:nvSpPr>
          <p:cNvPr id="6191" name="AutoShape 320"/>
          <p:cNvSpPr>
            <a:spLocks noChangeArrowheads="1"/>
          </p:cNvSpPr>
          <p:nvPr/>
        </p:nvSpPr>
        <p:spPr bwMode="auto">
          <a:xfrm>
            <a:off x="7458992" y="3449638"/>
            <a:ext cx="127000" cy="127000"/>
          </a:xfrm>
          <a:prstGeom prst="down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pPr>
              <a:defRPr/>
            </a:pPr>
            <a:endParaRPr lang="ja-JP" altLang="en-US">
              <a:latin typeface="Arial" charset="0"/>
              <a:ea typeface="ＭＳ Ｐゴシック" charset="0"/>
              <a:cs typeface="ＭＳ Ｐゴシック" charset="0"/>
            </a:endParaRPr>
          </a:p>
        </p:txBody>
      </p:sp>
      <p:sp>
        <p:nvSpPr>
          <p:cNvPr id="6192" name="AutoShape 321"/>
          <p:cNvSpPr>
            <a:spLocks noChangeArrowheads="1"/>
          </p:cNvSpPr>
          <p:nvPr/>
        </p:nvSpPr>
        <p:spPr bwMode="auto">
          <a:xfrm>
            <a:off x="7508875" y="3449638"/>
            <a:ext cx="127000" cy="127000"/>
          </a:xfrm>
          <a:prstGeom prst="downArrow">
            <a:avLst>
              <a:gd name="adj1" fmla="val 50000"/>
              <a:gd name="adj2" fmla="val 25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pPr>
              <a:defRPr/>
            </a:pPr>
            <a:endParaRPr lang="ja-JP" altLang="en-US">
              <a:latin typeface="Arial" charset="0"/>
              <a:ea typeface="ＭＳ Ｐゴシック" charset="0"/>
              <a:cs typeface="ＭＳ Ｐゴシック" charset="0"/>
            </a:endParaRPr>
          </a:p>
        </p:txBody>
      </p:sp>
      <p:sp>
        <p:nvSpPr>
          <p:cNvPr id="19505" name="Freeform 324"/>
          <p:cNvSpPr>
            <a:spLocks/>
          </p:cNvSpPr>
          <p:nvPr/>
        </p:nvSpPr>
        <p:spPr bwMode="auto">
          <a:xfrm>
            <a:off x="5940425" y="4076700"/>
            <a:ext cx="144463" cy="1262063"/>
          </a:xfrm>
          <a:custGeom>
            <a:avLst/>
            <a:gdLst>
              <a:gd name="T0" fmla="*/ 2147483647 w 121"/>
              <a:gd name="T1" fmla="*/ 2147483647 h 1520"/>
              <a:gd name="T2" fmla="*/ 2147483647 w 121"/>
              <a:gd name="T3" fmla="*/ 2147483647 h 1520"/>
              <a:gd name="T4" fmla="*/ 2147483647 w 121"/>
              <a:gd name="T5" fmla="*/ 2147483647 h 1520"/>
              <a:gd name="T6" fmla="*/ 2147483647 w 121"/>
              <a:gd name="T7" fmla="*/ 2147483647 h 1520"/>
              <a:gd name="T8" fmla="*/ 2147483647 w 121"/>
              <a:gd name="T9" fmla="*/ 2147483647 h 15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 h="1520">
                <a:moveTo>
                  <a:pt x="15" y="151"/>
                </a:moveTo>
                <a:cubicBezTo>
                  <a:pt x="53" y="75"/>
                  <a:pt x="91" y="0"/>
                  <a:pt x="106" y="197"/>
                </a:cubicBezTo>
                <a:cubicBezTo>
                  <a:pt x="121" y="394"/>
                  <a:pt x="121" y="1142"/>
                  <a:pt x="106" y="1331"/>
                </a:cubicBezTo>
                <a:cubicBezTo>
                  <a:pt x="91" y="1520"/>
                  <a:pt x="30" y="1513"/>
                  <a:pt x="15" y="1331"/>
                </a:cubicBezTo>
                <a:cubicBezTo>
                  <a:pt x="0" y="1149"/>
                  <a:pt x="7" y="695"/>
                  <a:pt x="15" y="242"/>
                </a:cubicBezTo>
              </a:path>
            </a:pathLst>
          </a:custGeom>
          <a:noFill/>
          <a:ln w="28575" cmpd="sng">
            <a:solidFill>
              <a:srgbClr val="FF3300"/>
            </a:solidFill>
            <a:round/>
            <a:headEnd type="arrow"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6195" name="Text Box 326"/>
          <p:cNvSpPr txBox="1">
            <a:spLocks noChangeArrowheads="1"/>
          </p:cNvSpPr>
          <p:nvPr/>
        </p:nvSpPr>
        <p:spPr bwMode="auto">
          <a:xfrm>
            <a:off x="6084888" y="4508500"/>
            <a:ext cx="27352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b="1" dirty="0" smtClean="0">
                <a:solidFill>
                  <a:srgbClr val="FF3300"/>
                </a:solidFill>
              </a:rPr>
              <a:t>このループを最悪 高々</a:t>
            </a:r>
            <a:r>
              <a:rPr lang="en-US" altLang="ja-JP" b="1" dirty="0" smtClean="0">
                <a:solidFill>
                  <a:srgbClr val="FF3300"/>
                </a:solidFill>
              </a:rPr>
              <a:t>(log</a:t>
            </a:r>
            <a:r>
              <a:rPr lang="en-US" altLang="ja-JP" b="1" baseline="-25000" dirty="0" smtClean="0">
                <a:solidFill>
                  <a:srgbClr val="FF3300"/>
                </a:solidFill>
              </a:rPr>
              <a:t>2</a:t>
            </a:r>
            <a:r>
              <a:rPr lang="en-US" altLang="ja-JP" b="1" dirty="0" smtClean="0">
                <a:solidFill>
                  <a:srgbClr val="FF3300"/>
                </a:solidFill>
              </a:rPr>
              <a:t> n)+1 </a:t>
            </a:r>
            <a:r>
              <a:rPr lang="ja-JP" altLang="en-US" b="1" dirty="0" smtClean="0">
                <a:solidFill>
                  <a:srgbClr val="FF3300"/>
                </a:solidFill>
              </a:rPr>
              <a:t>回まわる！</a:t>
            </a:r>
          </a:p>
        </p:txBody>
      </p:sp>
      <p:sp>
        <p:nvSpPr>
          <p:cNvPr id="6196" name="Text Box 334"/>
          <p:cNvSpPr txBox="1">
            <a:spLocks noChangeArrowheads="1"/>
          </p:cNvSpPr>
          <p:nvPr/>
        </p:nvSpPr>
        <p:spPr bwMode="auto">
          <a:xfrm>
            <a:off x="5867400" y="5345113"/>
            <a:ext cx="3182938" cy="1323975"/>
          </a:xfrm>
          <a:prstGeom prst="rect">
            <a:avLst/>
          </a:prstGeom>
          <a:solidFill>
            <a:schemeClr val="bg1"/>
          </a:solidFill>
          <a:ln w="9525">
            <a:solidFill>
              <a:schemeClr val="bg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z="1600" dirty="0" smtClean="0">
                <a:solidFill>
                  <a:schemeClr val="bg2"/>
                </a:solidFill>
              </a:rPr>
              <a:t>１回で範囲を半分以下に絞れる。</a:t>
            </a:r>
          </a:p>
          <a:p>
            <a:pPr eaLnBrk="1" hangingPunct="1">
              <a:defRPr/>
            </a:pPr>
            <a:r>
              <a:rPr lang="en-US" altLang="ja-JP" sz="1600" dirty="0" smtClean="0">
                <a:solidFill>
                  <a:schemeClr val="bg2"/>
                </a:solidFill>
              </a:rPr>
              <a:t>k</a:t>
            </a:r>
            <a:r>
              <a:rPr lang="ja-JP" altLang="en-US" sz="1600" dirty="0" smtClean="0">
                <a:solidFill>
                  <a:schemeClr val="bg2"/>
                </a:solidFill>
              </a:rPr>
              <a:t>回で範囲を</a:t>
            </a:r>
            <a:r>
              <a:rPr lang="en-US" altLang="ja-JP" sz="1600" dirty="0" smtClean="0">
                <a:solidFill>
                  <a:schemeClr val="bg2"/>
                </a:solidFill>
              </a:rPr>
              <a:t>n/2</a:t>
            </a:r>
            <a:r>
              <a:rPr lang="en-US" altLang="ja-JP" sz="1600" baseline="30000" dirty="0" smtClean="0">
                <a:solidFill>
                  <a:schemeClr val="bg2"/>
                </a:solidFill>
              </a:rPr>
              <a:t>k</a:t>
            </a:r>
            <a:r>
              <a:rPr lang="ja-JP" altLang="en-US" sz="1600" dirty="0" smtClean="0">
                <a:solidFill>
                  <a:schemeClr val="bg2"/>
                </a:solidFill>
              </a:rPr>
              <a:t>以下に絞れる。</a:t>
            </a:r>
          </a:p>
          <a:p>
            <a:pPr eaLnBrk="1" hangingPunct="1">
              <a:defRPr/>
            </a:pPr>
            <a:r>
              <a:rPr lang="ja-JP" altLang="en-US" sz="1600" dirty="0" smtClean="0">
                <a:solidFill>
                  <a:schemeClr val="bg2"/>
                </a:solidFill>
              </a:rPr>
              <a:t>範囲が空となったら終わりだから</a:t>
            </a:r>
          </a:p>
          <a:p>
            <a:pPr eaLnBrk="1" hangingPunct="1">
              <a:defRPr/>
            </a:pPr>
            <a:r>
              <a:rPr lang="en-US" altLang="ja-JP" sz="1600" dirty="0" smtClean="0">
                <a:solidFill>
                  <a:schemeClr val="bg2"/>
                </a:solidFill>
              </a:rPr>
              <a:t>n/2</a:t>
            </a:r>
            <a:r>
              <a:rPr lang="en-US" altLang="ja-JP" sz="1600" baseline="30000" dirty="0" smtClean="0">
                <a:solidFill>
                  <a:schemeClr val="bg2"/>
                </a:solidFill>
              </a:rPr>
              <a:t>k</a:t>
            </a:r>
            <a:r>
              <a:rPr lang="en-US" altLang="ja-JP" sz="1600" dirty="0" smtClean="0">
                <a:solidFill>
                  <a:schemeClr val="bg2"/>
                </a:solidFill>
              </a:rPr>
              <a:t>&lt;1</a:t>
            </a:r>
            <a:r>
              <a:rPr lang="ja-JP" altLang="en-US" sz="1600" dirty="0" smtClean="0">
                <a:solidFill>
                  <a:schemeClr val="bg2"/>
                </a:solidFill>
              </a:rPr>
              <a:t>。よって</a:t>
            </a:r>
            <a:r>
              <a:rPr lang="en-US" altLang="ja-JP" sz="1600" dirty="0" smtClean="0">
                <a:solidFill>
                  <a:schemeClr val="bg2"/>
                </a:solidFill>
              </a:rPr>
              <a:t>log</a:t>
            </a:r>
            <a:r>
              <a:rPr lang="en-US" altLang="ja-JP" sz="1600" baseline="-25000" dirty="0" smtClean="0">
                <a:solidFill>
                  <a:schemeClr val="bg2"/>
                </a:solidFill>
              </a:rPr>
              <a:t>2</a:t>
            </a:r>
            <a:r>
              <a:rPr lang="en-US" altLang="ja-JP" sz="1600" dirty="0" smtClean="0">
                <a:solidFill>
                  <a:schemeClr val="bg2"/>
                </a:solidFill>
              </a:rPr>
              <a:t>n&lt;k</a:t>
            </a:r>
            <a:r>
              <a:rPr lang="ja-JP" altLang="en-US" sz="1600" dirty="0" smtClean="0">
                <a:solidFill>
                  <a:schemeClr val="bg2"/>
                </a:solidFill>
              </a:rPr>
              <a:t>。これを満た</a:t>
            </a:r>
          </a:p>
          <a:p>
            <a:pPr eaLnBrk="1" hangingPunct="1">
              <a:defRPr/>
            </a:pPr>
            <a:r>
              <a:rPr lang="ja-JP" altLang="en-US" sz="1600" dirty="0" smtClean="0">
                <a:solidFill>
                  <a:schemeClr val="bg2"/>
                </a:solidFill>
              </a:rPr>
              <a:t>す最小の整数は </a:t>
            </a:r>
            <a:r>
              <a:rPr lang="en-US" altLang="ja-JP" sz="1600" dirty="0" smtClean="0">
                <a:solidFill>
                  <a:schemeClr val="bg2"/>
                </a:solidFill>
              </a:rPr>
              <a:t>(log</a:t>
            </a:r>
            <a:r>
              <a:rPr lang="en-US" altLang="ja-JP" sz="1600" baseline="-25000" dirty="0" smtClean="0">
                <a:solidFill>
                  <a:schemeClr val="bg2"/>
                </a:solidFill>
              </a:rPr>
              <a:t>2</a:t>
            </a:r>
            <a:r>
              <a:rPr lang="en-US" altLang="ja-JP" sz="1600" dirty="0" smtClean="0">
                <a:solidFill>
                  <a:schemeClr val="bg2"/>
                </a:solidFill>
              </a:rPr>
              <a:t>n)+1</a:t>
            </a:r>
            <a:r>
              <a:rPr lang="ja-JP" altLang="en-US" sz="1600" dirty="0" smtClean="0">
                <a:solidFill>
                  <a:schemeClr val="bg2"/>
                </a:solidFill>
              </a:rPr>
              <a:t>以下 。</a:t>
            </a:r>
          </a:p>
        </p:txBody>
      </p:sp>
      <p:sp>
        <p:nvSpPr>
          <p:cNvPr id="7" name="下矢印 6"/>
          <p:cNvSpPr/>
          <p:nvPr/>
        </p:nvSpPr>
        <p:spPr>
          <a:xfrm>
            <a:off x="7507612" y="3934588"/>
            <a:ext cx="345004" cy="194469"/>
          </a:xfrm>
          <a:prstGeom prst="downArrow">
            <a:avLst/>
          </a:prstGeom>
          <a:solidFill>
            <a:schemeClr val="bg1">
              <a:lumMod val="95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スライド番号プレースホルダー 4"/>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fld id="{0CDF9E45-2DC3-42BF-A919-55E898F8D01A}" type="slidenum">
              <a:rPr kumimoji="0" lang="en-US" altLang="ja-JP" sz="1200">
                <a:latin typeface="Arial Black" pitchFamily="34" charset="0"/>
              </a:rPr>
              <a:pPr/>
              <a:t>5</a:t>
            </a:fld>
            <a:endParaRPr kumimoji="0" lang="en-US" altLang="ja-JP" sz="1200">
              <a:latin typeface="Arial Black" pitchFamily="34" charset="0"/>
            </a:endParaRPr>
          </a:p>
        </p:txBody>
      </p:sp>
      <p:sp>
        <p:nvSpPr>
          <p:cNvPr id="7173" name="Rectangle 2"/>
          <p:cNvSpPr>
            <a:spLocks noGrp="1" noChangeArrowheads="1"/>
          </p:cNvSpPr>
          <p:nvPr>
            <p:ph type="title"/>
          </p:nvPr>
        </p:nvSpPr>
        <p:spPr>
          <a:xfrm>
            <a:off x="539750" y="188913"/>
            <a:ext cx="7772400" cy="863823"/>
          </a:xfrm>
        </p:spPr>
        <p:txBody>
          <a:bodyPr/>
          <a:lstStyle/>
          <a:p>
            <a:pPr eaLnBrk="1" hangingPunct="1">
              <a:defRPr/>
            </a:pPr>
            <a:r>
              <a:rPr lang="en-US" altLang="ja-JP" sz="3200" dirty="0"/>
              <a:t>2</a:t>
            </a:r>
            <a:r>
              <a:rPr lang="ja-JP" altLang="en-US" sz="3200" dirty="0"/>
              <a:t>分探索木</a:t>
            </a:r>
          </a:p>
        </p:txBody>
      </p:sp>
      <p:sp>
        <p:nvSpPr>
          <p:cNvPr id="7174" name="Text Box 236"/>
          <p:cNvSpPr txBox="1">
            <a:spLocks noChangeArrowheads="1"/>
          </p:cNvSpPr>
          <p:nvPr/>
        </p:nvSpPr>
        <p:spPr bwMode="auto">
          <a:xfrm>
            <a:off x="467544" y="1001525"/>
            <a:ext cx="816686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pPr>
              <a:spcBef>
                <a:spcPts val="0"/>
              </a:spcBef>
            </a:pPr>
            <a:r>
              <a:rPr lang="ja-JP" altLang="en-US" sz="2000" dirty="0" smtClean="0"/>
              <a:t>集合</a:t>
            </a:r>
            <a:r>
              <a:rPr lang="en-US" altLang="ja-JP" sz="2000" dirty="0" smtClean="0"/>
              <a:t>S</a:t>
            </a:r>
            <a:r>
              <a:rPr lang="ja-JP" altLang="en-US" sz="2000" dirty="0" smtClean="0"/>
              <a:t>は，全順序集合であると仮定する</a:t>
            </a:r>
          </a:p>
          <a:p>
            <a:pPr>
              <a:spcBef>
                <a:spcPts val="0"/>
              </a:spcBef>
            </a:pPr>
            <a:r>
              <a:rPr lang="ja-JP" altLang="en-US" sz="2000" dirty="0" smtClean="0">
                <a:solidFill>
                  <a:srgbClr val="FF0000"/>
                </a:solidFill>
              </a:rPr>
              <a:t>２分</a:t>
            </a:r>
            <a:r>
              <a:rPr lang="ja-JP" altLang="en-US" sz="2000" dirty="0">
                <a:solidFill>
                  <a:srgbClr val="FF0000"/>
                </a:solidFill>
              </a:rPr>
              <a:t>木</a:t>
            </a:r>
            <a:r>
              <a:rPr lang="en-US" altLang="ja-JP" sz="2000" dirty="0">
                <a:solidFill>
                  <a:srgbClr val="FF0000"/>
                </a:solidFill>
              </a:rPr>
              <a:t>(binary tree)</a:t>
            </a:r>
            <a:r>
              <a:rPr lang="ja-JP" altLang="en-US" sz="2000" dirty="0"/>
              <a:t>と</a:t>
            </a:r>
            <a:r>
              <a:rPr lang="ja-JP" altLang="en-US" sz="2000" dirty="0" smtClean="0"/>
              <a:t>は，各節点</a:t>
            </a:r>
            <a:r>
              <a:rPr lang="ja-JP" altLang="en-US" sz="2000" dirty="0"/>
              <a:t>が高々２つの子をもつ</a:t>
            </a:r>
            <a:r>
              <a:rPr lang="ja-JP" altLang="en-US" sz="2000" dirty="0" smtClean="0"/>
              <a:t>根付き木である</a:t>
            </a:r>
            <a:endParaRPr lang="ja-JP" altLang="en-US" sz="2000" b="1" dirty="0">
              <a:solidFill>
                <a:srgbClr val="FF3300"/>
              </a:solidFill>
            </a:endParaRPr>
          </a:p>
          <a:p>
            <a:pPr>
              <a:spcBef>
                <a:spcPts val="0"/>
              </a:spcBef>
            </a:pPr>
            <a:r>
              <a:rPr lang="ja-JP" altLang="en-US" sz="2000" dirty="0" smtClean="0"/>
              <a:t>この２分</a:t>
            </a:r>
            <a:r>
              <a:rPr lang="ja-JP" altLang="en-US" sz="2000" dirty="0"/>
              <a:t>木の各節点に</a:t>
            </a:r>
            <a:r>
              <a:rPr lang="en-US" altLang="ja-JP" sz="2000" dirty="0"/>
              <a:t>S</a:t>
            </a:r>
            <a:r>
              <a:rPr lang="ja-JP" altLang="en-US" sz="2000" dirty="0"/>
              <a:t>の要素</a:t>
            </a:r>
            <a:r>
              <a:rPr lang="ja-JP" altLang="en-US" sz="2000" dirty="0" smtClean="0"/>
              <a:t>を格納し辞書とする</a:t>
            </a:r>
            <a:r>
              <a:rPr lang="ja-JP" altLang="en-US" sz="2000" dirty="0"/>
              <a:t>ことを</a:t>
            </a:r>
            <a:r>
              <a:rPr lang="ja-JP" altLang="en-US" sz="2000" dirty="0" smtClean="0"/>
              <a:t>考える</a:t>
            </a:r>
            <a:endParaRPr lang="ja-JP" altLang="en-US" sz="2000" dirty="0"/>
          </a:p>
          <a:p>
            <a:pPr>
              <a:spcBef>
                <a:spcPts val="0"/>
              </a:spcBef>
            </a:pPr>
            <a:endParaRPr lang="ja-JP" altLang="en-US" sz="2000" b="1" dirty="0"/>
          </a:p>
          <a:p>
            <a:pPr>
              <a:spcBef>
                <a:spcPts val="0"/>
              </a:spcBef>
            </a:pPr>
            <a:r>
              <a:rPr lang="ja-JP" altLang="en-US" sz="2000" dirty="0">
                <a:solidFill>
                  <a:srgbClr val="FF0000"/>
                </a:solidFill>
              </a:rPr>
              <a:t>２分探索木</a:t>
            </a:r>
            <a:r>
              <a:rPr lang="en-US" altLang="ja-JP" sz="2000" dirty="0">
                <a:solidFill>
                  <a:srgbClr val="FF0000"/>
                </a:solidFill>
              </a:rPr>
              <a:t>(binary search tree)</a:t>
            </a:r>
            <a:r>
              <a:rPr lang="ja-JP" altLang="en-US" sz="2000" dirty="0"/>
              <a:t>と</a:t>
            </a:r>
            <a:r>
              <a:rPr lang="ja-JP" altLang="en-US" sz="2000" dirty="0" smtClean="0"/>
              <a:t>は，任意</a:t>
            </a:r>
            <a:r>
              <a:rPr lang="ja-JP" altLang="en-US" sz="2000" dirty="0"/>
              <a:t>の</a:t>
            </a:r>
            <a:r>
              <a:rPr lang="ja-JP" altLang="en-US" sz="2000" dirty="0" smtClean="0"/>
              <a:t>節点 </a:t>
            </a:r>
            <a:r>
              <a:rPr lang="en-US" altLang="ja-JP" sz="2000" dirty="0" smtClean="0"/>
              <a:t>u </a:t>
            </a:r>
            <a:r>
              <a:rPr lang="ja-JP" altLang="en-US" sz="2000" dirty="0" smtClean="0"/>
              <a:t>に</a:t>
            </a:r>
            <a:r>
              <a:rPr lang="ja-JP" altLang="en-US" sz="2000" dirty="0"/>
              <a:t>対して次の条件が成り立つ２分</a:t>
            </a:r>
            <a:r>
              <a:rPr lang="ja-JP" altLang="en-US" sz="2000" dirty="0" smtClean="0"/>
              <a:t>木のことである</a:t>
            </a:r>
            <a:endParaRPr lang="ja-JP" altLang="en-US" sz="2000" dirty="0"/>
          </a:p>
        </p:txBody>
      </p:sp>
      <p:sp>
        <p:nvSpPr>
          <p:cNvPr id="7188" name="Text Box 252"/>
          <p:cNvSpPr txBox="1">
            <a:spLocks noChangeArrowheads="1"/>
          </p:cNvSpPr>
          <p:nvPr/>
        </p:nvSpPr>
        <p:spPr bwMode="auto">
          <a:xfrm>
            <a:off x="568326" y="4001721"/>
            <a:ext cx="12362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u="sng" dirty="0" smtClean="0"/>
              <a:t>2</a:t>
            </a:r>
            <a:r>
              <a:rPr lang="ja-JP" altLang="en-US" u="sng" dirty="0" smtClean="0"/>
              <a:t>分木の例</a:t>
            </a:r>
          </a:p>
        </p:txBody>
      </p:sp>
      <p:sp>
        <p:nvSpPr>
          <p:cNvPr id="7201" name="Text Box 265"/>
          <p:cNvSpPr txBox="1">
            <a:spLocks noChangeArrowheads="1"/>
          </p:cNvSpPr>
          <p:nvPr/>
        </p:nvSpPr>
        <p:spPr bwMode="auto">
          <a:xfrm>
            <a:off x="2938463" y="4001721"/>
            <a:ext cx="169790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u="sng" dirty="0" smtClean="0"/>
              <a:t>2</a:t>
            </a:r>
            <a:r>
              <a:rPr lang="ja-JP" altLang="en-US" u="sng" dirty="0" smtClean="0"/>
              <a:t>分探索木の例</a:t>
            </a:r>
          </a:p>
        </p:txBody>
      </p:sp>
      <p:grpSp>
        <p:nvGrpSpPr>
          <p:cNvPr id="5" name="グループ化 4"/>
          <p:cNvGrpSpPr/>
          <p:nvPr/>
        </p:nvGrpSpPr>
        <p:grpSpPr>
          <a:xfrm>
            <a:off x="631219" y="4192458"/>
            <a:ext cx="1728787" cy="1847613"/>
            <a:chOff x="827088" y="4338508"/>
            <a:chExt cx="1728787" cy="1847613"/>
          </a:xfrm>
        </p:grpSpPr>
        <p:sp>
          <p:nvSpPr>
            <p:cNvPr id="7177" name="Oval 239"/>
            <p:cNvSpPr>
              <a:spLocks noChangeArrowheads="1"/>
            </p:cNvSpPr>
            <p:nvPr/>
          </p:nvSpPr>
          <p:spPr bwMode="auto">
            <a:xfrm>
              <a:off x="2052638" y="4674821"/>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7178" name="Oval 240"/>
            <p:cNvSpPr>
              <a:spLocks noChangeArrowheads="1"/>
            </p:cNvSpPr>
            <p:nvPr/>
          </p:nvSpPr>
          <p:spPr bwMode="auto">
            <a:xfrm>
              <a:off x="1763713" y="5106621"/>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7179" name="Oval 241"/>
            <p:cNvSpPr>
              <a:spLocks noChangeArrowheads="1"/>
            </p:cNvSpPr>
            <p:nvPr/>
          </p:nvSpPr>
          <p:spPr bwMode="auto">
            <a:xfrm>
              <a:off x="2339975" y="5106621"/>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7180" name="Oval 242"/>
            <p:cNvSpPr>
              <a:spLocks noChangeArrowheads="1"/>
            </p:cNvSpPr>
            <p:nvPr/>
          </p:nvSpPr>
          <p:spPr bwMode="auto">
            <a:xfrm>
              <a:off x="1476375" y="5538421"/>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7181" name="Oval 243"/>
            <p:cNvSpPr>
              <a:spLocks noChangeArrowheads="1"/>
            </p:cNvSpPr>
            <p:nvPr/>
          </p:nvSpPr>
          <p:spPr bwMode="auto">
            <a:xfrm>
              <a:off x="1979613" y="5538421"/>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7182" name="Oval 244"/>
            <p:cNvSpPr>
              <a:spLocks noChangeArrowheads="1"/>
            </p:cNvSpPr>
            <p:nvPr/>
          </p:nvSpPr>
          <p:spPr bwMode="auto">
            <a:xfrm>
              <a:off x="1763713" y="5970221"/>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7183" name="Line 246"/>
            <p:cNvSpPr>
              <a:spLocks noChangeShapeType="1"/>
            </p:cNvSpPr>
            <p:nvPr/>
          </p:nvSpPr>
          <p:spPr bwMode="auto">
            <a:xfrm flipH="1">
              <a:off x="1908175" y="4890721"/>
              <a:ext cx="144463"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7184" name="Line 247"/>
            <p:cNvSpPr>
              <a:spLocks noChangeShapeType="1"/>
            </p:cNvSpPr>
            <p:nvPr/>
          </p:nvSpPr>
          <p:spPr bwMode="auto">
            <a:xfrm flipH="1">
              <a:off x="1620838" y="5322521"/>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7185" name="Line 248"/>
            <p:cNvSpPr>
              <a:spLocks noChangeShapeType="1"/>
            </p:cNvSpPr>
            <p:nvPr/>
          </p:nvSpPr>
          <p:spPr bwMode="auto">
            <a:xfrm>
              <a:off x="2197100" y="4890721"/>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7186" name="Line 249"/>
            <p:cNvSpPr>
              <a:spLocks noChangeShapeType="1"/>
            </p:cNvSpPr>
            <p:nvPr/>
          </p:nvSpPr>
          <p:spPr bwMode="auto">
            <a:xfrm>
              <a:off x="1908175" y="5322521"/>
              <a:ext cx="144463"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7187" name="Line 250"/>
            <p:cNvSpPr>
              <a:spLocks noChangeShapeType="1"/>
            </p:cNvSpPr>
            <p:nvPr/>
          </p:nvSpPr>
          <p:spPr bwMode="auto">
            <a:xfrm flipH="1">
              <a:off x="1909763" y="5754321"/>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7189" name="Text Box 253"/>
            <p:cNvSpPr txBox="1">
              <a:spLocks noChangeArrowheads="1"/>
            </p:cNvSpPr>
            <p:nvPr/>
          </p:nvSpPr>
          <p:spPr bwMode="auto">
            <a:xfrm>
              <a:off x="1958429" y="4338508"/>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dirty="0" smtClean="0">
                  <a:solidFill>
                    <a:srgbClr val="FF3300"/>
                  </a:solidFill>
                </a:rPr>
                <a:t>根</a:t>
              </a:r>
            </a:p>
          </p:txBody>
        </p:sp>
        <p:sp>
          <p:nvSpPr>
            <p:cNvPr id="7209" name="Text Box 285"/>
            <p:cNvSpPr txBox="1">
              <a:spLocks noChangeArrowheads="1"/>
            </p:cNvSpPr>
            <p:nvPr/>
          </p:nvSpPr>
          <p:spPr bwMode="auto">
            <a:xfrm>
              <a:off x="1476549" y="4989844"/>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dirty="0" smtClean="0"/>
                <a:t>u</a:t>
              </a:r>
            </a:p>
          </p:txBody>
        </p:sp>
        <p:sp>
          <p:nvSpPr>
            <p:cNvPr id="7210" name="Text Box 286"/>
            <p:cNvSpPr txBox="1">
              <a:spLocks noChangeArrowheads="1"/>
            </p:cNvSpPr>
            <p:nvPr/>
          </p:nvSpPr>
          <p:spPr bwMode="auto">
            <a:xfrm>
              <a:off x="1187624" y="5435932"/>
              <a:ext cx="3000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v</a:t>
              </a:r>
            </a:p>
          </p:txBody>
        </p:sp>
        <p:sp>
          <p:nvSpPr>
            <p:cNvPr id="7211" name="Text Box 287"/>
            <p:cNvSpPr txBox="1">
              <a:spLocks noChangeArrowheads="1"/>
            </p:cNvSpPr>
            <p:nvPr/>
          </p:nvSpPr>
          <p:spPr bwMode="auto">
            <a:xfrm>
              <a:off x="827088" y="5705109"/>
              <a:ext cx="77457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solidFill>
                    <a:srgbClr val="FF3300"/>
                  </a:solidFill>
                </a:rPr>
                <a:t>u</a:t>
              </a:r>
              <a:r>
                <a:rPr lang="ja-JP" altLang="en-US" smtClean="0">
                  <a:solidFill>
                    <a:srgbClr val="FF3300"/>
                  </a:solidFill>
                </a:rPr>
                <a:t>の子</a:t>
              </a:r>
            </a:p>
          </p:txBody>
        </p:sp>
        <p:sp>
          <p:nvSpPr>
            <p:cNvPr id="7212" name="Text Box 288"/>
            <p:cNvSpPr txBox="1">
              <a:spLocks noChangeArrowheads="1"/>
            </p:cNvSpPr>
            <p:nvPr/>
          </p:nvSpPr>
          <p:spPr bwMode="auto">
            <a:xfrm>
              <a:off x="1216025" y="4786680"/>
              <a:ext cx="7617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dirty="0" smtClean="0">
                  <a:solidFill>
                    <a:srgbClr val="FF3300"/>
                  </a:solidFill>
                </a:rPr>
                <a:t>v</a:t>
              </a:r>
              <a:r>
                <a:rPr lang="ja-JP" altLang="en-US" dirty="0" smtClean="0">
                  <a:solidFill>
                    <a:srgbClr val="FF3300"/>
                  </a:solidFill>
                </a:rPr>
                <a:t>の親</a:t>
              </a:r>
            </a:p>
          </p:txBody>
        </p:sp>
      </p:grpSp>
      <p:grpSp>
        <p:nvGrpSpPr>
          <p:cNvPr id="6" name="グループ化 5"/>
          <p:cNvGrpSpPr/>
          <p:nvPr/>
        </p:nvGrpSpPr>
        <p:grpSpPr>
          <a:xfrm>
            <a:off x="2539920" y="4528771"/>
            <a:ext cx="3852832" cy="1981200"/>
            <a:chOff x="2784614" y="4351528"/>
            <a:chExt cx="3852832" cy="1981200"/>
          </a:xfrm>
        </p:grpSpPr>
        <p:sp>
          <p:nvSpPr>
            <p:cNvPr id="7190" name="Oval 254"/>
            <p:cNvSpPr>
              <a:spLocks noChangeArrowheads="1"/>
            </p:cNvSpPr>
            <p:nvPr/>
          </p:nvSpPr>
          <p:spPr bwMode="auto">
            <a:xfrm>
              <a:off x="4738578" y="435152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7</a:t>
              </a:r>
            </a:p>
          </p:txBody>
        </p:sp>
        <p:sp>
          <p:nvSpPr>
            <p:cNvPr id="7191" name="Oval 255"/>
            <p:cNvSpPr>
              <a:spLocks noChangeArrowheads="1"/>
            </p:cNvSpPr>
            <p:nvPr/>
          </p:nvSpPr>
          <p:spPr bwMode="auto">
            <a:xfrm>
              <a:off x="4449653" y="478332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3</a:t>
              </a:r>
            </a:p>
          </p:txBody>
        </p:sp>
        <p:sp>
          <p:nvSpPr>
            <p:cNvPr id="7192" name="Oval 256"/>
            <p:cNvSpPr>
              <a:spLocks noChangeArrowheads="1"/>
            </p:cNvSpPr>
            <p:nvPr/>
          </p:nvSpPr>
          <p:spPr bwMode="auto">
            <a:xfrm>
              <a:off x="5240144" y="470395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dirty="0">
                  <a:latin typeface="Arial" charset="0"/>
                  <a:ea typeface="ＭＳ Ｐゴシック" charset="0"/>
                  <a:cs typeface="ＭＳ Ｐゴシック" charset="0"/>
                </a:rPr>
                <a:t>10</a:t>
              </a:r>
            </a:p>
          </p:txBody>
        </p:sp>
        <p:sp>
          <p:nvSpPr>
            <p:cNvPr id="7193" name="Oval 257"/>
            <p:cNvSpPr>
              <a:spLocks noChangeArrowheads="1"/>
            </p:cNvSpPr>
            <p:nvPr/>
          </p:nvSpPr>
          <p:spPr bwMode="auto">
            <a:xfrm>
              <a:off x="4162316" y="521512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a:t>
              </a:r>
            </a:p>
          </p:txBody>
        </p:sp>
        <p:sp>
          <p:nvSpPr>
            <p:cNvPr id="7194" name="Oval 258"/>
            <p:cNvSpPr>
              <a:spLocks noChangeArrowheads="1"/>
            </p:cNvSpPr>
            <p:nvPr/>
          </p:nvSpPr>
          <p:spPr bwMode="auto">
            <a:xfrm>
              <a:off x="4665553" y="521512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4</a:t>
              </a:r>
            </a:p>
          </p:txBody>
        </p:sp>
        <p:sp>
          <p:nvSpPr>
            <p:cNvPr id="7195" name="Oval 259"/>
            <p:cNvSpPr>
              <a:spLocks noChangeArrowheads="1"/>
            </p:cNvSpPr>
            <p:nvPr/>
          </p:nvSpPr>
          <p:spPr bwMode="auto">
            <a:xfrm>
              <a:off x="4665553" y="607237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5</a:t>
              </a:r>
            </a:p>
          </p:txBody>
        </p:sp>
        <p:sp>
          <p:nvSpPr>
            <p:cNvPr id="7196" name="Line 260"/>
            <p:cNvSpPr>
              <a:spLocks noChangeShapeType="1"/>
            </p:cNvSpPr>
            <p:nvPr/>
          </p:nvSpPr>
          <p:spPr bwMode="auto">
            <a:xfrm flipH="1">
              <a:off x="4594115" y="4516629"/>
              <a:ext cx="179387" cy="26669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7197" name="Line 261"/>
            <p:cNvSpPr>
              <a:spLocks noChangeShapeType="1"/>
            </p:cNvSpPr>
            <p:nvPr/>
          </p:nvSpPr>
          <p:spPr bwMode="auto">
            <a:xfrm flipH="1">
              <a:off x="4306778" y="4999228"/>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7198" name="Line 262"/>
            <p:cNvSpPr>
              <a:spLocks noChangeShapeType="1"/>
            </p:cNvSpPr>
            <p:nvPr/>
          </p:nvSpPr>
          <p:spPr bwMode="auto">
            <a:xfrm>
              <a:off x="4954478" y="4516629"/>
              <a:ext cx="285666" cy="21431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7199" name="Line 263"/>
            <p:cNvSpPr>
              <a:spLocks noChangeShapeType="1"/>
            </p:cNvSpPr>
            <p:nvPr/>
          </p:nvSpPr>
          <p:spPr bwMode="auto">
            <a:xfrm>
              <a:off x="4594116" y="4999228"/>
              <a:ext cx="144462"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7200" name="Line 264"/>
            <p:cNvSpPr>
              <a:spLocks noChangeShapeType="1"/>
            </p:cNvSpPr>
            <p:nvPr/>
          </p:nvSpPr>
          <p:spPr bwMode="auto">
            <a:xfrm flipH="1">
              <a:off x="4811603" y="5856478"/>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7202" name="Oval 267"/>
            <p:cNvSpPr>
              <a:spLocks noChangeArrowheads="1"/>
            </p:cNvSpPr>
            <p:nvPr/>
          </p:nvSpPr>
          <p:spPr bwMode="auto">
            <a:xfrm>
              <a:off x="5095681" y="512940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8</a:t>
              </a:r>
            </a:p>
          </p:txBody>
        </p:sp>
        <p:sp>
          <p:nvSpPr>
            <p:cNvPr id="7203" name="Line 268"/>
            <p:cNvSpPr>
              <a:spLocks noChangeShapeType="1"/>
            </p:cNvSpPr>
            <p:nvPr/>
          </p:nvSpPr>
          <p:spPr bwMode="auto">
            <a:xfrm flipH="1">
              <a:off x="5206052" y="4911915"/>
              <a:ext cx="105527" cy="2174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7204" name="Oval 269"/>
            <p:cNvSpPr>
              <a:spLocks noChangeArrowheads="1"/>
            </p:cNvSpPr>
            <p:nvPr/>
          </p:nvSpPr>
          <p:spPr bwMode="auto">
            <a:xfrm>
              <a:off x="4881453" y="564057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6</a:t>
              </a:r>
            </a:p>
          </p:txBody>
        </p:sp>
        <p:sp>
          <p:nvSpPr>
            <p:cNvPr id="7205" name="Line 270"/>
            <p:cNvSpPr>
              <a:spLocks noChangeShapeType="1"/>
            </p:cNvSpPr>
            <p:nvPr/>
          </p:nvSpPr>
          <p:spPr bwMode="auto">
            <a:xfrm>
              <a:off x="4810016" y="5424678"/>
              <a:ext cx="144462"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7206" name="Text Box 281"/>
            <p:cNvSpPr txBox="1">
              <a:spLocks noChangeArrowheads="1"/>
            </p:cNvSpPr>
            <p:nvPr/>
          </p:nvSpPr>
          <p:spPr bwMode="auto">
            <a:xfrm>
              <a:off x="4072002" y="4674488"/>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u</a:t>
              </a:r>
            </a:p>
          </p:txBody>
        </p:sp>
        <p:sp>
          <p:nvSpPr>
            <p:cNvPr id="7207" name="Oval 283"/>
            <p:cNvSpPr>
              <a:spLocks noChangeArrowheads="1"/>
            </p:cNvSpPr>
            <p:nvPr/>
          </p:nvSpPr>
          <p:spPr bwMode="auto">
            <a:xfrm>
              <a:off x="4090878" y="5112639"/>
              <a:ext cx="360363" cy="426340"/>
            </a:xfrm>
            <a:prstGeom prst="ellipse">
              <a:avLst/>
            </a:prstGeom>
            <a:noFill/>
            <a:ln w="1270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7208" name="Oval 284"/>
            <p:cNvSpPr>
              <a:spLocks noChangeArrowheads="1"/>
            </p:cNvSpPr>
            <p:nvPr/>
          </p:nvSpPr>
          <p:spPr bwMode="auto">
            <a:xfrm>
              <a:off x="4456654" y="5162741"/>
              <a:ext cx="678427" cy="1169987"/>
            </a:xfrm>
            <a:prstGeom prst="ellipse">
              <a:avLst/>
            </a:prstGeom>
            <a:noFill/>
            <a:ln w="1270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7213" name="Text Box 289"/>
            <p:cNvSpPr txBox="1">
              <a:spLocks noChangeArrowheads="1"/>
            </p:cNvSpPr>
            <p:nvPr/>
          </p:nvSpPr>
          <p:spPr bwMode="auto">
            <a:xfrm>
              <a:off x="2784614" y="5502221"/>
              <a:ext cx="14670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dirty="0" smtClean="0">
                  <a:solidFill>
                    <a:srgbClr val="FF3300"/>
                  </a:solidFill>
                </a:rPr>
                <a:t>u</a:t>
              </a:r>
              <a:r>
                <a:rPr lang="ja-JP" altLang="en-US" dirty="0" smtClean="0">
                  <a:solidFill>
                    <a:srgbClr val="FF3300"/>
                  </a:solidFill>
                </a:rPr>
                <a:t>の左部分木</a:t>
              </a:r>
            </a:p>
          </p:txBody>
        </p:sp>
        <p:sp>
          <p:nvSpPr>
            <p:cNvPr id="7214" name="Text Box 290"/>
            <p:cNvSpPr txBox="1">
              <a:spLocks noChangeArrowheads="1"/>
            </p:cNvSpPr>
            <p:nvPr/>
          </p:nvSpPr>
          <p:spPr bwMode="auto">
            <a:xfrm>
              <a:off x="5170378" y="5493496"/>
              <a:ext cx="14670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dirty="0" smtClean="0">
                  <a:solidFill>
                    <a:srgbClr val="FF3300"/>
                  </a:solidFill>
                </a:rPr>
                <a:t>u</a:t>
              </a:r>
              <a:r>
                <a:rPr lang="ja-JP" altLang="en-US" dirty="0" smtClean="0">
                  <a:solidFill>
                    <a:srgbClr val="FF3300"/>
                  </a:solidFill>
                </a:rPr>
                <a:t>の右部分木</a:t>
              </a:r>
            </a:p>
          </p:txBody>
        </p:sp>
      </p:grpSp>
      <p:grpSp>
        <p:nvGrpSpPr>
          <p:cNvPr id="7" name="グループ化 6"/>
          <p:cNvGrpSpPr/>
          <p:nvPr/>
        </p:nvGrpSpPr>
        <p:grpSpPr>
          <a:xfrm>
            <a:off x="6476512" y="4476384"/>
            <a:ext cx="1865313" cy="1966913"/>
            <a:chOff x="7099300" y="4290646"/>
            <a:chExt cx="1865313" cy="1966913"/>
          </a:xfrm>
        </p:grpSpPr>
        <p:sp>
          <p:nvSpPr>
            <p:cNvPr id="7215" name="Oval 291"/>
            <p:cNvSpPr>
              <a:spLocks noChangeArrowheads="1"/>
            </p:cNvSpPr>
            <p:nvPr/>
          </p:nvSpPr>
          <p:spPr bwMode="auto">
            <a:xfrm>
              <a:off x="7812088" y="4290646"/>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5</a:t>
              </a:r>
            </a:p>
          </p:txBody>
        </p:sp>
        <p:sp>
          <p:nvSpPr>
            <p:cNvPr id="7216" name="Oval 292"/>
            <p:cNvSpPr>
              <a:spLocks noChangeArrowheads="1"/>
            </p:cNvSpPr>
            <p:nvPr/>
          </p:nvSpPr>
          <p:spPr bwMode="auto">
            <a:xfrm>
              <a:off x="7451725" y="4722446"/>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3</a:t>
              </a:r>
            </a:p>
          </p:txBody>
        </p:sp>
        <p:sp>
          <p:nvSpPr>
            <p:cNvPr id="7217" name="Oval 293"/>
            <p:cNvSpPr>
              <a:spLocks noChangeArrowheads="1"/>
            </p:cNvSpPr>
            <p:nvPr/>
          </p:nvSpPr>
          <p:spPr bwMode="auto">
            <a:xfrm>
              <a:off x="8172450" y="4724034"/>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7</a:t>
              </a:r>
            </a:p>
          </p:txBody>
        </p:sp>
        <p:sp>
          <p:nvSpPr>
            <p:cNvPr id="7218" name="Oval 294"/>
            <p:cNvSpPr>
              <a:spLocks noChangeArrowheads="1"/>
            </p:cNvSpPr>
            <p:nvPr/>
          </p:nvSpPr>
          <p:spPr bwMode="auto">
            <a:xfrm>
              <a:off x="7164388" y="5154246"/>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a:t>
              </a:r>
            </a:p>
          </p:txBody>
        </p:sp>
        <p:sp>
          <p:nvSpPr>
            <p:cNvPr id="7219" name="Oval 295"/>
            <p:cNvSpPr>
              <a:spLocks noChangeArrowheads="1"/>
            </p:cNvSpPr>
            <p:nvPr/>
          </p:nvSpPr>
          <p:spPr bwMode="auto">
            <a:xfrm>
              <a:off x="7667625" y="5154246"/>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4</a:t>
              </a:r>
            </a:p>
          </p:txBody>
        </p:sp>
        <p:sp>
          <p:nvSpPr>
            <p:cNvPr id="7220" name="Oval 296"/>
            <p:cNvSpPr>
              <a:spLocks noChangeArrowheads="1"/>
            </p:cNvSpPr>
            <p:nvPr/>
          </p:nvSpPr>
          <p:spPr bwMode="auto">
            <a:xfrm>
              <a:off x="8243888" y="5524134"/>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8</a:t>
              </a:r>
            </a:p>
          </p:txBody>
        </p:sp>
        <p:sp>
          <p:nvSpPr>
            <p:cNvPr id="7221" name="Line 297"/>
            <p:cNvSpPr>
              <a:spLocks noChangeShapeType="1"/>
            </p:cNvSpPr>
            <p:nvPr/>
          </p:nvSpPr>
          <p:spPr bwMode="auto">
            <a:xfrm flipH="1">
              <a:off x="7596188" y="4508134"/>
              <a:ext cx="215900" cy="21431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7222" name="Line 298"/>
            <p:cNvSpPr>
              <a:spLocks noChangeShapeType="1"/>
            </p:cNvSpPr>
            <p:nvPr/>
          </p:nvSpPr>
          <p:spPr bwMode="auto">
            <a:xfrm flipH="1">
              <a:off x="7308850" y="4938346"/>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7223" name="Line 299"/>
            <p:cNvSpPr>
              <a:spLocks noChangeShapeType="1"/>
            </p:cNvSpPr>
            <p:nvPr/>
          </p:nvSpPr>
          <p:spPr bwMode="auto">
            <a:xfrm>
              <a:off x="7956550" y="4508134"/>
              <a:ext cx="215900"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7224" name="Line 300"/>
            <p:cNvSpPr>
              <a:spLocks noChangeShapeType="1"/>
            </p:cNvSpPr>
            <p:nvPr/>
          </p:nvSpPr>
          <p:spPr bwMode="auto">
            <a:xfrm>
              <a:off x="7596188" y="4938346"/>
              <a:ext cx="144462"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7225" name="Line 301"/>
            <p:cNvSpPr>
              <a:spLocks noChangeShapeType="1"/>
            </p:cNvSpPr>
            <p:nvPr/>
          </p:nvSpPr>
          <p:spPr bwMode="auto">
            <a:xfrm flipH="1">
              <a:off x="8389938" y="5308234"/>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7226" name="Oval 302"/>
            <p:cNvSpPr>
              <a:spLocks noChangeArrowheads="1"/>
            </p:cNvSpPr>
            <p:nvPr/>
          </p:nvSpPr>
          <p:spPr bwMode="auto">
            <a:xfrm>
              <a:off x="8027988" y="5149484"/>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6</a:t>
              </a:r>
            </a:p>
          </p:txBody>
        </p:sp>
        <p:sp>
          <p:nvSpPr>
            <p:cNvPr id="7227" name="Line 303"/>
            <p:cNvSpPr>
              <a:spLocks noChangeShapeType="1"/>
            </p:cNvSpPr>
            <p:nvPr/>
          </p:nvSpPr>
          <p:spPr bwMode="auto">
            <a:xfrm flipH="1">
              <a:off x="8174038" y="4931996"/>
              <a:ext cx="69850" cy="2174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7228" name="Oval 304"/>
            <p:cNvSpPr>
              <a:spLocks noChangeArrowheads="1"/>
            </p:cNvSpPr>
            <p:nvPr/>
          </p:nvSpPr>
          <p:spPr bwMode="auto">
            <a:xfrm>
              <a:off x="8459788" y="5092334"/>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10</a:t>
              </a:r>
            </a:p>
          </p:txBody>
        </p:sp>
        <p:sp>
          <p:nvSpPr>
            <p:cNvPr id="7229" name="Line 305"/>
            <p:cNvSpPr>
              <a:spLocks noChangeShapeType="1"/>
            </p:cNvSpPr>
            <p:nvPr/>
          </p:nvSpPr>
          <p:spPr bwMode="auto">
            <a:xfrm>
              <a:off x="8388350" y="4876434"/>
              <a:ext cx="144463"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7230" name="Text Box 309"/>
            <p:cNvSpPr txBox="1">
              <a:spLocks noChangeArrowheads="1"/>
            </p:cNvSpPr>
            <p:nvPr/>
          </p:nvSpPr>
          <p:spPr bwMode="auto">
            <a:xfrm>
              <a:off x="7099300" y="5740034"/>
              <a:ext cx="1865313"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z="1400" smtClean="0"/>
                <a:t>同じ要素が格納された</a:t>
              </a:r>
            </a:p>
            <a:p>
              <a:pPr eaLnBrk="1" hangingPunct="1">
                <a:defRPr/>
              </a:pPr>
              <a:r>
                <a:rPr lang="ja-JP" altLang="en-US" sz="1400" smtClean="0"/>
                <a:t>異なる２分探索木</a:t>
              </a:r>
            </a:p>
          </p:txBody>
        </p:sp>
      </p:grpSp>
      <p:graphicFrame>
        <p:nvGraphicFramePr>
          <p:cNvPr id="4" name="表 3"/>
          <p:cNvGraphicFramePr>
            <a:graphicFrameLocks noGrp="1"/>
          </p:cNvGraphicFramePr>
          <p:nvPr>
            <p:extLst>
              <p:ext uri="{D42A27DB-BD31-4B8C-83A1-F6EECF244321}">
                <p14:modId xmlns:p14="http://schemas.microsoft.com/office/powerpoint/2010/main" val="993051439"/>
              </p:ext>
            </p:extLst>
          </p:nvPr>
        </p:nvGraphicFramePr>
        <p:xfrm>
          <a:off x="853765" y="2955331"/>
          <a:ext cx="7394426" cy="701040"/>
        </p:xfrm>
        <a:graphic>
          <a:graphicData uri="http://schemas.openxmlformats.org/drawingml/2006/table">
            <a:tbl>
              <a:tblPr firstRow="1" bandRow="1">
                <a:tableStyleId>{2D5ABB26-0587-4C30-8999-92F81FD0307C}</a:tableStyleId>
              </a:tblPr>
              <a:tblGrid>
                <a:gridCol w="2641898"/>
                <a:gridCol w="504056"/>
                <a:gridCol w="1152128"/>
                <a:gridCol w="432048"/>
                <a:gridCol w="2664296"/>
              </a:tblGrid>
              <a:tr h="370840">
                <a:tc>
                  <a:txBody>
                    <a:bodyPr/>
                    <a:lstStyle/>
                    <a:p>
                      <a:r>
                        <a:rPr lang="en-US" altLang="ja-JP" sz="2000" dirty="0" smtClean="0"/>
                        <a:t>u</a:t>
                      </a:r>
                      <a:r>
                        <a:rPr lang="ja-JP" altLang="en-US" sz="2000" dirty="0" smtClean="0"/>
                        <a:t>の左部分木の任意の節点の要素</a:t>
                      </a:r>
                      <a:endParaRPr kumimoji="1" lang="ja-JP" altLang="en-US" sz="2000" dirty="0"/>
                    </a:p>
                  </a:txBody>
                  <a:tcPr anchor="ctr"/>
                </a:tc>
                <a:tc>
                  <a:txBody>
                    <a:bodyPr/>
                    <a:lstStyle/>
                    <a:p>
                      <a:pPr algn="ctr"/>
                      <a:r>
                        <a:rPr kumimoji="1" lang="en-US" altLang="ja-JP" sz="2800" dirty="0" smtClean="0"/>
                        <a:t>&lt;</a:t>
                      </a:r>
                      <a:endParaRPr kumimoji="1" lang="ja-JP" altLang="en-US" sz="2800" dirty="0"/>
                    </a:p>
                  </a:txBody>
                  <a:tcPr anchor="ctr"/>
                </a:tc>
                <a:tc>
                  <a:txBody>
                    <a:bodyPr/>
                    <a:lstStyle/>
                    <a:p>
                      <a:pPr algn="ctr"/>
                      <a:r>
                        <a:rPr lang="en-US" altLang="ja-JP" sz="2000" dirty="0" smtClean="0"/>
                        <a:t>u</a:t>
                      </a:r>
                      <a:r>
                        <a:rPr lang="ja-JP" altLang="en-US" sz="2000" dirty="0" smtClean="0"/>
                        <a:t>の要素</a:t>
                      </a:r>
                      <a:endParaRPr kumimoji="1" lang="ja-JP" altLang="en-US" sz="2000" dirty="0"/>
                    </a:p>
                  </a:txBody>
                  <a:tcPr anchor="ctr"/>
                </a:tc>
                <a:tc>
                  <a:txBody>
                    <a:bodyPr/>
                    <a:lstStyle/>
                    <a:p>
                      <a:pPr algn="ctr"/>
                      <a:r>
                        <a:rPr kumimoji="1" lang="en-US" altLang="ja-JP" sz="2800" dirty="0" smtClean="0"/>
                        <a:t>&lt;</a:t>
                      </a:r>
                      <a:endParaRPr kumimoji="1" lang="ja-JP" altLang="en-US" sz="2800" dirty="0"/>
                    </a:p>
                  </a:txBody>
                  <a:tcPr anchor="ctr"/>
                </a:tc>
                <a:tc>
                  <a:txBody>
                    <a:bodyPr/>
                    <a:lstStyle/>
                    <a:p>
                      <a:r>
                        <a:rPr lang="en-US" altLang="ja-JP" sz="2000" dirty="0" smtClean="0"/>
                        <a:t>u</a:t>
                      </a:r>
                      <a:r>
                        <a:rPr lang="ja-JP" altLang="en-US" sz="2000" dirty="0" smtClean="0"/>
                        <a:t>の右部分木の任意の節点の要素</a:t>
                      </a:r>
                      <a:endParaRPr kumimoji="1" lang="ja-JP" altLang="en-US" sz="2000" dirty="0"/>
                    </a:p>
                  </a:txBody>
                  <a:tcPr anchor="ct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9" name="AutoShape 12"/>
          <p:cNvSpPr>
            <a:spLocks noChangeArrowheads="1"/>
          </p:cNvSpPr>
          <p:nvPr/>
        </p:nvSpPr>
        <p:spPr bwMode="auto">
          <a:xfrm>
            <a:off x="742999" y="1929856"/>
            <a:ext cx="5527809" cy="493836"/>
          </a:xfrm>
          <a:prstGeom prst="roundRect">
            <a:avLst>
              <a:gd name="adj" fmla="val 16667"/>
            </a:avLst>
          </a:prstGeom>
          <a:solidFill>
            <a:schemeClr val="bg1">
              <a:lumMod val="95000"/>
            </a:schemeClr>
          </a:solidFill>
          <a:ln w="9525">
            <a:solidFill>
              <a:schemeClr val="tx1"/>
            </a:solidFill>
            <a:round/>
            <a:headEnd/>
            <a:tailEnd/>
          </a:ln>
          <a:effectLst/>
          <a:extLst/>
        </p:spPr>
        <p:txBody>
          <a:bodyPr wrap="none" anchor="ctr"/>
          <a:lstStyle/>
          <a:p>
            <a:pPr lvl="0">
              <a:lnSpc>
                <a:spcPct val="140000"/>
              </a:lnSpc>
            </a:pPr>
            <a:r>
              <a:rPr lang="en-US" altLang="ja-JP" sz="2000" b="1" dirty="0">
                <a:solidFill>
                  <a:srgbClr val="000000"/>
                </a:solidFill>
              </a:rPr>
              <a:t>Step 1  </a:t>
            </a:r>
            <a:r>
              <a:rPr lang="en-US" altLang="ja-JP" sz="2000" dirty="0">
                <a:solidFill>
                  <a:srgbClr val="000000"/>
                </a:solidFill>
              </a:rPr>
              <a:t>u←</a:t>
            </a:r>
            <a:r>
              <a:rPr lang="ja-JP" altLang="en-US" sz="2000" dirty="0">
                <a:solidFill>
                  <a:srgbClr val="000000"/>
                </a:solidFill>
              </a:rPr>
              <a:t>根の節点</a:t>
            </a:r>
          </a:p>
        </p:txBody>
      </p:sp>
      <p:sp>
        <p:nvSpPr>
          <p:cNvPr id="8200" name="AutoShape 13"/>
          <p:cNvSpPr>
            <a:spLocks noChangeArrowheads="1"/>
          </p:cNvSpPr>
          <p:nvPr/>
        </p:nvSpPr>
        <p:spPr bwMode="auto">
          <a:xfrm>
            <a:off x="743000" y="2510210"/>
            <a:ext cx="5527809" cy="421357"/>
          </a:xfrm>
          <a:prstGeom prst="roundRect">
            <a:avLst>
              <a:gd name="adj" fmla="val 16667"/>
            </a:avLst>
          </a:prstGeom>
          <a:solidFill>
            <a:schemeClr val="bg1">
              <a:lumMod val="95000"/>
            </a:schemeClr>
          </a:solidFill>
          <a:ln w="9525">
            <a:solidFill>
              <a:schemeClr val="tx1"/>
            </a:solidFill>
            <a:round/>
            <a:headEnd/>
            <a:tailEnd/>
          </a:ln>
          <a:effectLst/>
          <a:extLst/>
        </p:spPr>
        <p:txBody>
          <a:bodyPr wrap="none" anchor="ctr"/>
          <a:lstStyle/>
          <a:p>
            <a:pPr lvl="0">
              <a:lnSpc>
                <a:spcPct val="140000"/>
              </a:lnSpc>
            </a:pPr>
            <a:r>
              <a:rPr lang="en-US" altLang="ja-JP" sz="2000" b="1" dirty="0">
                <a:solidFill>
                  <a:srgbClr val="000000"/>
                </a:solidFill>
              </a:rPr>
              <a:t>Step 2  </a:t>
            </a:r>
            <a:r>
              <a:rPr lang="en-US" altLang="ja-JP" sz="2000" dirty="0">
                <a:solidFill>
                  <a:srgbClr val="000000"/>
                </a:solidFill>
              </a:rPr>
              <a:t>y←</a:t>
            </a:r>
            <a:r>
              <a:rPr lang="ja-JP" altLang="en-US" sz="2000" dirty="0">
                <a:solidFill>
                  <a:srgbClr val="000000"/>
                </a:solidFill>
              </a:rPr>
              <a:t>節点</a:t>
            </a:r>
            <a:r>
              <a:rPr lang="en-US" altLang="ja-JP" sz="2000" dirty="0">
                <a:solidFill>
                  <a:srgbClr val="000000"/>
                </a:solidFill>
              </a:rPr>
              <a:t>u</a:t>
            </a:r>
            <a:r>
              <a:rPr lang="ja-JP" altLang="en-US" sz="2000" dirty="0">
                <a:solidFill>
                  <a:srgbClr val="000000"/>
                </a:solidFill>
              </a:rPr>
              <a:t>の要素</a:t>
            </a:r>
            <a:endParaRPr lang="ja-JP" altLang="en-US" sz="2000" dirty="0">
              <a:solidFill>
                <a:srgbClr val="000000"/>
              </a:solidFill>
            </a:endParaRPr>
          </a:p>
        </p:txBody>
      </p:sp>
      <p:sp>
        <p:nvSpPr>
          <p:cNvPr id="8201" name="AutoShape 14"/>
          <p:cNvSpPr>
            <a:spLocks noChangeArrowheads="1"/>
          </p:cNvSpPr>
          <p:nvPr/>
        </p:nvSpPr>
        <p:spPr bwMode="auto">
          <a:xfrm>
            <a:off x="735185" y="3044553"/>
            <a:ext cx="5535625" cy="2759777"/>
          </a:xfrm>
          <a:prstGeom prst="roundRect">
            <a:avLst>
              <a:gd name="adj" fmla="val 2847"/>
            </a:avLst>
          </a:prstGeom>
          <a:solidFill>
            <a:schemeClr val="bg1">
              <a:lumMod val="95000"/>
            </a:schemeClr>
          </a:solidFill>
          <a:ln w="9525">
            <a:solidFill>
              <a:schemeClr val="tx1"/>
            </a:solidFill>
            <a:round/>
            <a:headEnd/>
            <a:tailEnd/>
          </a:ln>
          <a:effectLst/>
          <a:extLst/>
        </p:spPr>
        <p:txBody>
          <a:bodyPr wrap="none" anchor="ctr"/>
          <a:lstStyle/>
          <a:p>
            <a:pPr lvl="0">
              <a:lnSpc>
                <a:spcPct val="140000"/>
              </a:lnSpc>
            </a:pPr>
            <a:r>
              <a:rPr lang="en-US" altLang="ja-JP" sz="2000" b="1" dirty="0">
                <a:solidFill>
                  <a:srgbClr val="000000"/>
                </a:solidFill>
              </a:rPr>
              <a:t>Step 3  </a:t>
            </a:r>
            <a:r>
              <a:rPr lang="en-US" altLang="ja-JP" sz="2000" dirty="0">
                <a:solidFill>
                  <a:srgbClr val="000000"/>
                </a:solidFill>
              </a:rPr>
              <a:t>if  x=y  then  yes</a:t>
            </a:r>
            <a:r>
              <a:rPr lang="ja-JP" altLang="en-US" sz="2000" dirty="0">
                <a:solidFill>
                  <a:srgbClr val="000000"/>
                </a:solidFill>
              </a:rPr>
              <a:t>を出力して停止</a:t>
            </a:r>
          </a:p>
          <a:p>
            <a:pPr lvl="0"/>
            <a:r>
              <a:rPr lang="ja-JP" altLang="en-US" sz="2000" dirty="0">
                <a:solidFill>
                  <a:srgbClr val="000000"/>
                </a:solidFill>
              </a:rPr>
              <a:t>　　　　　</a:t>
            </a:r>
            <a:r>
              <a:rPr lang="en-US" altLang="ja-JP" sz="2000" dirty="0">
                <a:solidFill>
                  <a:srgbClr val="000000"/>
                </a:solidFill>
              </a:rPr>
              <a:t>else if  x&gt;y  then </a:t>
            </a:r>
          </a:p>
          <a:p>
            <a:pPr lvl="0"/>
            <a:r>
              <a:rPr lang="en-US" altLang="ja-JP" sz="2000" dirty="0">
                <a:solidFill>
                  <a:srgbClr val="000000"/>
                </a:solidFill>
              </a:rPr>
              <a:t>                 if  </a:t>
            </a:r>
            <a:r>
              <a:rPr lang="ja-JP" altLang="en-US" sz="2000" dirty="0">
                <a:solidFill>
                  <a:srgbClr val="000000"/>
                </a:solidFill>
              </a:rPr>
              <a:t>右の子が存在  </a:t>
            </a:r>
            <a:r>
              <a:rPr lang="en-US" altLang="ja-JP" sz="2000" dirty="0">
                <a:solidFill>
                  <a:srgbClr val="000000"/>
                </a:solidFill>
              </a:rPr>
              <a:t>then  u←</a:t>
            </a:r>
            <a:r>
              <a:rPr lang="ja-JP" altLang="en-US" sz="2000" dirty="0">
                <a:solidFill>
                  <a:srgbClr val="000000"/>
                </a:solidFill>
              </a:rPr>
              <a:t>右の節点</a:t>
            </a:r>
          </a:p>
          <a:p>
            <a:pPr lvl="0"/>
            <a:r>
              <a:rPr lang="ja-JP" altLang="en-US" sz="2000" dirty="0">
                <a:solidFill>
                  <a:srgbClr val="000000"/>
                </a:solidFill>
              </a:rPr>
              <a:t>             　 </a:t>
            </a:r>
            <a:r>
              <a:rPr lang="en-US" altLang="ja-JP" sz="2000" dirty="0">
                <a:solidFill>
                  <a:srgbClr val="000000"/>
                </a:solidFill>
              </a:rPr>
              <a:t>else  no</a:t>
            </a:r>
            <a:r>
              <a:rPr lang="ja-JP" altLang="en-US" sz="2000" dirty="0">
                <a:solidFill>
                  <a:srgbClr val="000000"/>
                </a:solidFill>
              </a:rPr>
              <a:t>を出力して停止</a:t>
            </a:r>
          </a:p>
          <a:p>
            <a:pPr lvl="0"/>
            <a:r>
              <a:rPr lang="ja-JP" altLang="en-US" sz="2000" dirty="0">
                <a:solidFill>
                  <a:srgbClr val="000000"/>
                </a:solidFill>
              </a:rPr>
              <a:t>　　　　　</a:t>
            </a:r>
            <a:r>
              <a:rPr lang="en-US" altLang="ja-JP" sz="2000" dirty="0">
                <a:solidFill>
                  <a:srgbClr val="000000"/>
                </a:solidFill>
              </a:rPr>
              <a:t>else</a:t>
            </a:r>
          </a:p>
          <a:p>
            <a:pPr lvl="0"/>
            <a:r>
              <a:rPr lang="ja-JP" altLang="en-US" sz="2000" dirty="0">
                <a:solidFill>
                  <a:srgbClr val="000000"/>
                </a:solidFill>
              </a:rPr>
              <a:t>　　　　　　  </a:t>
            </a:r>
            <a:r>
              <a:rPr lang="en-US" altLang="ja-JP" sz="2000" dirty="0">
                <a:solidFill>
                  <a:srgbClr val="000000"/>
                </a:solidFill>
              </a:rPr>
              <a:t>if  </a:t>
            </a:r>
            <a:r>
              <a:rPr lang="ja-JP" altLang="en-US" sz="2000" dirty="0">
                <a:solidFill>
                  <a:srgbClr val="000000"/>
                </a:solidFill>
              </a:rPr>
              <a:t>左の子が存在  </a:t>
            </a:r>
            <a:r>
              <a:rPr lang="en-US" altLang="ja-JP" sz="2000" dirty="0">
                <a:solidFill>
                  <a:srgbClr val="000000"/>
                </a:solidFill>
              </a:rPr>
              <a:t>then  u←</a:t>
            </a:r>
            <a:r>
              <a:rPr lang="ja-JP" altLang="en-US" sz="2000" dirty="0">
                <a:solidFill>
                  <a:srgbClr val="000000"/>
                </a:solidFill>
              </a:rPr>
              <a:t>左の節点</a:t>
            </a:r>
          </a:p>
          <a:p>
            <a:pPr lvl="0"/>
            <a:r>
              <a:rPr lang="ja-JP" altLang="en-US" sz="2000" dirty="0">
                <a:solidFill>
                  <a:srgbClr val="000000"/>
                </a:solidFill>
              </a:rPr>
              <a:t>             　 </a:t>
            </a:r>
            <a:r>
              <a:rPr lang="en-US" altLang="ja-JP" sz="2000" dirty="0">
                <a:solidFill>
                  <a:srgbClr val="000000"/>
                </a:solidFill>
              </a:rPr>
              <a:t>else  no</a:t>
            </a:r>
            <a:r>
              <a:rPr lang="ja-JP" altLang="en-US" sz="2000" dirty="0">
                <a:solidFill>
                  <a:srgbClr val="000000"/>
                </a:solidFill>
              </a:rPr>
              <a:t>を出力して停止</a:t>
            </a:r>
          </a:p>
          <a:p>
            <a:pPr lvl="0"/>
            <a:r>
              <a:rPr lang="ja-JP" altLang="en-US" sz="2000" dirty="0">
                <a:solidFill>
                  <a:srgbClr val="000000"/>
                </a:solidFill>
              </a:rPr>
              <a:t>　　　　　</a:t>
            </a:r>
            <a:r>
              <a:rPr lang="en-US" altLang="ja-JP" sz="2000" dirty="0">
                <a:solidFill>
                  <a:srgbClr val="000000"/>
                </a:solidFill>
              </a:rPr>
              <a:t>Step 2</a:t>
            </a:r>
            <a:r>
              <a:rPr lang="ja-JP" altLang="en-US" sz="2000" dirty="0">
                <a:solidFill>
                  <a:srgbClr val="000000"/>
                </a:solidFill>
              </a:rPr>
              <a:t>へ</a:t>
            </a:r>
            <a:endParaRPr lang="ja-JP" altLang="en-US" sz="2000" dirty="0">
              <a:solidFill>
                <a:srgbClr val="000000"/>
              </a:solidFill>
            </a:endParaRPr>
          </a:p>
        </p:txBody>
      </p:sp>
      <p:sp>
        <p:nvSpPr>
          <p:cNvPr id="8196" name="スライド番号プレースホルダー 5"/>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fld id="{7E668185-5C4D-4392-B534-22C29B6A0B02}" type="slidenum">
              <a:rPr kumimoji="0" lang="en-US" altLang="ja-JP" sz="1200">
                <a:latin typeface="Arial Black" pitchFamily="34" charset="0"/>
              </a:rPr>
              <a:pPr/>
              <a:t>6</a:t>
            </a:fld>
            <a:endParaRPr kumimoji="0" lang="en-US" altLang="ja-JP" sz="1200">
              <a:latin typeface="Arial Black" pitchFamily="34" charset="0"/>
            </a:endParaRPr>
          </a:p>
        </p:txBody>
      </p:sp>
      <p:sp>
        <p:nvSpPr>
          <p:cNvPr id="8198" name="Text Box 5"/>
          <p:cNvSpPr txBox="1">
            <a:spLocks noChangeArrowheads="1"/>
          </p:cNvSpPr>
          <p:nvPr/>
        </p:nvSpPr>
        <p:spPr bwMode="auto">
          <a:xfrm>
            <a:off x="556358" y="1272492"/>
            <a:ext cx="294664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pPr>
              <a:lnSpc>
                <a:spcPct val="140000"/>
              </a:lnSpc>
            </a:pPr>
            <a:r>
              <a:rPr lang="en-US" altLang="ja-JP" sz="2000" dirty="0" smtClean="0"/>
              <a:t>member(</a:t>
            </a:r>
            <a:r>
              <a:rPr lang="en-US" altLang="ja-JP" sz="2000" dirty="0" err="1" smtClean="0"/>
              <a:t>x,S</a:t>
            </a:r>
            <a:r>
              <a:rPr lang="en-US" altLang="ja-JP" sz="2000" dirty="0" smtClean="0"/>
              <a:t>)</a:t>
            </a:r>
            <a:r>
              <a:rPr lang="ja-JP" altLang="en-US" sz="2000" dirty="0" smtClean="0"/>
              <a:t>の処理手順</a:t>
            </a:r>
            <a:endParaRPr lang="en-US" altLang="ja-JP" sz="2000" dirty="0"/>
          </a:p>
        </p:txBody>
      </p:sp>
      <p:sp>
        <p:nvSpPr>
          <p:cNvPr id="8202" name="Oval 22"/>
          <p:cNvSpPr>
            <a:spLocks noChangeArrowheads="1"/>
          </p:cNvSpPr>
          <p:nvPr/>
        </p:nvSpPr>
        <p:spPr bwMode="auto">
          <a:xfrm>
            <a:off x="7339593" y="143706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7</a:t>
            </a:r>
          </a:p>
        </p:txBody>
      </p:sp>
      <p:sp>
        <p:nvSpPr>
          <p:cNvPr id="8203" name="Oval 23"/>
          <p:cNvSpPr>
            <a:spLocks noChangeArrowheads="1"/>
          </p:cNvSpPr>
          <p:nvPr/>
        </p:nvSpPr>
        <p:spPr bwMode="auto">
          <a:xfrm>
            <a:off x="7050668" y="186886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3</a:t>
            </a:r>
          </a:p>
        </p:txBody>
      </p:sp>
      <p:sp>
        <p:nvSpPr>
          <p:cNvPr id="8204" name="Oval 24"/>
          <p:cNvSpPr>
            <a:spLocks noChangeArrowheads="1"/>
          </p:cNvSpPr>
          <p:nvPr/>
        </p:nvSpPr>
        <p:spPr bwMode="auto">
          <a:xfrm>
            <a:off x="7943637" y="1789485"/>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10</a:t>
            </a:r>
          </a:p>
        </p:txBody>
      </p:sp>
      <p:sp>
        <p:nvSpPr>
          <p:cNvPr id="8205" name="Oval 25"/>
          <p:cNvSpPr>
            <a:spLocks noChangeArrowheads="1"/>
          </p:cNvSpPr>
          <p:nvPr/>
        </p:nvSpPr>
        <p:spPr bwMode="auto">
          <a:xfrm>
            <a:off x="6763331" y="230066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a:t>
            </a:r>
          </a:p>
        </p:txBody>
      </p:sp>
      <p:sp>
        <p:nvSpPr>
          <p:cNvPr id="8206" name="Oval 26"/>
          <p:cNvSpPr>
            <a:spLocks noChangeArrowheads="1"/>
          </p:cNvSpPr>
          <p:nvPr/>
        </p:nvSpPr>
        <p:spPr bwMode="auto">
          <a:xfrm>
            <a:off x="7266568" y="230066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4</a:t>
            </a:r>
          </a:p>
        </p:txBody>
      </p:sp>
      <p:sp>
        <p:nvSpPr>
          <p:cNvPr id="8207" name="Oval 27"/>
          <p:cNvSpPr>
            <a:spLocks noChangeArrowheads="1"/>
          </p:cNvSpPr>
          <p:nvPr/>
        </p:nvSpPr>
        <p:spPr bwMode="auto">
          <a:xfrm>
            <a:off x="7266568" y="315791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5</a:t>
            </a:r>
          </a:p>
        </p:txBody>
      </p:sp>
      <p:sp>
        <p:nvSpPr>
          <p:cNvPr id="8208" name="Line 28"/>
          <p:cNvSpPr>
            <a:spLocks noChangeShapeType="1"/>
          </p:cNvSpPr>
          <p:nvPr/>
        </p:nvSpPr>
        <p:spPr bwMode="auto">
          <a:xfrm flipH="1">
            <a:off x="7195130" y="1652960"/>
            <a:ext cx="17462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8209" name="Line 29"/>
          <p:cNvSpPr>
            <a:spLocks noChangeShapeType="1"/>
          </p:cNvSpPr>
          <p:nvPr/>
        </p:nvSpPr>
        <p:spPr bwMode="auto">
          <a:xfrm flipH="1">
            <a:off x="6907793" y="2084760"/>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8210" name="Line 30"/>
          <p:cNvSpPr>
            <a:spLocks noChangeShapeType="1"/>
          </p:cNvSpPr>
          <p:nvPr/>
        </p:nvSpPr>
        <p:spPr bwMode="auto">
          <a:xfrm>
            <a:off x="7561844" y="1608882"/>
            <a:ext cx="389732" cy="23616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8211" name="Line 31"/>
          <p:cNvSpPr>
            <a:spLocks noChangeShapeType="1"/>
          </p:cNvSpPr>
          <p:nvPr/>
        </p:nvSpPr>
        <p:spPr bwMode="auto">
          <a:xfrm>
            <a:off x="7195131" y="2084760"/>
            <a:ext cx="144462"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8212" name="Line 32"/>
          <p:cNvSpPr>
            <a:spLocks noChangeShapeType="1"/>
          </p:cNvSpPr>
          <p:nvPr/>
        </p:nvSpPr>
        <p:spPr bwMode="auto">
          <a:xfrm flipH="1">
            <a:off x="7412618" y="2942010"/>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8213" name="Oval 33"/>
          <p:cNvSpPr>
            <a:spLocks noChangeArrowheads="1"/>
          </p:cNvSpPr>
          <p:nvPr/>
        </p:nvSpPr>
        <p:spPr bwMode="auto">
          <a:xfrm>
            <a:off x="7799174" y="2214935"/>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8</a:t>
            </a:r>
          </a:p>
        </p:txBody>
      </p:sp>
      <p:sp>
        <p:nvSpPr>
          <p:cNvPr id="8214" name="Line 34"/>
          <p:cNvSpPr>
            <a:spLocks noChangeShapeType="1"/>
          </p:cNvSpPr>
          <p:nvPr/>
        </p:nvSpPr>
        <p:spPr bwMode="auto">
          <a:xfrm flipH="1">
            <a:off x="7945224" y="1997447"/>
            <a:ext cx="69850" cy="2174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8215" name="Oval 35"/>
          <p:cNvSpPr>
            <a:spLocks noChangeArrowheads="1"/>
          </p:cNvSpPr>
          <p:nvPr/>
        </p:nvSpPr>
        <p:spPr bwMode="auto">
          <a:xfrm>
            <a:off x="7482468" y="272611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6</a:t>
            </a:r>
          </a:p>
        </p:txBody>
      </p:sp>
      <p:sp>
        <p:nvSpPr>
          <p:cNvPr id="8216" name="Line 36"/>
          <p:cNvSpPr>
            <a:spLocks noChangeShapeType="1"/>
          </p:cNvSpPr>
          <p:nvPr/>
        </p:nvSpPr>
        <p:spPr bwMode="auto">
          <a:xfrm>
            <a:off x="7411031" y="2510210"/>
            <a:ext cx="144462"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8217" name="Text Box 37"/>
          <p:cNvSpPr txBox="1">
            <a:spLocks noChangeArrowheads="1"/>
          </p:cNvSpPr>
          <p:nvPr/>
        </p:nvSpPr>
        <p:spPr bwMode="auto">
          <a:xfrm>
            <a:off x="7680966" y="1375520"/>
            <a:ext cx="292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b="1" dirty="0" smtClean="0">
                <a:solidFill>
                  <a:srgbClr val="FF3300"/>
                </a:solidFill>
              </a:rPr>
              <a:t>u</a:t>
            </a:r>
          </a:p>
        </p:txBody>
      </p:sp>
      <p:sp>
        <p:nvSpPr>
          <p:cNvPr id="8218" name="AutoShape 40"/>
          <p:cNvSpPr>
            <a:spLocks noChangeArrowheads="1"/>
          </p:cNvSpPr>
          <p:nvPr/>
        </p:nvSpPr>
        <p:spPr bwMode="auto">
          <a:xfrm>
            <a:off x="7609529" y="1464420"/>
            <a:ext cx="142875" cy="144462"/>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8219" name="Text Box 41"/>
          <p:cNvSpPr txBox="1">
            <a:spLocks noChangeArrowheads="1"/>
          </p:cNvSpPr>
          <p:nvPr/>
        </p:nvSpPr>
        <p:spPr bwMode="auto">
          <a:xfrm>
            <a:off x="6839531" y="1052885"/>
            <a:ext cx="12176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member(5,S)</a:t>
            </a:r>
          </a:p>
        </p:txBody>
      </p:sp>
      <p:sp>
        <p:nvSpPr>
          <p:cNvPr id="8220" name="Text Box 42"/>
          <p:cNvSpPr txBox="1">
            <a:spLocks noChangeArrowheads="1"/>
          </p:cNvSpPr>
          <p:nvPr/>
        </p:nvSpPr>
        <p:spPr bwMode="auto">
          <a:xfrm>
            <a:off x="6983993" y="1392610"/>
            <a:ext cx="3857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dirty="0" smtClean="0"/>
              <a:t>5&lt;</a:t>
            </a:r>
          </a:p>
        </p:txBody>
      </p:sp>
      <p:sp>
        <p:nvSpPr>
          <p:cNvPr id="8222" name="AutoShape 47"/>
          <p:cNvSpPr>
            <a:spLocks noChangeArrowheads="1"/>
          </p:cNvSpPr>
          <p:nvPr/>
        </p:nvSpPr>
        <p:spPr bwMode="auto">
          <a:xfrm flipH="1">
            <a:off x="7083212" y="2319105"/>
            <a:ext cx="142875" cy="144463"/>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8223" name="Text Box 48"/>
          <p:cNvSpPr txBox="1">
            <a:spLocks noChangeArrowheads="1"/>
          </p:cNvSpPr>
          <p:nvPr/>
        </p:nvSpPr>
        <p:spPr bwMode="auto">
          <a:xfrm>
            <a:off x="7429836" y="2253427"/>
            <a:ext cx="3857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dirty="0" smtClean="0"/>
              <a:t>&lt;5</a:t>
            </a:r>
          </a:p>
        </p:txBody>
      </p:sp>
      <p:sp>
        <p:nvSpPr>
          <p:cNvPr id="8225" name="AutoShape 50"/>
          <p:cNvSpPr>
            <a:spLocks noChangeArrowheads="1"/>
          </p:cNvSpPr>
          <p:nvPr/>
        </p:nvSpPr>
        <p:spPr bwMode="auto">
          <a:xfrm flipH="1">
            <a:off x="7305462" y="2787104"/>
            <a:ext cx="142875" cy="144463"/>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8226" name="Text Box 51"/>
          <p:cNvSpPr txBox="1">
            <a:spLocks noChangeArrowheads="1"/>
          </p:cNvSpPr>
          <p:nvPr/>
        </p:nvSpPr>
        <p:spPr bwMode="auto">
          <a:xfrm>
            <a:off x="7669916" y="2708647"/>
            <a:ext cx="3857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&lt;5</a:t>
            </a:r>
          </a:p>
        </p:txBody>
      </p:sp>
      <p:sp>
        <p:nvSpPr>
          <p:cNvPr id="8227" name="Text Box 52"/>
          <p:cNvSpPr txBox="1">
            <a:spLocks noChangeArrowheads="1"/>
          </p:cNvSpPr>
          <p:nvPr/>
        </p:nvSpPr>
        <p:spPr bwMode="auto">
          <a:xfrm>
            <a:off x="7207708" y="1829417"/>
            <a:ext cx="3857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dirty="0" smtClean="0"/>
              <a:t>&lt;5</a:t>
            </a:r>
          </a:p>
        </p:txBody>
      </p:sp>
      <p:sp>
        <p:nvSpPr>
          <p:cNvPr id="8229" name="AutoShape 54"/>
          <p:cNvSpPr>
            <a:spLocks noChangeArrowheads="1"/>
          </p:cNvSpPr>
          <p:nvPr/>
        </p:nvSpPr>
        <p:spPr bwMode="auto">
          <a:xfrm flipH="1">
            <a:off x="6837150" y="1894144"/>
            <a:ext cx="142875" cy="144462"/>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8231" name="AutoShape 57"/>
          <p:cNvSpPr>
            <a:spLocks noChangeArrowheads="1"/>
          </p:cNvSpPr>
          <p:nvPr/>
        </p:nvSpPr>
        <p:spPr bwMode="auto">
          <a:xfrm>
            <a:off x="7561843" y="3185021"/>
            <a:ext cx="142875" cy="144462"/>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8232" name="Text Box 58"/>
          <p:cNvSpPr txBox="1">
            <a:spLocks noChangeArrowheads="1"/>
          </p:cNvSpPr>
          <p:nvPr/>
        </p:nvSpPr>
        <p:spPr bwMode="auto">
          <a:xfrm>
            <a:off x="6880806" y="3104852"/>
            <a:ext cx="3857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dirty="0" smtClean="0"/>
              <a:t>5=</a:t>
            </a:r>
          </a:p>
        </p:txBody>
      </p:sp>
      <p:sp>
        <p:nvSpPr>
          <p:cNvPr id="8233" name="Text Box 59"/>
          <p:cNvSpPr txBox="1">
            <a:spLocks noChangeArrowheads="1"/>
          </p:cNvSpPr>
          <p:nvPr/>
        </p:nvSpPr>
        <p:spPr bwMode="auto">
          <a:xfrm>
            <a:off x="7148299" y="3573040"/>
            <a:ext cx="5095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yes!</a:t>
            </a:r>
          </a:p>
        </p:txBody>
      </p:sp>
      <p:sp>
        <p:nvSpPr>
          <p:cNvPr id="8234" name="AutoShape 60"/>
          <p:cNvSpPr>
            <a:spLocks noChangeArrowheads="1"/>
          </p:cNvSpPr>
          <p:nvPr/>
        </p:nvSpPr>
        <p:spPr bwMode="auto">
          <a:xfrm>
            <a:off x="7232437" y="3446040"/>
            <a:ext cx="287337" cy="144463"/>
          </a:xfrm>
          <a:prstGeom prst="downArrow">
            <a:avLst>
              <a:gd name="adj1" fmla="val 50000"/>
              <a:gd name="adj2" fmla="val 25000"/>
            </a:avLst>
          </a:prstGeom>
          <a:solidFill>
            <a:schemeClr val="bg1">
              <a:lumMod val="95000"/>
            </a:schemeClr>
          </a:solidFill>
          <a:ln w="9525">
            <a:solidFill>
              <a:schemeClr val="tx1"/>
            </a:solidFill>
            <a:miter lim="800000"/>
            <a:headEnd/>
            <a:tailEnd/>
          </a:ln>
          <a:effectLst/>
          <a:extLst/>
        </p:spPr>
        <p:txBody>
          <a:bodyPr vert="eaVert" wrap="none" anchor="ctr"/>
          <a:lstStyle/>
          <a:p>
            <a:pPr>
              <a:defRPr/>
            </a:pPr>
            <a:endParaRPr lang="ja-JP" altLang="en-US">
              <a:latin typeface="Arial" charset="0"/>
              <a:ea typeface="ＭＳ Ｐゴシック" charset="0"/>
              <a:cs typeface="ＭＳ Ｐゴシック" charset="0"/>
            </a:endParaRPr>
          </a:p>
        </p:txBody>
      </p:sp>
      <p:sp>
        <p:nvSpPr>
          <p:cNvPr id="8235" name="Oval 61"/>
          <p:cNvSpPr>
            <a:spLocks noChangeArrowheads="1"/>
          </p:cNvSpPr>
          <p:nvPr/>
        </p:nvSpPr>
        <p:spPr bwMode="auto">
          <a:xfrm>
            <a:off x="7496604" y="440733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7</a:t>
            </a:r>
          </a:p>
        </p:txBody>
      </p:sp>
      <p:sp>
        <p:nvSpPr>
          <p:cNvPr id="8236" name="Oval 62"/>
          <p:cNvSpPr>
            <a:spLocks noChangeArrowheads="1"/>
          </p:cNvSpPr>
          <p:nvPr/>
        </p:nvSpPr>
        <p:spPr bwMode="auto">
          <a:xfrm>
            <a:off x="7207679" y="483913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3</a:t>
            </a:r>
          </a:p>
        </p:txBody>
      </p:sp>
      <p:sp>
        <p:nvSpPr>
          <p:cNvPr id="8238" name="Oval 64"/>
          <p:cNvSpPr>
            <a:spLocks noChangeArrowheads="1"/>
          </p:cNvSpPr>
          <p:nvPr/>
        </p:nvSpPr>
        <p:spPr bwMode="auto">
          <a:xfrm>
            <a:off x="6920342" y="527093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a:t>
            </a:r>
          </a:p>
        </p:txBody>
      </p:sp>
      <p:sp>
        <p:nvSpPr>
          <p:cNvPr id="8239" name="Oval 65"/>
          <p:cNvSpPr>
            <a:spLocks noChangeArrowheads="1"/>
          </p:cNvSpPr>
          <p:nvPr/>
        </p:nvSpPr>
        <p:spPr bwMode="auto">
          <a:xfrm>
            <a:off x="7423579" y="527093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4</a:t>
            </a:r>
          </a:p>
        </p:txBody>
      </p:sp>
      <p:sp>
        <p:nvSpPr>
          <p:cNvPr id="8240" name="Oval 66"/>
          <p:cNvSpPr>
            <a:spLocks noChangeArrowheads="1"/>
          </p:cNvSpPr>
          <p:nvPr/>
        </p:nvSpPr>
        <p:spPr bwMode="auto">
          <a:xfrm>
            <a:off x="7423579" y="612818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5</a:t>
            </a:r>
          </a:p>
        </p:txBody>
      </p:sp>
      <p:sp>
        <p:nvSpPr>
          <p:cNvPr id="8241" name="Line 67"/>
          <p:cNvSpPr>
            <a:spLocks noChangeShapeType="1"/>
          </p:cNvSpPr>
          <p:nvPr/>
        </p:nvSpPr>
        <p:spPr bwMode="auto">
          <a:xfrm flipH="1">
            <a:off x="7352142" y="4623230"/>
            <a:ext cx="144462"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8242" name="Line 68"/>
          <p:cNvSpPr>
            <a:spLocks noChangeShapeType="1"/>
          </p:cNvSpPr>
          <p:nvPr/>
        </p:nvSpPr>
        <p:spPr bwMode="auto">
          <a:xfrm flipH="1">
            <a:off x="7064803" y="5055030"/>
            <a:ext cx="147209"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8244" name="Line 70"/>
          <p:cNvSpPr>
            <a:spLocks noChangeShapeType="1"/>
          </p:cNvSpPr>
          <p:nvPr/>
        </p:nvSpPr>
        <p:spPr bwMode="auto">
          <a:xfrm>
            <a:off x="7352142" y="5055030"/>
            <a:ext cx="144462"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8245" name="Line 71"/>
          <p:cNvSpPr>
            <a:spLocks noChangeShapeType="1"/>
          </p:cNvSpPr>
          <p:nvPr/>
        </p:nvSpPr>
        <p:spPr bwMode="auto">
          <a:xfrm flipH="1">
            <a:off x="7569629" y="5912280"/>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8248" name="Oval 74"/>
          <p:cNvSpPr>
            <a:spLocks noChangeArrowheads="1"/>
          </p:cNvSpPr>
          <p:nvPr/>
        </p:nvSpPr>
        <p:spPr bwMode="auto">
          <a:xfrm>
            <a:off x="7639479" y="569638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6</a:t>
            </a:r>
          </a:p>
        </p:txBody>
      </p:sp>
      <p:sp>
        <p:nvSpPr>
          <p:cNvPr id="8249" name="Line 75"/>
          <p:cNvSpPr>
            <a:spLocks noChangeShapeType="1"/>
          </p:cNvSpPr>
          <p:nvPr/>
        </p:nvSpPr>
        <p:spPr bwMode="auto">
          <a:xfrm>
            <a:off x="7568042" y="5480480"/>
            <a:ext cx="144462"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8250" name="Text Box 78"/>
          <p:cNvSpPr txBox="1">
            <a:spLocks noChangeArrowheads="1"/>
          </p:cNvSpPr>
          <p:nvPr/>
        </p:nvSpPr>
        <p:spPr bwMode="auto">
          <a:xfrm>
            <a:off x="6990192" y="4023155"/>
            <a:ext cx="12176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member(9,S)</a:t>
            </a:r>
          </a:p>
        </p:txBody>
      </p:sp>
      <p:sp>
        <p:nvSpPr>
          <p:cNvPr id="8251" name="Text Box 79"/>
          <p:cNvSpPr txBox="1">
            <a:spLocks noChangeArrowheads="1"/>
          </p:cNvSpPr>
          <p:nvPr/>
        </p:nvSpPr>
        <p:spPr bwMode="auto">
          <a:xfrm>
            <a:off x="7686587" y="4365625"/>
            <a:ext cx="3857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dirty="0" smtClean="0"/>
              <a:t>&lt;9</a:t>
            </a:r>
          </a:p>
        </p:txBody>
      </p:sp>
      <p:sp>
        <p:nvSpPr>
          <p:cNvPr id="8252" name="Text Box 82"/>
          <p:cNvSpPr txBox="1">
            <a:spLocks noChangeArrowheads="1"/>
          </p:cNvSpPr>
          <p:nvPr/>
        </p:nvSpPr>
        <p:spPr bwMode="auto">
          <a:xfrm>
            <a:off x="7855379" y="5175680"/>
            <a:ext cx="3857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&lt;9</a:t>
            </a:r>
          </a:p>
        </p:txBody>
      </p:sp>
      <p:sp>
        <p:nvSpPr>
          <p:cNvPr id="8253" name="Text Box 86"/>
          <p:cNvSpPr txBox="1">
            <a:spLocks noChangeArrowheads="1"/>
          </p:cNvSpPr>
          <p:nvPr/>
        </p:nvSpPr>
        <p:spPr bwMode="auto">
          <a:xfrm>
            <a:off x="7713175" y="4731180"/>
            <a:ext cx="3857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dirty="0" smtClean="0"/>
              <a:t>9&lt;</a:t>
            </a:r>
          </a:p>
        </p:txBody>
      </p:sp>
      <p:sp>
        <p:nvSpPr>
          <p:cNvPr id="8255" name="AutoShape 90"/>
          <p:cNvSpPr>
            <a:spLocks noChangeArrowheads="1"/>
          </p:cNvSpPr>
          <p:nvPr/>
        </p:nvSpPr>
        <p:spPr bwMode="auto">
          <a:xfrm>
            <a:off x="8358615" y="4785948"/>
            <a:ext cx="142875" cy="144463"/>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8257" name="Text Box 92"/>
          <p:cNvSpPr txBox="1">
            <a:spLocks noChangeArrowheads="1"/>
          </p:cNvSpPr>
          <p:nvPr/>
        </p:nvSpPr>
        <p:spPr bwMode="auto">
          <a:xfrm>
            <a:off x="8185944" y="6238147"/>
            <a:ext cx="4302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dirty="0" smtClean="0"/>
              <a:t>no!</a:t>
            </a:r>
          </a:p>
        </p:txBody>
      </p:sp>
      <p:sp>
        <p:nvSpPr>
          <p:cNvPr id="8258" name="AutoShape 93"/>
          <p:cNvSpPr>
            <a:spLocks noChangeArrowheads="1"/>
          </p:cNvSpPr>
          <p:nvPr/>
        </p:nvSpPr>
        <p:spPr bwMode="auto">
          <a:xfrm>
            <a:off x="8263062" y="6101499"/>
            <a:ext cx="287338" cy="144463"/>
          </a:xfrm>
          <a:prstGeom prst="downArrow">
            <a:avLst>
              <a:gd name="adj1" fmla="val 50000"/>
              <a:gd name="adj2" fmla="val 25000"/>
            </a:avLst>
          </a:prstGeom>
          <a:solidFill>
            <a:schemeClr val="bg1">
              <a:lumMod val="95000"/>
            </a:schemeClr>
          </a:solidFill>
          <a:ln w="9525">
            <a:solidFill>
              <a:schemeClr val="tx1"/>
            </a:solidFill>
            <a:miter lim="800000"/>
            <a:headEnd/>
            <a:tailEnd/>
          </a:ln>
          <a:effectLst/>
          <a:extLst/>
        </p:spPr>
        <p:txBody>
          <a:bodyPr vert="eaVert" wrap="none" anchor="ctr"/>
          <a:lstStyle/>
          <a:p>
            <a:endParaRPr lang="ja-JP" altLang="en-US">
              <a:latin typeface="Arial" charset="0"/>
              <a:ea typeface="ＭＳ Ｐゴシック" charset="0"/>
              <a:cs typeface="ＭＳ Ｐゴシック" charset="0"/>
            </a:endParaRPr>
          </a:p>
        </p:txBody>
      </p:sp>
      <p:sp>
        <p:nvSpPr>
          <p:cNvPr id="8259" name="Text Box 94"/>
          <p:cNvSpPr txBox="1">
            <a:spLocks noChangeArrowheads="1"/>
          </p:cNvSpPr>
          <p:nvPr/>
        </p:nvSpPr>
        <p:spPr bwMode="auto">
          <a:xfrm>
            <a:off x="7049081" y="4348336"/>
            <a:ext cx="292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b="1" dirty="0" smtClean="0">
                <a:solidFill>
                  <a:srgbClr val="FF3300"/>
                </a:solidFill>
              </a:rPr>
              <a:t>u</a:t>
            </a:r>
          </a:p>
        </p:txBody>
      </p:sp>
      <p:sp>
        <p:nvSpPr>
          <p:cNvPr id="8260" name="AutoShape 95"/>
          <p:cNvSpPr>
            <a:spLocks noChangeArrowheads="1"/>
          </p:cNvSpPr>
          <p:nvPr/>
        </p:nvSpPr>
        <p:spPr bwMode="auto">
          <a:xfrm flipH="1">
            <a:off x="7318559" y="4437236"/>
            <a:ext cx="142875" cy="144463"/>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8261" name="AutoShape 96"/>
          <p:cNvSpPr>
            <a:spLocks noChangeArrowheads="1"/>
          </p:cNvSpPr>
          <p:nvPr/>
        </p:nvSpPr>
        <p:spPr bwMode="auto">
          <a:xfrm flipH="1">
            <a:off x="7770478" y="5198698"/>
            <a:ext cx="142875" cy="144463"/>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8263" name="Line 98"/>
          <p:cNvSpPr>
            <a:spLocks noChangeShapeType="1"/>
          </p:cNvSpPr>
          <p:nvPr/>
        </p:nvSpPr>
        <p:spPr bwMode="auto">
          <a:xfrm>
            <a:off x="8143876" y="5380409"/>
            <a:ext cx="144462" cy="202653"/>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8264" name="Text Box 99"/>
          <p:cNvSpPr txBox="1">
            <a:spLocks noChangeArrowheads="1"/>
          </p:cNvSpPr>
          <p:nvPr/>
        </p:nvSpPr>
        <p:spPr bwMode="auto">
          <a:xfrm>
            <a:off x="7955817" y="5583062"/>
            <a:ext cx="904875" cy="52705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z="1400" smtClean="0">
                <a:solidFill>
                  <a:srgbClr val="FF0000"/>
                </a:solidFill>
              </a:rPr>
              <a:t>右の子が</a:t>
            </a:r>
          </a:p>
          <a:p>
            <a:pPr eaLnBrk="1" hangingPunct="1">
              <a:defRPr/>
            </a:pPr>
            <a:r>
              <a:rPr lang="ja-JP" altLang="en-US" sz="1400" smtClean="0">
                <a:solidFill>
                  <a:srgbClr val="FF0000"/>
                </a:solidFill>
              </a:rPr>
              <a:t>ない！</a:t>
            </a:r>
          </a:p>
        </p:txBody>
      </p:sp>
      <p:sp>
        <p:nvSpPr>
          <p:cNvPr id="4" name="タイトル 3"/>
          <p:cNvSpPr>
            <a:spLocks noGrp="1"/>
          </p:cNvSpPr>
          <p:nvPr>
            <p:ph type="title"/>
          </p:nvPr>
        </p:nvSpPr>
        <p:spPr>
          <a:xfrm>
            <a:off x="457200" y="332656"/>
            <a:ext cx="8229600" cy="667544"/>
          </a:xfrm>
        </p:spPr>
        <p:txBody>
          <a:bodyPr/>
          <a:lstStyle/>
          <a:p>
            <a:r>
              <a:rPr lang="ja-JP" altLang="en-US" sz="3200" dirty="0" smtClean="0"/>
              <a:t>２分探索木における操作（</a:t>
            </a:r>
            <a:r>
              <a:rPr lang="en-US" altLang="ja-JP" sz="3200" dirty="0" smtClean="0"/>
              <a:t>member</a:t>
            </a:r>
            <a:r>
              <a:rPr lang="ja-JP" altLang="en-US" sz="3200" dirty="0" smtClean="0"/>
              <a:t>操作）</a:t>
            </a:r>
            <a:endParaRPr kumimoji="1" lang="ja-JP" altLang="en-US" sz="3200" dirty="0"/>
          </a:p>
        </p:txBody>
      </p:sp>
      <p:sp>
        <p:nvSpPr>
          <p:cNvPr id="106" name="Oval 24"/>
          <p:cNvSpPr>
            <a:spLocks noChangeArrowheads="1"/>
          </p:cNvSpPr>
          <p:nvPr/>
        </p:nvSpPr>
        <p:spPr bwMode="auto">
          <a:xfrm>
            <a:off x="8100280" y="475023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10</a:t>
            </a:r>
          </a:p>
        </p:txBody>
      </p:sp>
      <p:sp>
        <p:nvSpPr>
          <p:cNvPr id="107" name="Line 30"/>
          <p:cNvSpPr>
            <a:spLocks noChangeShapeType="1"/>
          </p:cNvSpPr>
          <p:nvPr/>
        </p:nvSpPr>
        <p:spPr bwMode="auto">
          <a:xfrm>
            <a:off x="7718487" y="4569627"/>
            <a:ext cx="389732" cy="23616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08" name="Oval 33"/>
          <p:cNvSpPr>
            <a:spLocks noChangeArrowheads="1"/>
          </p:cNvSpPr>
          <p:nvPr/>
        </p:nvSpPr>
        <p:spPr bwMode="auto">
          <a:xfrm>
            <a:off x="7955817" y="517568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8</a:t>
            </a:r>
          </a:p>
        </p:txBody>
      </p:sp>
      <p:sp>
        <p:nvSpPr>
          <p:cNvPr id="109" name="Line 34"/>
          <p:cNvSpPr>
            <a:spLocks noChangeShapeType="1"/>
          </p:cNvSpPr>
          <p:nvPr/>
        </p:nvSpPr>
        <p:spPr bwMode="auto">
          <a:xfrm flipH="1">
            <a:off x="8101867" y="4958192"/>
            <a:ext cx="69850" cy="2174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0" name="Text Box 79"/>
          <p:cNvSpPr txBox="1">
            <a:spLocks noChangeArrowheads="1"/>
          </p:cNvSpPr>
          <p:nvPr/>
        </p:nvSpPr>
        <p:spPr bwMode="auto">
          <a:xfrm>
            <a:off x="8165734" y="5118530"/>
            <a:ext cx="3857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dirty="0" smtClean="0"/>
              <a:t>&lt;9</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6AC8D203-DEB7-44BC-9646-49EA64EF1BF8}" type="slidenum">
              <a:rPr lang="en-US" altLang="ja-JP" smtClean="0"/>
              <a:pPr/>
              <a:t>7</a:t>
            </a:fld>
            <a:endParaRPr lang="en-US" altLang="ja-JP"/>
          </a:p>
        </p:txBody>
      </p:sp>
      <p:sp>
        <p:nvSpPr>
          <p:cNvPr id="24" name="Text Box 120"/>
          <p:cNvSpPr txBox="1">
            <a:spLocks noChangeArrowheads="1"/>
          </p:cNvSpPr>
          <p:nvPr/>
        </p:nvSpPr>
        <p:spPr bwMode="auto">
          <a:xfrm>
            <a:off x="6784820" y="1871974"/>
            <a:ext cx="1001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dirty="0" smtClean="0"/>
              <a:t>insert(9,S)</a:t>
            </a:r>
          </a:p>
        </p:txBody>
      </p:sp>
      <p:sp>
        <p:nvSpPr>
          <p:cNvPr id="25" name="Text Box 121"/>
          <p:cNvSpPr txBox="1">
            <a:spLocks noChangeArrowheads="1"/>
          </p:cNvSpPr>
          <p:nvPr/>
        </p:nvSpPr>
        <p:spPr bwMode="auto">
          <a:xfrm>
            <a:off x="7420132" y="2240558"/>
            <a:ext cx="3857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&lt;9</a:t>
            </a:r>
          </a:p>
        </p:txBody>
      </p:sp>
      <p:sp>
        <p:nvSpPr>
          <p:cNvPr id="26" name="Text Box 122"/>
          <p:cNvSpPr txBox="1">
            <a:spLocks noChangeArrowheads="1"/>
          </p:cNvSpPr>
          <p:nvPr/>
        </p:nvSpPr>
        <p:spPr bwMode="auto">
          <a:xfrm>
            <a:off x="7852180" y="3024831"/>
            <a:ext cx="3857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dirty="0" smtClean="0"/>
              <a:t>&lt;9</a:t>
            </a:r>
          </a:p>
        </p:txBody>
      </p:sp>
      <p:sp>
        <p:nvSpPr>
          <p:cNvPr id="27" name="Text Box 123"/>
          <p:cNvSpPr txBox="1">
            <a:spLocks noChangeArrowheads="1"/>
          </p:cNvSpPr>
          <p:nvPr/>
        </p:nvSpPr>
        <p:spPr bwMode="auto">
          <a:xfrm>
            <a:off x="7462168" y="2596931"/>
            <a:ext cx="3857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dirty="0" smtClean="0"/>
              <a:t>9&lt;</a:t>
            </a:r>
          </a:p>
        </p:txBody>
      </p:sp>
      <p:sp>
        <p:nvSpPr>
          <p:cNvPr id="29" name="AutoShape 125"/>
          <p:cNvSpPr>
            <a:spLocks noChangeArrowheads="1"/>
          </p:cNvSpPr>
          <p:nvPr/>
        </p:nvSpPr>
        <p:spPr bwMode="auto">
          <a:xfrm>
            <a:off x="8105455" y="2661532"/>
            <a:ext cx="142875" cy="144462"/>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30" name="Text Box 129"/>
          <p:cNvSpPr txBox="1">
            <a:spLocks noChangeArrowheads="1"/>
          </p:cNvSpPr>
          <p:nvPr/>
        </p:nvSpPr>
        <p:spPr bwMode="auto">
          <a:xfrm>
            <a:off x="6847344" y="2237160"/>
            <a:ext cx="292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b="1" dirty="0" smtClean="0">
                <a:solidFill>
                  <a:srgbClr val="FF3300"/>
                </a:solidFill>
              </a:rPr>
              <a:t>u</a:t>
            </a:r>
          </a:p>
        </p:txBody>
      </p:sp>
      <p:sp>
        <p:nvSpPr>
          <p:cNvPr id="31" name="AutoShape 130"/>
          <p:cNvSpPr>
            <a:spLocks noChangeArrowheads="1"/>
          </p:cNvSpPr>
          <p:nvPr/>
        </p:nvSpPr>
        <p:spPr bwMode="auto">
          <a:xfrm flipH="1">
            <a:off x="7069594" y="2326060"/>
            <a:ext cx="142875" cy="144462"/>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32" name="AutoShape 131"/>
          <p:cNvSpPr>
            <a:spLocks noChangeArrowheads="1"/>
          </p:cNvSpPr>
          <p:nvPr/>
        </p:nvSpPr>
        <p:spPr bwMode="auto">
          <a:xfrm flipH="1">
            <a:off x="7522734" y="3106519"/>
            <a:ext cx="142875" cy="144462"/>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grpSp>
        <p:nvGrpSpPr>
          <p:cNvPr id="34" name="Group 138"/>
          <p:cNvGrpSpPr>
            <a:grpSpLocks/>
          </p:cNvGrpSpPr>
          <p:nvPr/>
        </p:nvGrpSpPr>
        <p:grpSpPr bwMode="auto">
          <a:xfrm>
            <a:off x="7875953" y="3253160"/>
            <a:ext cx="287338" cy="431800"/>
            <a:chOff x="1020" y="3748"/>
            <a:chExt cx="181" cy="272"/>
          </a:xfrm>
        </p:grpSpPr>
        <p:sp>
          <p:nvSpPr>
            <p:cNvPr id="35" name="Oval 135"/>
            <p:cNvSpPr>
              <a:spLocks noChangeArrowheads="1"/>
            </p:cNvSpPr>
            <p:nvPr/>
          </p:nvSpPr>
          <p:spPr bwMode="auto">
            <a:xfrm>
              <a:off x="1065" y="3884"/>
              <a:ext cx="136" cy="136"/>
            </a:xfrm>
            <a:prstGeom prst="ellipse">
              <a:avLst/>
            </a:prstGeom>
            <a:solidFill>
              <a:srgbClr val="FFFF00"/>
            </a:solidFill>
            <a:ln w="9525">
              <a:solidFill>
                <a:srgbClr val="FF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dirty="0">
                  <a:solidFill>
                    <a:srgbClr val="FF3300"/>
                  </a:solidFill>
                  <a:latin typeface="Arial" charset="0"/>
                  <a:ea typeface="ＭＳ Ｐゴシック" charset="0"/>
                  <a:cs typeface="ＭＳ Ｐゴシック" charset="0"/>
                </a:rPr>
                <a:t>9</a:t>
              </a:r>
            </a:p>
          </p:txBody>
        </p:sp>
        <p:sp>
          <p:nvSpPr>
            <p:cNvPr id="36" name="Line 136"/>
            <p:cNvSpPr>
              <a:spLocks noChangeShapeType="1"/>
            </p:cNvSpPr>
            <p:nvPr/>
          </p:nvSpPr>
          <p:spPr bwMode="auto">
            <a:xfrm>
              <a:off x="1020" y="3748"/>
              <a:ext cx="91" cy="136"/>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sp>
        <p:nvSpPr>
          <p:cNvPr id="37" name="タイトル 3"/>
          <p:cNvSpPr>
            <a:spLocks noGrp="1"/>
          </p:cNvSpPr>
          <p:nvPr>
            <p:ph type="title"/>
          </p:nvPr>
        </p:nvSpPr>
        <p:spPr>
          <a:xfrm>
            <a:off x="457200" y="332656"/>
            <a:ext cx="8229600" cy="667544"/>
          </a:xfrm>
        </p:spPr>
        <p:txBody>
          <a:bodyPr/>
          <a:lstStyle/>
          <a:p>
            <a:r>
              <a:rPr lang="ja-JP" altLang="en-US" sz="3200" dirty="0" smtClean="0"/>
              <a:t>２分探索木における操作（</a:t>
            </a:r>
            <a:r>
              <a:rPr lang="en-US" altLang="ja-JP" sz="3200" dirty="0" smtClean="0"/>
              <a:t>insert</a:t>
            </a:r>
            <a:r>
              <a:rPr lang="ja-JP" altLang="en-US" sz="3200" dirty="0" smtClean="0"/>
              <a:t>操作）</a:t>
            </a:r>
            <a:endParaRPr kumimoji="1" lang="ja-JP" altLang="en-US" sz="3200" dirty="0"/>
          </a:p>
        </p:txBody>
      </p:sp>
      <p:sp>
        <p:nvSpPr>
          <p:cNvPr id="38" name="AutoShape 12"/>
          <p:cNvSpPr>
            <a:spLocks noChangeArrowheads="1"/>
          </p:cNvSpPr>
          <p:nvPr/>
        </p:nvSpPr>
        <p:spPr bwMode="auto">
          <a:xfrm>
            <a:off x="742999" y="1929856"/>
            <a:ext cx="5527809" cy="493836"/>
          </a:xfrm>
          <a:prstGeom prst="roundRect">
            <a:avLst>
              <a:gd name="adj" fmla="val 16667"/>
            </a:avLst>
          </a:prstGeom>
          <a:solidFill>
            <a:schemeClr val="bg1">
              <a:lumMod val="95000"/>
            </a:schemeClr>
          </a:solidFill>
          <a:ln w="9525">
            <a:solidFill>
              <a:schemeClr val="tx1"/>
            </a:solidFill>
            <a:round/>
            <a:headEnd/>
            <a:tailEnd/>
          </a:ln>
          <a:effectLst/>
          <a:extLst/>
        </p:spPr>
        <p:txBody>
          <a:bodyPr wrap="none" anchor="ctr"/>
          <a:lstStyle/>
          <a:p>
            <a:pPr lvl="0">
              <a:lnSpc>
                <a:spcPct val="140000"/>
              </a:lnSpc>
            </a:pPr>
            <a:r>
              <a:rPr lang="en-US" altLang="ja-JP" sz="2000" b="1" dirty="0">
                <a:solidFill>
                  <a:srgbClr val="000000"/>
                </a:solidFill>
              </a:rPr>
              <a:t>Step 1  </a:t>
            </a:r>
            <a:r>
              <a:rPr lang="en-US" altLang="ja-JP" sz="2000" dirty="0">
                <a:solidFill>
                  <a:srgbClr val="000000"/>
                </a:solidFill>
              </a:rPr>
              <a:t>u←</a:t>
            </a:r>
            <a:r>
              <a:rPr lang="ja-JP" altLang="en-US" sz="2000" dirty="0">
                <a:solidFill>
                  <a:srgbClr val="000000"/>
                </a:solidFill>
              </a:rPr>
              <a:t>根の節点</a:t>
            </a:r>
          </a:p>
        </p:txBody>
      </p:sp>
      <p:sp>
        <p:nvSpPr>
          <p:cNvPr id="39" name="AutoShape 13"/>
          <p:cNvSpPr>
            <a:spLocks noChangeArrowheads="1"/>
          </p:cNvSpPr>
          <p:nvPr/>
        </p:nvSpPr>
        <p:spPr bwMode="auto">
          <a:xfrm>
            <a:off x="743000" y="2510210"/>
            <a:ext cx="5527809" cy="421357"/>
          </a:xfrm>
          <a:prstGeom prst="roundRect">
            <a:avLst>
              <a:gd name="adj" fmla="val 16667"/>
            </a:avLst>
          </a:prstGeom>
          <a:solidFill>
            <a:schemeClr val="bg1">
              <a:lumMod val="95000"/>
            </a:schemeClr>
          </a:solidFill>
          <a:ln w="9525">
            <a:solidFill>
              <a:schemeClr val="tx1"/>
            </a:solidFill>
            <a:round/>
            <a:headEnd/>
            <a:tailEnd/>
          </a:ln>
          <a:effectLst/>
          <a:extLst/>
        </p:spPr>
        <p:txBody>
          <a:bodyPr wrap="none" anchor="ctr"/>
          <a:lstStyle/>
          <a:p>
            <a:pPr lvl="0">
              <a:lnSpc>
                <a:spcPct val="140000"/>
              </a:lnSpc>
            </a:pPr>
            <a:r>
              <a:rPr lang="en-US" altLang="ja-JP" sz="2000" b="1" dirty="0">
                <a:solidFill>
                  <a:srgbClr val="000000"/>
                </a:solidFill>
              </a:rPr>
              <a:t>Step 2  </a:t>
            </a:r>
            <a:r>
              <a:rPr lang="en-US" altLang="ja-JP" sz="2000" dirty="0">
                <a:solidFill>
                  <a:srgbClr val="000000"/>
                </a:solidFill>
              </a:rPr>
              <a:t>y←</a:t>
            </a:r>
            <a:r>
              <a:rPr lang="ja-JP" altLang="en-US" sz="2000" dirty="0">
                <a:solidFill>
                  <a:srgbClr val="000000"/>
                </a:solidFill>
              </a:rPr>
              <a:t>節点</a:t>
            </a:r>
            <a:r>
              <a:rPr lang="en-US" altLang="ja-JP" sz="2000" dirty="0">
                <a:solidFill>
                  <a:srgbClr val="000000"/>
                </a:solidFill>
              </a:rPr>
              <a:t>u</a:t>
            </a:r>
            <a:r>
              <a:rPr lang="ja-JP" altLang="en-US" sz="2000" dirty="0">
                <a:solidFill>
                  <a:srgbClr val="000000"/>
                </a:solidFill>
              </a:rPr>
              <a:t>の要素</a:t>
            </a:r>
            <a:endParaRPr lang="ja-JP" altLang="en-US" sz="2000" dirty="0">
              <a:solidFill>
                <a:srgbClr val="000000"/>
              </a:solidFill>
            </a:endParaRPr>
          </a:p>
        </p:txBody>
      </p:sp>
      <p:sp>
        <p:nvSpPr>
          <p:cNvPr id="40" name="AutoShape 14"/>
          <p:cNvSpPr>
            <a:spLocks noChangeArrowheads="1"/>
          </p:cNvSpPr>
          <p:nvPr/>
        </p:nvSpPr>
        <p:spPr bwMode="auto">
          <a:xfrm>
            <a:off x="735185" y="3044553"/>
            <a:ext cx="5535625" cy="3336775"/>
          </a:xfrm>
          <a:prstGeom prst="roundRect">
            <a:avLst>
              <a:gd name="adj" fmla="val 2847"/>
            </a:avLst>
          </a:prstGeom>
          <a:solidFill>
            <a:schemeClr val="bg1">
              <a:lumMod val="95000"/>
            </a:schemeClr>
          </a:solidFill>
          <a:ln w="9525">
            <a:solidFill>
              <a:schemeClr val="tx1"/>
            </a:solidFill>
            <a:round/>
            <a:headEnd/>
            <a:tailEnd/>
          </a:ln>
          <a:effectLst/>
          <a:extLst/>
        </p:spPr>
        <p:txBody>
          <a:bodyPr wrap="none" anchor="ctr"/>
          <a:lstStyle/>
          <a:p>
            <a:pPr>
              <a:lnSpc>
                <a:spcPct val="140000"/>
              </a:lnSpc>
            </a:pPr>
            <a:r>
              <a:rPr lang="en-US" altLang="ja-JP" sz="2000" b="1" dirty="0" smtClean="0"/>
              <a:t>Step 3  </a:t>
            </a:r>
            <a:r>
              <a:rPr lang="en-US" altLang="ja-JP" sz="2000" dirty="0" smtClean="0"/>
              <a:t>if  x=y  then  </a:t>
            </a:r>
            <a:r>
              <a:rPr lang="ja-JP" altLang="en-US" sz="2000" dirty="0" smtClean="0"/>
              <a:t>何もしないで停止</a:t>
            </a:r>
          </a:p>
          <a:p>
            <a:r>
              <a:rPr lang="ja-JP" altLang="en-US" sz="2000" dirty="0" smtClean="0"/>
              <a:t>　　　　　</a:t>
            </a:r>
            <a:r>
              <a:rPr lang="en-US" altLang="ja-JP" sz="2000" dirty="0" smtClean="0"/>
              <a:t>else if  x&gt;y  then </a:t>
            </a:r>
          </a:p>
          <a:p>
            <a:r>
              <a:rPr lang="en-US" altLang="ja-JP" sz="2000" dirty="0" smtClean="0"/>
              <a:t>                 if  </a:t>
            </a:r>
            <a:r>
              <a:rPr lang="ja-JP" altLang="en-US" sz="2000" dirty="0" smtClean="0"/>
              <a:t>右の子が存在  </a:t>
            </a:r>
            <a:r>
              <a:rPr lang="en-US" altLang="ja-JP" sz="2000" dirty="0" smtClean="0"/>
              <a:t>then  u←</a:t>
            </a:r>
            <a:r>
              <a:rPr lang="ja-JP" altLang="en-US" sz="2000" dirty="0" smtClean="0"/>
              <a:t>右の節点</a:t>
            </a:r>
          </a:p>
          <a:p>
            <a:r>
              <a:rPr lang="ja-JP" altLang="en-US" sz="2000" dirty="0" smtClean="0"/>
              <a:t>             　 </a:t>
            </a:r>
            <a:r>
              <a:rPr lang="en-US" altLang="ja-JP" sz="2000" dirty="0" smtClean="0"/>
              <a:t>else  u</a:t>
            </a:r>
            <a:r>
              <a:rPr lang="ja-JP" altLang="en-US" sz="2000" dirty="0" smtClean="0"/>
              <a:t>の右の子として</a:t>
            </a:r>
            <a:r>
              <a:rPr lang="en-US" altLang="ja-JP" sz="2000" dirty="0" smtClean="0"/>
              <a:t>x</a:t>
            </a:r>
            <a:r>
              <a:rPr lang="ja-JP" altLang="en-US" sz="2000" dirty="0" smtClean="0"/>
              <a:t>を要素とする</a:t>
            </a:r>
            <a:r>
              <a:rPr lang="en-US" altLang="ja-JP" sz="2000" dirty="0" smtClean="0"/>
              <a:t/>
            </a:r>
            <a:br>
              <a:rPr lang="en-US" altLang="ja-JP" sz="2000" dirty="0" smtClean="0"/>
            </a:br>
            <a:r>
              <a:rPr lang="en-US" altLang="ja-JP" sz="2000" dirty="0" smtClean="0"/>
              <a:t>		</a:t>
            </a:r>
            <a:r>
              <a:rPr lang="ja-JP" altLang="en-US" sz="2000" dirty="0" smtClean="0"/>
              <a:t>節点を追加して停止</a:t>
            </a:r>
          </a:p>
          <a:p>
            <a:r>
              <a:rPr lang="ja-JP" altLang="en-US" sz="2000" dirty="0" smtClean="0"/>
              <a:t>　　　　　</a:t>
            </a:r>
            <a:r>
              <a:rPr lang="en-US" altLang="ja-JP" sz="2000" dirty="0" smtClean="0"/>
              <a:t>else</a:t>
            </a:r>
          </a:p>
          <a:p>
            <a:r>
              <a:rPr lang="ja-JP" altLang="en-US" sz="2000" dirty="0" smtClean="0"/>
              <a:t>　　　　　　  </a:t>
            </a:r>
            <a:r>
              <a:rPr lang="en-US" altLang="ja-JP" sz="2000" dirty="0" smtClean="0"/>
              <a:t>if  </a:t>
            </a:r>
            <a:r>
              <a:rPr lang="ja-JP" altLang="en-US" sz="2000" dirty="0" smtClean="0"/>
              <a:t>左の子が存在  </a:t>
            </a:r>
            <a:r>
              <a:rPr lang="en-US" altLang="ja-JP" sz="2000" dirty="0" smtClean="0"/>
              <a:t>then  u←</a:t>
            </a:r>
            <a:r>
              <a:rPr lang="ja-JP" altLang="en-US" sz="2000" dirty="0" smtClean="0"/>
              <a:t>左の節点</a:t>
            </a:r>
          </a:p>
          <a:p>
            <a:r>
              <a:rPr lang="ja-JP" altLang="en-US" sz="2000" dirty="0" smtClean="0"/>
              <a:t>             　 </a:t>
            </a:r>
            <a:r>
              <a:rPr lang="en-US" altLang="ja-JP" sz="2000" dirty="0" smtClean="0"/>
              <a:t>else  u</a:t>
            </a:r>
            <a:r>
              <a:rPr lang="ja-JP" altLang="en-US" sz="2000" dirty="0" smtClean="0"/>
              <a:t>の左の子として</a:t>
            </a:r>
            <a:r>
              <a:rPr lang="en-US" altLang="ja-JP" sz="2000" dirty="0" smtClean="0"/>
              <a:t>x</a:t>
            </a:r>
            <a:r>
              <a:rPr lang="ja-JP" altLang="en-US" sz="2000" dirty="0" smtClean="0"/>
              <a:t>を要素とする</a:t>
            </a:r>
            <a:r>
              <a:rPr lang="en-US" altLang="ja-JP" sz="2000" dirty="0" smtClean="0"/>
              <a:t/>
            </a:r>
            <a:br>
              <a:rPr lang="en-US" altLang="ja-JP" sz="2000" dirty="0" smtClean="0"/>
            </a:br>
            <a:r>
              <a:rPr lang="en-US" altLang="ja-JP" sz="2000" dirty="0" smtClean="0"/>
              <a:t>		</a:t>
            </a:r>
            <a:r>
              <a:rPr lang="ja-JP" altLang="en-US" sz="2000" dirty="0" smtClean="0"/>
              <a:t>節点を追加して停止</a:t>
            </a:r>
          </a:p>
          <a:p>
            <a:r>
              <a:rPr lang="ja-JP" altLang="en-US" sz="2000" dirty="0" smtClean="0"/>
              <a:t>　　　　　</a:t>
            </a:r>
            <a:r>
              <a:rPr lang="en-US" altLang="ja-JP" sz="2000" dirty="0" smtClean="0"/>
              <a:t>Step 2</a:t>
            </a:r>
            <a:r>
              <a:rPr lang="ja-JP" altLang="en-US" sz="2000" dirty="0" smtClean="0"/>
              <a:t>へ</a:t>
            </a:r>
            <a:endParaRPr lang="ja-JP" altLang="en-US" sz="2000" dirty="0"/>
          </a:p>
        </p:txBody>
      </p:sp>
      <p:sp>
        <p:nvSpPr>
          <p:cNvPr id="41" name="Text Box 5"/>
          <p:cNvSpPr txBox="1">
            <a:spLocks noChangeArrowheads="1"/>
          </p:cNvSpPr>
          <p:nvPr/>
        </p:nvSpPr>
        <p:spPr bwMode="auto">
          <a:xfrm>
            <a:off x="556358" y="1272492"/>
            <a:ext cx="271901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pPr>
              <a:lnSpc>
                <a:spcPct val="140000"/>
              </a:lnSpc>
            </a:pPr>
            <a:r>
              <a:rPr lang="en-US" altLang="ja-JP" sz="2000" dirty="0" smtClean="0"/>
              <a:t>insert(</a:t>
            </a:r>
            <a:r>
              <a:rPr lang="en-US" altLang="ja-JP" sz="2000" dirty="0" err="1" smtClean="0"/>
              <a:t>x,S</a:t>
            </a:r>
            <a:r>
              <a:rPr lang="en-US" altLang="ja-JP" sz="2000" dirty="0" smtClean="0"/>
              <a:t>)</a:t>
            </a:r>
            <a:r>
              <a:rPr lang="ja-JP" altLang="en-US" sz="2000" dirty="0" smtClean="0"/>
              <a:t>の処理手順</a:t>
            </a:r>
            <a:endParaRPr lang="en-US" altLang="ja-JP" sz="2000" dirty="0"/>
          </a:p>
        </p:txBody>
      </p:sp>
      <p:sp>
        <p:nvSpPr>
          <p:cNvPr id="42" name="Oval 22"/>
          <p:cNvSpPr>
            <a:spLocks noChangeArrowheads="1"/>
          </p:cNvSpPr>
          <p:nvPr/>
        </p:nvSpPr>
        <p:spPr bwMode="auto">
          <a:xfrm>
            <a:off x="7235397" y="228161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7</a:t>
            </a:r>
          </a:p>
        </p:txBody>
      </p:sp>
      <p:sp>
        <p:nvSpPr>
          <p:cNvPr id="43" name="Oval 23"/>
          <p:cNvSpPr>
            <a:spLocks noChangeArrowheads="1"/>
          </p:cNvSpPr>
          <p:nvPr/>
        </p:nvSpPr>
        <p:spPr bwMode="auto">
          <a:xfrm>
            <a:off x="6946472" y="271341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3</a:t>
            </a:r>
          </a:p>
        </p:txBody>
      </p:sp>
      <p:sp>
        <p:nvSpPr>
          <p:cNvPr id="44" name="Oval 24"/>
          <p:cNvSpPr>
            <a:spLocks noChangeArrowheads="1"/>
          </p:cNvSpPr>
          <p:nvPr/>
        </p:nvSpPr>
        <p:spPr bwMode="auto">
          <a:xfrm>
            <a:off x="7839441" y="2634035"/>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10</a:t>
            </a:r>
          </a:p>
        </p:txBody>
      </p:sp>
      <p:sp>
        <p:nvSpPr>
          <p:cNvPr id="45" name="Oval 25"/>
          <p:cNvSpPr>
            <a:spLocks noChangeArrowheads="1"/>
          </p:cNvSpPr>
          <p:nvPr/>
        </p:nvSpPr>
        <p:spPr bwMode="auto">
          <a:xfrm>
            <a:off x="6659135" y="314521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a:t>
            </a:r>
          </a:p>
        </p:txBody>
      </p:sp>
      <p:sp>
        <p:nvSpPr>
          <p:cNvPr id="46" name="Oval 26"/>
          <p:cNvSpPr>
            <a:spLocks noChangeArrowheads="1"/>
          </p:cNvSpPr>
          <p:nvPr/>
        </p:nvSpPr>
        <p:spPr bwMode="auto">
          <a:xfrm>
            <a:off x="7162372" y="314521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4</a:t>
            </a:r>
          </a:p>
        </p:txBody>
      </p:sp>
      <p:sp>
        <p:nvSpPr>
          <p:cNvPr id="47" name="Oval 27"/>
          <p:cNvSpPr>
            <a:spLocks noChangeArrowheads="1"/>
          </p:cNvSpPr>
          <p:nvPr/>
        </p:nvSpPr>
        <p:spPr bwMode="auto">
          <a:xfrm>
            <a:off x="7162372" y="400246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5</a:t>
            </a:r>
          </a:p>
        </p:txBody>
      </p:sp>
      <p:sp>
        <p:nvSpPr>
          <p:cNvPr id="48" name="Line 28"/>
          <p:cNvSpPr>
            <a:spLocks noChangeShapeType="1"/>
          </p:cNvSpPr>
          <p:nvPr/>
        </p:nvSpPr>
        <p:spPr bwMode="auto">
          <a:xfrm flipH="1">
            <a:off x="7090934" y="2497510"/>
            <a:ext cx="17462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49" name="Line 29"/>
          <p:cNvSpPr>
            <a:spLocks noChangeShapeType="1"/>
          </p:cNvSpPr>
          <p:nvPr/>
        </p:nvSpPr>
        <p:spPr bwMode="auto">
          <a:xfrm flipH="1">
            <a:off x="6803597" y="2929310"/>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50" name="Line 30"/>
          <p:cNvSpPr>
            <a:spLocks noChangeShapeType="1"/>
          </p:cNvSpPr>
          <p:nvPr/>
        </p:nvSpPr>
        <p:spPr bwMode="auto">
          <a:xfrm>
            <a:off x="7457648" y="2453432"/>
            <a:ext cx="389732" cy="23616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51" name="Line 31"/>
          <p:cNvSpPr>
            <a:spLocks noChangeShapeType="1"/>
          </p:cNvSpPr>
          <p:nvPr/>
        </p:nvSpPr>
        <p:spPr bwMode="auto">
          <a:xfrm>
            <a:off x="7090935" y="2929310"/>
            <a:ext cx="144462"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52" name="Line 32"/>
          <p:cNvSpPr>
            <a:spLocks noChangeShapeType="1"/>
          </p:cNvSpPr>
          <p:nvPr/>
        </p:nvSpPr>
        <p:spPr bwMode="auto">
          <a:xfrm flipH="1">
            <a:off x="7308422" y="3786560"/>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53" name="Oval 33"/>
          <p:cNvSpPr>
            <a:spLocks noChangeArrowheads="1"/>
          </p:cNvSpPr>
          <p:nvPr/>
        </p:nvSpPr>
        <p:spPr bwMode="auto">
          <a:xfrm>
            <a:off x="7694978" y="3059485"/>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8</a:t>
            </a:r>
          </a:p>
        </p:txBody>
      </p:sp>
      <p:sp>
        <p:nvSpPr>
          <p:cNvPr id="54" name="Line 34"/>
          <p:cNvSpPr>
            <a:spLocks noChangeShapeType="1"/>
          </p:cNvSpPr>
          <p:nvPr/>
        </p:nvSpPr>
        <p:spPr bwMode="auto">
          <a:xfrm flipH="1">
            <a:off x="7841028" y="2841997"/>
            <a:ext cx="69850" cy="2174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55" name="Oval 35"/>
          <p:cNvSpPr>
            <a:spLocks noChangeArrowheads="1"/>
          </p:cNvSpPr>
          <p:nvPr/>
        </p:nvSpPr>
        <p:spPr bwMode="auto">
          <a:xfrm>
            <a:off x="7378272" y="357066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6</a:t>
            </a:r>
          </a:p>
        </p:txBody>
      </p:sp>
      <p:sp>
        <p:nvSpPr>
          <p:cNvPr id="56" name="Line 36"/>
          <p:cNvSpPr>
            <a:spLocks noChangeShapeType="1"/>
          </p:cNvSpPr>
          <p:nvPr/>
        </p:nvSpPr>
        <p:spPr bwMode="auto">
          <a:xfrm>
            <a:off x="7306835" y="3354760"/>
            <a:ext cx="144462"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2045113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ox(in)">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3" name="AutoShape 885"/>
          <p:cNvSpPr>
            <a:spLocks noChangeArrowheads="1"/>
          </p:cNvSpPr>
          <p:nvPr/>
        </p:nvSpPr>
        <p:spPr bwMode="auto">
          <a:xfrm>
            <a:off x="231775" y="1557338"/>
            <a:ext cx="4897438" cy="293687"/>
          </a:xfrm>
          <a:prstGeom prst="roundRect">
            <a:avLst>
              <a:gd name="adj" fmla="val 16667"/>
            </a:avLst>
          </a:prstGeom>
          <a:solidFill>
            <a:schemeClr val="bg1">
              <a:lumMod val="95000"/>
            </a:schemeClr>
          </a:solidFill>
          <a:ln w="9525">
            <a:solidFill>
              <a:schemeClr val="tx1"/>
            </a:solidFill>
            <a:round/>
            <a:headEnd/>
            <a:tailEnd/>
          </a:ln>
          <a:effectLs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9224" name="AutoShape 886"/>
          <p:cNvSpPr>
            <a:spLocks noChangeArrowheads="1"/>
          </p:cNvSpPr>
          <p:nvPr/>
        </p:nvSpPr>
        <p:spPr bwMode="auto">
          <a:xfrm>
            <a:off x="231775" y="1944688"/>
            <a:ext cx="4897438" cy="265112"/>
          </a:xfrm>
          <a:prstGeom prst="roundRect">
            <a:avLst>
              <a:gd name="adj" fmla="val 16667"/>
            </a:avLst>
          </a:prstGeom>
          <a:solidFill>
            <a:schemeClr val="bg1">
              <a:lumMod val="95000"/>
            </a:schemeClr>
          </a:solidFill>
          <a:ln w="9525">
            <a:solidFill>
              <a:schemeClr val="tx1"/>
            </a:solidFill>
            <a:round/>
            <a:headEnd/>
            <a:tailEnd/>
          </a:ln>
          <a:effectLs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9225" name="AutoShape 887"/>
          <p:cNvSpPr>
            <a:spLocks noChangeArrowheads="1"/>
          </p:cNvSpPr>
          <p:nvPr/>
        </p:nvSpPr>
        <p:spPr bwMode="auto">
          <a:xfrm>
            <a:off x="231775" y="2306638"/>
            <a:ext cx="4897438" cy="2201862"/>
          </a:xfrm>
          <a:prstGeom prst="roundRect">
            <a:avLst>
              <a:gd name="adj" fmla="val 4954"/>
            </a:avLst>
          </a:prstGeom>
          <a:solidFill>
            <a:schemeClr val="bg1">
              <a:lumMod val="95000"/>
            </a:schemeClr>
          </a:solidFill>
          <a:ln w="9525">
            <a:solidFill>
              <a:schemeClr val="tx1"/>
            </a:solidFill>
            <a:round/>
            <a:headEnd/>
            <a:tailEnd/>
          </a:ln>
          <a:effectLs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9226" name="AutoShape 893"/>
          <p:cNvSpPr>
            <a:spLocks noChangeArrowheads="1"/>
          </p:cNvSpPr>
          <p:nvPr/>
        </p:nvSpPr>
        <p:spPr bwMode="auto">
          <a:xfrm>
            <a:off x="250825" y="4574179"/>
            <a:ext cx="7777163" cy="1015062"/>
          </a:xfrm>
          <a:prstGeom prst="roundRect">
            <a:avLst>
              <a:gd name="adj" fmla="val 6704"/>
            </a:avLst>
          </a:prstGeom>
          <a:solidFill>
            <a:schemeClr val="bg1">
              <a:lumMod val="95000"/>
            </a:schemeClr>
          </a:solidFill>
          <a:ln w="9525">
            <a:solidFill>
              <a:schemeClr val="tx1"/>
            </a:solidFill>
            <a:round/>
            <a:headEnd/>
            <a:tailEnd/>
          </a:ln>
          <a:effectLs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9227" name="AutoShape 894"/>
          <p:cNvSpPr>
            <a:spLocks noChangeArrowheads="1"/>
          </p:cNvSpPr>
          <p:nvPr/>
        </p:nvSpPr>
        <p:spPr bwMode="auto">
          <a:xfrm>
            <a:off x="243621" y="6021388"/>
            <a:ext cx="7758113" cy="654050"/>
          </a:xfrm>
          <a:prstGeom prst="roundRect">
            <a:avLst>
              <a:gd name="adj" fmla="val 10692"/>
            </a:avLst>
          </a:prstGeom>
          <a:solidFill>
            <a:schemeClr val="bg1">
              <a:lumMod val="95000"/>
            </a:schemeClr>
          </a:solidFill>
          <a:ln w="9525">
            <a:solidFill>
              <a:schemeClr val="tx1"/>
            </a:solidFill>
            <a:round/>
            <a:headEnd/>
            <a:tailEnd/>
          </a:ln>
          <a:effectLs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9228" name="AutoShape 895"/>
          <p:cNvSpPr>
            <a:spLocks noChangeArrowheads="1"/>
          </p:cNvSpPr>
          <p:nvPr/>
        </p:nvSpPr>
        <p:spPr bwMode="auto">
          <a:xfrm>
            <a:off x="250825" y="5656263"/>
            <a:ext cx="7777163" cy="293687"/>
          </a:xfrm>
          <a:prstGeom prst="roundRect">
            <a:avLst>
              <a:gd name="adj" fmla="val 16667"/>
            </a:avLst>
          </a:prstGeom>
          <a:solidFill>
            <a:schemeClr val="bg1">
              <a:lumMod val="95000"/>
            </a:schemeClr>
          </a:solidFill>
          <a:ln w="9525">
            <a:solidFill>
              <a:schemeClr val="tx1"/>
            </a:solidFill>
            <a:round/>
            <a:headEnd/>
            <a:tailEnd/>
          </a:ln>
          <a:effectLs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9220" name="スライド番号プレースホルダー 4"/>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fld id="{C873C80D-6278-4A8D-94FF-6C211F91C88E}" type="slidenum">
              <a:rPr kumimoji="0" lang="en-US" altLang="ja-JP" sz="1200">
                <a:latin typeface="Arial Black" pitchFamily="34" charset="0"/>
              </a:rPr>
              <a:pPr/>
              <a:t>8</a:t>
            </a:fld>
            <a:endParaRPr kumimoji="0" lang="en-US" altLang="ja-JP" sz="1200">
              <a:latin typeface="Arial Black" pitchFamily="34" charset="0"/>
            </a:endParaRPr>
          </a:p>
        </p:txBody>
      </p:sp>
      <p:sp>
        <p:nvSpPr>
          <p:cNvPr id="9221" name="Rectangle 2"/>
          <p:cNvSpPr>
            <a:spLocks noGrp="1" noChangeArrowheads="1"/>
          </p:cNvSpPr>
          <p:nvPr>
            <p:ph type="title"/>
          </p:nvPr>
        </p:nvSpPr>
        <p:spPr>
          <a:xfrm>
            <a:off x="250825" y="115888"/>
            <a:ext cx="7772400" cy="1143000"/>
          </a:xfrm>
        </p:spPr>
        <p:txBody>
          <a:bodyPr/>
          <a:lstStyle/>
          <a:p>
            <a:pPr eaLnBrk="1" hangingPunct="1">
              <a:defRPr/>
            </a:pPr>
            <a:r>
              <a:rPr lang="ja-JP" altLang="en-US" sz="2800" dirty="0"/>
              <a:t>２分探索木における</a:t>
            </a:r>
            <a:r>
              <a:rPr lang="ja-JP" altLang="en-US" sz="2800" dirty="0" smtClean="0"/>
              <a:t>操作（</a:t>
            </a:r>
            <a:r>
              <a:rPr lang="en-US" altLang="ja-JP" sz="2800" dirty="0" smtClean="0"/>
              <a:t>delete</a:t>
            </a:r>
            <a:r>
              <a:rPr lang="ja-JP" altLang="en-US" sz="2800" dirty="0" smtClean="0"/>
              <a:t>操作）</a:t>
            </a:r>
            <a:endParaRPr lang="ja-JP" altLang="en-US" sz="2800" dirty="0"/>
          </a:p>
        </p:txBody>
      </p:sp>
      <p:sp>
        <p:nvSpPr>
          <p:cNvPr id="9222" name="Text Box 884"/>
          <p:cNvSpPr txBox="1">
            <a:spLocks noChangeArrowheads="1"/>
          </p:cNvSpPr>
          <p:nvPr/>
        </p:nvSpPr>
        <p:spPr bwMode="auto">
          <a:xfrm>
            <a:off x="242888" y="1031875"/>
            <a:ext cx="7832593" cy="5687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pPr>
              <a:lnSpc>
                <a:spcPct val="140000"/>
              </a:lnSpc>
            </a:pPr>
            <a:r>
              <a:rPr lang="en-US" altLang="ja-JP" sz="1800" dirty="0" smtClean="0"/>
              <a:t>delete(</a:t>
            </a:r>
            <a:r>
              <a:rPr lang="en-US" altLang="ja-JP" sz="1800" dirty="0" err="1" smtClean="0"/>
              <a:t>x,S</a:t>
            </a:r>
            <a:r>
              <a:rPr lang="en-US" altLang="ja-JP" sz="1800" dirty="0" smtClean="0"/>
              <a:t>)</a:t>
            </a:r>
            <a:r>
              <a:rPr lang="ja-JP" altLang="en-US" sz="1800" dirty="0" smtClean="0"/>
              <a:t>の処理手順</a:t>
            </a:r>
            <a:endParaRPr lang="en-US" altLang="ja-JP" sz="1800" b="1" dirty="0"/>
          </a:p>
          <a:p>
            <a:pPr>
              <a:lnSpc>
                <a:spcPct val="140000"/>
              </a:lnSpc>
            </a:pPr>
            <a:r>
              <a:rPr lang="en-US" altLang="ja-JP" sz="1800" b="1" dirty="0"/>
              <a:t>Step 1</a:t>
            </a:r>
            <a:r>
              <a:rPr lang="en-US" altLang="ja-JP" sz="1800" dirty="0"/>
              <a:t>  u←</a:t>
            </a:r>
            <a:r>
              <a:rPr lang="ja-JP" altLang="en-US" sz="1800" dirty="0"/>
              <a:t>根の節点</a:t>
            </a:r>
          </a:p>
          <a:p>
            <a:pPr>
              <a:lnSpc>
                <a:spcPct val="140000"/>
              </a:lnSpc>
            </a:pPr>
            <a:r>
              <a:rPr lang="en-US" altLang="ja-JP" sz="1800" b="1" dirty="0"/>
              <a:t>Step 2</a:t>
            </a:r>
            <a:r>
              <a:rPr lang="en-US" altLang="ja-JP" sz="1800" dirty="0"/>
              <a:t>  y←</a:t>
            </a:r>
            <a:r>
              <a:rPr lang="ja-JP" altLang="en-US" sz="1800" dirty="0"/>
              <a:t>節点</a:t>
            </a:r>
            <a:r>
              <a:rPr lang="en-US" altLang="ja-JP" sz="1800" dirty="0"/>
              <a:t>u</a:t>
            </a:r>
            <a:r>
              <a:rPr lang="ja-JP" altLang="en-US" sz="1800" dirty="0"/>
              <a:t>の要素</a:t>
            </a:r>
          </a:p>
          <a:p>
            <a:pPr>
              <a:lnSpc>
                <a:spcPct val="140000"/>
              </a:lnSpc>
            </a:pPr>
            <a:r>
              <a:rPr lang="en-US" altLang="ja-JP" sz="1800" b="1" dirty="0"/>
              <a:t>Step 3</a:t>
            </a:r>
            <a:r>
              <a:rPr lang="en-US" altLang="ja-JP" sz="1800" dirty="0"/>
              <a:t>  if  x=y  then  Step 4 </a:t>
            </a:r>
            <a:r>
              <a:rPr lang="ja-JP" altLang="en-US" sz="1800" dirty="0"/>
              <a:t>へ</a:t>
            </a:r>
          </a:p>
          <a:p>
            <a:r>
              <a:rPr lang="ja-JP" altLang="en-US" sz="1800" dirty="0"/>
              <a:t>　　　　　</a:t>
            </a:r>
            <a:r>
              <a:rPr lang="en-US" altLang="ja-JP" sz="1800" dirty="0"/>
              <a:t>else if  x&gt;y  then </a:t>
            </a:r>
          </a:p>
          <a:p>
            <a:r>
              <a:rPr lang="en-US" altLang="ja-JP" sz="1800" dirty="0"/>
              <a:t>                 if  </a:t>
            </a:r>
            <a:r>
              <a:rPr lang="ja-JP" altLang="en-US" sz="1800" dirty="0"/>
              <a:t>右の子が存在  </a:t>
            </a:r>
            <a:r>
              <a:rPr lang="en-US" altLang="ja-JP" sz="1800" dirty="0"/>
              <a:t>then  u←</a:t>
            </a:r>
            <a:r>
              <a:rPr lang="ja-JP" altLang="en-US" sz="1800" dirty="0"/>
              <a:t>右の節点</a:t>
            </a:r>
          </a:p>
          <a:p>
            <a:r>
              <a:rPr lang="ja-JP" altLang="en-US" sz="1800" dirty="0"/>
              <a:t>             　 </a:t>
            </a:r>
            <a:r>
              <a:rPr lang="en-US" altLang="ja-JP" sz="1800" dirty="0"/>
              <a:t>else  </a:t>
            </a:r>
            <a:r>
              <a:rPr lang="ja-JP" altLang="en-US" sz="1800" dirty="0"/>
              <a:t>何もしないで停止</a:t>
            </a:r>
          </a:p>
          <a:p>
            <a:r>
              <a:rPr lang="ja-JP" altLang="en-US" sz="1800" dirty="0"/>
              <a:t>　　　　　</a:t>
            </a:r>
            <a:r>
              <a:rPr lang="en-US" altLang="ja-JP" sz="1800" dirty="0"/>
              <a:t>else</a:t>
            </a:r>
          </a:p>
          <a:p>
            <a:r>
              <a:rPr lang="ja-JP" altLang="en-US" sz="1800" dirty="0"/>
              <a:t>　　　　　　  </a:t>
            </a:r>
            <a:r>
              <a:rPr lang="en-US" altLang="ja-JP" sz="1800" dirty="0"/>
              <a:t>if  </a:t>
            </a:r>
            <a:r>
              <a:rPr lang="ja-JP" altLang="en-US" sz="1800" dirty="0"/>
              <a:t>左の子が存在  </a:t>
            </a:r>
            <a:r>
              <a:rPr lang="en-US" altLang="ja-JP" sz="1800" dirty="0"/>
              <a:t>then  u←</a:t>
            </a:r>
            <a:r>
              <a:rPr lang="ja-JP" altLang="en-US" sz="1800" dirty="0"/>
              <a:t>左の節点</a:t>
            </a:r>
          </a:p>
          <a:p>
            <a:r>
              <a:rPr lang="ja-JP" altLang="en-US" sz="1800" dirty="0"/>
              <a:t>             　 </a:t>
            </a:r>
            <a:r>
              <a:rPr lang="en-US" altLang="ja-JP" sz="1800" dirty="0"/>
              <a:t>else  </a:t>
            </a:r>
            <a:r>
              <a:rPr lang="ja-JP" altLang="en-US" sz="1800" dirty="0"/>
              <a:t>何もしないで停止</a:t>
            </a:r>
          </a:p>
          <a:p>
            <a:r>
              <a:rPr lang="ja-JP" altLang="en-US" sz="1800" dirty="0"/>
              <a:t>　　　　　</a:t>
            </a:r>
            <a:r>
              <a:rPr lang="en-US" altLang="ja-JP" sz="1800" dirty="0"/>
              <a:t>Step 2</a:t>
            </a:r>
            <a:r>
              <a:rPr lang="ja-JP" altLang="en-US" sz="1800" dirty="0"/>
              <a:t>へ</a:t>
            </a:r>
          </a:p>
          <a:p>
            <a:pPr>
              <a:lnSpc>
                <a:spcPct val="140000"/>
              </a:lnSpc>
            </a:pPr>
            <a:r>
              <a:rPr lang="en-US" altLang="ja-JP" sz="1800" b="1" dirty="0"/>
              <a:t>Step 4</a:t>
            </a:r>
            <a:r>
              <a:rPr lang="en-US" altLang="ja-JP" sz="1800" dirty="0"/>
              <a:t>  if  u</a:t>
            </a:r>
            <a:r>
              <a:rPr lang="ja-JP" altLang="en-US" sz="1800" dirty="0"/>
              <a:t>は葉  </a:t>
            </a:r>
            <a:r>
              <a:rPr lang="en-US" altLang="ja-JP" sz="1800" dirty="0"/>
              <a:t>then  u</a:t>
            </a:r>
            <a:r>
              <a:rPr lang="ja-JP" altLang="en-US" sz="1800" dirty="0"/>
              <a:t>を木から除いて停止</a:t>
            </a:r>
          </a:p>
          <a:p>
            <a:r>
              <a:rPr lang="ja-JP" altLang="en-US" sz="1800" dirty="0"/>
              <a:t>　　　　　</a:t>
            </a:r>
            <a:r>
              <a:rPr lang="en-US" altLang="ja-JP" sz="1800" dirty="0"/>
              <a:t>else if  u</a:t>
            </a:r>
            <a:r>
              <a:rPr lang="ja-JP" altLang="en-US" sz="1800" dirty="0"/>
              <a:t>が１つの子をもつ  </a:t>
            </a:r>
            <a:r>
              <a:rPr lang="en-US" altLang="ja-JP" sz="1800" dirty="0"/>
              <a:t>then  u</a:t>
            </a:r>
            <a:r>
              <a:rPr lang="ja-JP" altLang="en-US" sz="1800" dirty="0"/>
              <a:t>の子を</a:t>
            </a:r>
            <a:r>
              <a:rPr lang="en-US" altLang="ja-JP" sz="1800" dirty="0"/>
              <a:t>u</a:t>
            </a:r>
            <a:r>
              <a:rPr lang="ja-JP" altLang="en-US" sz="1800" dirty="0"/>
              <a:t>の位置に上げて停止</a:t>
            </a:r>
          </a:p>
          <a:p>
            <a:pPr>
              <a:lnSpc>
                <a:spcPct val="140000"/>
              </a:lnSpc>
            </a:pPr>
            <a:r>
              <a:rPr lang="ja-JP" altLang="en-US" sz="1800" dirty="0"/>
              <a:t>　　　　　</a:t>
            </a:r>
            <a:r>
              <a:rPr lang="en-US" altLang="ja-JP" sz="1800" dirty="0"/>
              <a:t>else (u</a:t>
            </a:r>
            <a:r>
              <a:rPr lang="ja-JP" altLang="en-US" sz="1800" dirty="0"/>
              <a:t>が２つの子をもつ場合</a:t>
            </a:r>
            <a:r>
              <a:rPr lang="en-US" altLang="ja-JP" sz="1800" dirty="0"/>
              <a:t>)  </a:t>
            </a:r>
            <a:r>
              <a:rPr lang="en-US" altLang="ja-JP" sz="1800" dirty="0" err="1"/>
              <a:t>v←u</a:t>
            </a:r>
            <a:r>
              <a:rPr lang="ja-JP" altLang="en-US" sz="1800" dirty="0"/>
              <a:t>の右部分木の最小要素をもつ節点</a:t>
            </a:r>
          </a:p>
          <a:p>
            <a:pPr>
              <a:lnSpc>
                <a:spcPct val="140000"/>
              </a:lnSpc>
            </a:pPr>
            <a:r>
              <a:rPr lang="en-US" altLang="ja-JP" sz="1800" b="1" dirty="0"/>
              <a:t>Step 5</a:t>
            </a:r>
            <a:r>
              <a:rPr lang="en-US" altLang="ja-JP" sz="1800" dirty="0"/>
              <a:t>  u</a:t>
            </a:r>
            <a:r>
              <a:rPr lang="ja-JP" altLang="en-US" sz="1800" dirty="0"/>
              <a:t>の要素←</a:t>
            </a:r>
            <a:r>
              <a:rPr lang="en-US" altLang="ja-JP" sz="1800" dirty="0"/>
              <a:t>v</a:t>
            </a:r>
            <a:r>
              <a:rPr lang="ja-JP" altLang="en-US" sz="1800" dirty="0"/>
              <a:t>の要素</a:t>
            </a:r>
          </a:p>
          <a:p>
            <a:pPr>
              <a:lnSpc>
                <a:spcPct val="140000"/>
              </a:lnSpc>
            </a:pPr>
            <a:r>
              <a:rPr lang="en-US" altLang="ja-JP" sz="1800" b="1" dirty="0"/>
              <a:t>Step 6</a:t>
            </a:r>
            <a:r>
              <a:rPr lang="en-US" altLang="ja-JP" sz="1800" dirty="0"/>
              <a:t>  if  v</a:t>
            </a:r>
            <a:r>
              <a:rPr lang="ja-JP" altLang="en-US" sz="1800" dirty="0"/>
              <a:t>は葉  </a:t>
            </a:r>
            <a:r>
              <a:rPr lang="en-US" altLang="ja-JP" sz="1800" dirty="0"/>
              <a:t>then </a:t>
            </a:r>
            <a:r>
              <a:rPr lang="ja-JP" altLang="en-US" sz="1800" dirty="0" err="1"/>
              <a:t>ｖ</a:t>
            </a:r>
            <a:r>
              <a:rPr lang="ja-JP" altLang="en-US" sz="1800" dirty="0"/>
              <a:t>を木から除いて停止</a:t>
            </a:r>
          </a:p>
          <a:p>
            <a:r>
              <a:rPr lang="ja-JP" altLang="en-US" sz="1800" dirty="0"/>
              <a:t>　　　　　</a:t>
            </a:r>
            <a:r>
              <a:rPr lang="en-US" altLang="ja-JP" sz="1800" dirty="0"/>
              <a:t>else  (v</a:t>
            </a:r>
            <a:r>
              <a:rPr lang="ja-JP" altLang="en-US" sz="1800" dirty="0"/>
              <a:t>が１つの子を持つ場合</a:t>
            </a:r>
            <a:r>
              <a:rPr lang="en-US" altLang="ja-JP" sz="1800" dirty="0"/>
              <a:t>)  v</a:t>
            </a:r>
            <a:r>
              <a:rPr lang="ja-JP" altLang="en-US" sz="1800" dirty="0"/>
              <a:t>の子を</a:t>
            </a:r>
            <a:r>
              <a:rPr lang="en-US" altLang="ja-JP" sz="1800" dirty="0"/>
              <a:t>v</a:t>
            </a:r>
            <a:r>
              <a:rPr lang="ja-JP" altLang="en-US" sz="1800" dirty="0"/>
              <a:t>の位置に上げて停止</a:t>
            </a:r>
          </a:p>
        </p:txBody>
      </p:sp>
      <p:sp>
        <p:nvSpPr>
          <p:cNvPr id="9229" name="Oval 925"/>
          <p:cNvSpPr>
            <a:spLocks noChangeArrowheads="1"/>
          </p:cNvSpPr>
          <p:nvPr/>
        </p:nvSpPr>
        <p:spPr bwMode="auto">
          <a:xfrm>
            <a:off x="6727825" y="50641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7</a:t>
            </a:r>
          </a:p>
        </p:txBody>
      </p:sp>
      <p:sp>
        <p:nvSpPr>
          <p:cNvPr id="9230" name="Oval 926"/>
          <p:cNvSpPr>
            <a:spLocks noChangeArrowheads="1"/>
          </p:cNvSpPr>
          <p:nvPr/>
        </p:nvSpPr>
        <p:spPr bwMode="auto">
          <a:xfrm>
            <a:off x="6438900" y="93821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3</a:t>
            </a:r>
          </a:p>
        </p:txBody>
      </p:sp>
      <p:sp>
        <p:nvSpPr>
          <p:cNvPr id="9231" name="Oval 927"/>
          <p:cNvSpPr>
            <a:spLocks noChangeArrowheads="1"/>
          </p:cNvSpPr>
          <p:nvPr/>
        </p:nvSpPr>
        <p:spPr bwMode="auto">
          <a:xfrm>
            <a:off x="7088188" y="85883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10</a:t>
            </a:r>
          </a:p>
        </p:txBody>
      </p:sp>
      <p:sp>
        <p:nvSpPr>
          <p:cNvPr id="9232" name="Oval 928"/>
          <p:cNvSpPr>
            <a:spLocks noChangeArrowheads="1"/>
          </p:cNvSpPr>
          <p:nvPr/>
        </p:nvSpPr>
        <p:spPr bwMode="auto">
          <a:xfrm>
            <a:off x="6151563" y="137001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a:t>
            </a:r>
          </a:p>
        </p:txBody>
      </p:sp>
      <p:sp>
        <p:nvSpPr>
          <p:cNvPr id="9233" name="Oval 929"/>
          <p:cNvSpPr>
            <a:spLocks noChangeArrowheads="1"/>
          </p:cNvSpPr>
          <p:nvPr/>
        </p:nvSpPr>
        <p:spPr bwMode="auto">
          <a:xfrm>
            <a:off x="6654800" y="137001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4</a:t>
            </a:r>
          </a:p>
        </p:txBody>
      </p:sp>
      <p:sp>
        <p:nvSpPr>
          <p:cNvPr id="9234" name="Line 931"/>
          <p:cNvSpPr>
            <a:spLocks noChangeShapeType="1"/>
          </p:cNvSpPr>
          <p:nvPr/>
        </p:nvSpPr>
        <p:spPr bwMode="auto">
          <a:xfrm flipH="1">
            <a:off x="6583363" y="722313"/>
            <a:ext cx="144462"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235" name="Line 932"/>
          <p:cNvSpPr>
            <a:spLocks noChangeShapeType="1"/>
          </p:cNvSpPr>
          <p:nvPr/>
        </p:nvSpPr>
        <p:spPr bwMode="auto">
          <a:xfrm flipH="1">
            <a:off x="6296025" y="1154113"/>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236" name="Line 933"/>
          <p:cNvSpPr>
            <a:spLocks noChangeShapeType="1"/>
          </p:cNvSpPr>
          <p:nvPr/>
        </p:nvSpPr>
        <p:spPr bwMode="auto">
          <a:xfrm>
            <a:off x="6943725" y="722313"/>
            <a:ext cx="215900" cy="1365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237" name="Line 934"/>
          <p:cNvSpPr>
            <a:spLocks noChangeShapeType="1"/>
          </p:cNvSpPr>
          <p:nvPr/>
        </p:nvSpPr>
        <p:spPr bwMode="auto">
          <a:xfrm>
            <a:off x="6583363" y="1154113"/>
            <a:ext cx="144462"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238" name="Oval 936"/>
          <p:cNvSpPr>
            <a:spLocks noChangeArrowheads="1"/>
          </p:cNvSpPr>
          <p:nvPr/>
        </p:nvSpPr>
        <p:spPr bwMode="auto">
          <a:xfrm>
            <a:off x="6943725" y="128428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8</a:t>
            </a:r>
          </a:p>
        </p:txBody>
      </p:sp>
      <p:sp>
        <p:nvSpPr>
          <p:cNvPr id="9239" name="Line 937"/>
          <p:cNvSpPr>
            <a:spLocks noChangeShapeType="1"/>
          </p:cNvSpPr>
          <p:nvPr/>
        </p:nvSpPr>
        <p:spPr bwMode="auto">
          <a:xfrm flipH="1">
            <a:off x="7089775" y="1066800"/>
            <a:ext cx="69850" cy="2174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240" name="Oval 938"/>
          <p:cNvSpPr>
            <a:spLocks noChangeArrowheads="1"/>
          </p:cNvSpPr>
          <p:nvPr/>
        </p:nvSpPr>
        <p:spPr bwMode="auto">
          <a:xfrm>
            <a:off x="6870700" y="179546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6</a:t>
            </a:r>
          </a:p>
        </p:txBody>
      </p:sp>
      <p:sp>
        <p:nvSpPr>
          <p:cNvPr id="9241" name="Line 939"/>
          <p:cNvSpPr>
            <a:spLocks noChangeShapeType="1"/>
          </p:cNvSpPr>
          <p:nvPr/>
        </p:nvSpPr>
        <p:spPr bwMode="auto">
          <a:xfrm>
            <a:off x="6799263" y="1579563"/>
            <a:ext cx="144462"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242" name="Text Box 940"/>
          <p:cNvSpPr txBox="1">
            <a:spLocks noChangeArrowheads="1"/>
          </p:cNvSpPr>
          <p:nvPr/>
        </p:nvSpPr>
        <p:spPr bwMode="auto">
          <a:xfrm>
            <a:off x="7055825" y="425328"/>
            <a:ext cx="292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b="1" smtClean="0">
                <a:solidFill>
                  <a:srgbClr val="FF3300"/>
                </a:solidFill>
              </a:rPr>
              <a:t>u</a:t>
            </a:r>
          </a:p>
        </p:txBody>
      </p:sp>
      <p:sp>
        <p:nvSpPr>
          <p:cNvPr id="9243" name="AutoShape 941"/>
          <p:cNvSpPr>
            <a:spLocks noChangeArrowheads="1"/>
          </p:cNvSpPr>
          <p:nvPr/>
        </p:nvSpPr>
        <p:spPr bwMode="auto">
          <a:xfrm>
            <a:off x="6984388" y="514228"/>
            <a:ext cx="142875" cy="144462"/>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9244" name="Text Box 942"/>
          <p:cNvSpPr txBox="1">
            <a:spLocks noChangeArrowheads="1"/>
          </p:cNvSpPr>
          <p:nvPr/>
        </p:nvSpPr>
        <p:spPr bwMode="auto">
          <a:xfrm>
            <a:off x="6227763" y="122238"/>
            <a:ext cx="10509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delete(5,S)</a:t>
            </a:r>
          </a:p>
        </p:txBody>
      </p:sp>
      <p:sp>
        <p:nvSpPr>
          <p:cNvPr id="9245" name="Text Box 943"/>
          <p:cNvSpPr txBox="1">
            <a:spLocks noChangeArrowheads="1"/>
          </p:cNvSpPr>
          <p:nvPr/>
        </p:nvSpPr>
        <p:spPr bwMode="auto">
          <a:xfrm>
            <a:off x="6395243" y="455613"/>
            <a:ext cx="3857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dirty="0" smtClean="0"/>
              <a:t>5&lt;</a:t>
            </a:r>
          </a:p>
        </p:txBody>
      </p:sp>
      <p:sp>
        <p:nvSpPr>
          <p:cNvPr id="9247" name="AutoShape 945"/>
          <p:cNvSpPr>
            <a:spLocks noChangeArrowheads="1"/>
          </p:cNvSpPr>
          <p:nvPr/>
        </p:nvSpPr>
        <p:spPr bwMode="auto">
          <a:xfrm flipH="1">
            <a:off x="6487015" y="1419470"/>
            <a:ext cx="142875" cy="144463"/>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9248" name="Text Box 946"/>
          <p:cNvSpPr txBox="1">
            <a:spLocks noChangeArrowheads="1"/>
          </p:cNvSpPr>
          <p:nvPr/>
        </p:nvSpPr>
        <p:spPr bwMode="auto">
          <a:xfrm>
            <a:off x="6778625" y="1435100"/>
            <a:ext cx="3857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&lt;5</a:t>
            </a:r>
          </a:p>
        </p:txBody>
      </p:sp>
      <p:sp>
        <p:nvSpPr>
          <p:cNvPr id="9250" name="AutoShape 948"/>
          <p:cNvSpPr>
            <a:spLocks noChangeArrowheads="1"/>
          </p:cNvSpPr>
          <p:nvPr/>
        </p:nvSpPr>
        <p:spPr bwMode="auto">
          <a:xfrm flipH="1">
            <a:off x="6702915" y="1851270"/>
            <a:ext cx="142875" cy="144463"/>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9251" name="Text Box 949"/>
          <p:cNvSpPr txBox="1">
            <a:spLocks noChangeArrowheads="1"/>
          </p:cNvSpPr>
          <p:nvPr/>
        </p:nvSpPr>
        <p:spPr bwMode="auto">
          <a:xfrm>
            <a:off x="7038181" y="1778000"/>
            <a:ext cx="3857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dirty="0" smtClean="0"/>
              <a:t>&lt;5</a:t>
            </a:r>
          </a:p>
        </p:txBody>
      </p:sp>
      <p:sp>
        <p:nvSpPr>
          <p:cNvPr id="9252" name="Text Box 950"/>
          <p:cNvSpPr txBox="1">
            <a:spLocks noChangeArrowheads="1"/>
          </p:cNvSpPr>
          <p:nvPr/>
        </p:nvSpPr>
        <p:spPr bwMode="auto">
          <a:xfrm>
            <a:off x="6588125" y="879475"/>
            <a:ext cx="3857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dirty="0" smtClean="0"/>
              <a:t>&lt;5</a:t>
            </a:r>
          </a:p>
        </p:txBody>
      </p:sp>
      <p:sp>
        <p:nvSpPr>
          <p:cNvPr id="9254" name="AutoShape 952"/>
          <p:cNvSpPr>
            <a:spLocks noChangeArrowheads="1"/>
          </p:cNvSpPr>
          <p:nvPr/>
        </p:nvSpPr>
        <p:spPr bwMode="auto">
          <a:xfrm flipH="1">
            <a:off x="6271115" y="932108"/>
            <a:ext cx="142875" cy="144462"/>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grpSp>
        <p:nvGrpSpPr>
          <p:cNvPr id="66494" name="Group 958"/>
          <p:cNvGrpSpPr>
            <a:grpSpLocks/>
          </p:cNvGrpSpPr>
          <p:nvPr/>
        </p:nvGrpSpPr>
        <p:grpSpPr bwMode="auto">
          <a:xfrm>
            <a:off x="6315081" y="2011369"/>
            <a:ext cx="947738" cy="473076"/>
            <a:chOff x="3482" y="1706"/>
            <a:chExt cx="597" cy="298"/>
          </a:xfrm>
        </p:grpSpPr>
        <p:sp>
          <p:nvSpPr>
            <p:cNvPr id="9344" name="Oval 930"/>
            <p:cNvSpPr>
              <a:spLocks noChangeArrowheads="1"/>
            </p:cNvSpPr>
            <p:nvPr/>
          </p:nvSpPr>
          <p:spPr bwMode="auto">
            <a:xfrm>
              <a:off x="3696" y="1842"/>
              <a:ext cx="136" cy="1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5</a:t>
              </a:r>
            </a:p>
          </p:txBody>
        </p:sp>
        <p:sp>
          <p:nvSpPr>
            <p:cNvPr id="9345" name="Line 935"/>
            <p:cNvSpPr>
              <a:spLocks noChangeShapeType="1"/>
            </p:cNvSpPr>
            <p:nvPr/>
          </p:nvSpPr>
          <p:spPr bwMode="auto">
            <a:xfrm flipH="1">
              <a:off x="3788" y="1706"/>
              <a:ext cx="90"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346" name="Text Box 953"/>
            <p:cNvSpPr txBox="1">
              <a:spLocks noChangeArrowheads="1"/>
            </p:cNvSpPr>
            <p:nvPr/>
          </p:nvSpPr>
          <p:spPr bwMode="auto">
            <a:xfrm>
              <a:off x="3895" y="1801"/>
              <a:ext cx="1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b="1" dirty="0" smtClean="0">
                  <a:solidFill>
                    <a:srgbClr val="FF3300"/>
                  </a:solidFill>
                </a:rPr>
                <a:t>u</a:t>
              </a:r>
            </a:p>
          </p:txBody>
        </p:sp>
        <p:sp>
          <p:nvSpPr>
            <p:cNvPr id="9347" name="AutoShape 954"/>
            <p:cNvSpPr>
              <a:spLocks noChangeArrowheads="1"/>
            </p:cNvSpPr>
            <p:nvPr/>
          </p:nvSpPr>
          <p:spPr bwMode="auto">
            <a:xfrm>
              <a:off x="3850" y="1857"/>
              <a:ext cx="90" cy="91"/>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9348" name="Text Box 955"/>
            <p:cNvSpPr txBox="1">
              <a:spLocks noChangeArrowheads="1"/>
            </p:cNvSpPr>
            <p:nvPr/>
          </p:nvSpPr>
          <p:spPr bwMode="auto">
            <a:xfrm>
              <a:off x="3482" y="1812"/>
              <a:ext cx="24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dirty="0" smtClean="0"/>
                <a:t>5=</a:t>
              </a:r>
            </a:p>
          </p:txBody>
        </p:sp>
      </p:grpSp>
      <p:sp>
        <p:nvSpPr>
          <p:cNvPr id="9256" name="Oval 959"/>
          <p:cNvSpPr>
            <a:spLocks noChangeArrowheads="1"/>
          </p:cNvSpPr>
          <p:nvPr/>
        </p:nvSpPr>
        <p:spPr bwMode="auto">
          <a:xfrm>
            <a:off x="8383588" y="50006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7</a:t>
            </a:r>
          </a:p>
        </p:txBody>
      </p:sp>
      <p:sp>
        <p:nvSpPr>
          <p:cNvPr id="9257" name="Oval 960"/>
          <p:cNvSpPr>
            <a:spLocks noChangeArrowheads="1"/>
          </p:cNvSpPr>
          <p:nvPr/>
        </p:nvSpPr>
        <p:spPr bwMode="auto">
          <a:xfrm>
            <a:off x="8094663" y="93186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3</a:t>
            </a:r>
          </a:p>
        </p:txBody>
      </p:sp>
      <p:sp>
        <p:nvSpPr>
          <p:cNvPr id="9258" name="Oval 961"/>
          <p:cNvSpPr>
            <a:spLocks noChangeArrowheads="1"/>
          </p:cNvSpPr>
          <p:nvPr/>
        </p:nvSpPr>
        <p:spPr bwMode="auto">
          <a:xfrm>
            <a:off x="8743950" y="85248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10</a:t>
            </a:r>
          </a:p>
        </p:txBody>
      </p:sp>
      <p:sp>
        <p:nvSpPr>
          <p:cNvPr id="9259" name="Oval 962"/>
          <p:cNvSpPr>
            <a:spLocks noChangeArrowheads="1"/>
          </p:cNvSpPr>
          <p:nvPr/>
        </p:nvSpPr>
        <p:spPr bwMode="auto">
          <a:xfrm>
            <a:off x="7807325" y="136366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a:t>
            </a:r>
          </a:p>
        </p:txBody>
      </p:sp>
      <p:sp>
        <p:nvSpPr>
          <p:cNvPr id="9260" name="Line 964"/>
          <p:cNvSpPr>
            <a:spLocks noChangeShapeType="1"/>
          </p:cNvSpPr>
          <p:nvPr/>
        </p:nvSpPr>
        <p:spPr bwMode="auto">
          <a:xfrm flipH="1">
            <a:off x="8239125" y="715963"/>
            <a:ext cx="144463"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261" name="Line 965"/>
          <p:cNvSpPr>
            <a:spLocks noChangeShapeType="1"/>
          </p:cNvSpPr>
          <p:nvPr/>
        </p:nvSpPr>
        <p:spPr bwMode="auto">
          <a:xfrm flipH="1">
            <a:off x="7951788" y="1147763"/>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262" name="Line 966"/>
          <p:cNvSpPr>
            <a:spLocks noChangeShapeType="1"/>
          </p:cNvSpPr>
          <p:nvPr/>
        </p:nvSpPr>
        <p:spPr bwMode="auto">
          <a:xfrm>
            <a:off x="8599488" y="715963"/>
            <a:ext cx="215900" cy="1365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263" name="Line 967"/>
          <p:cNvSpPr>
            <a:spLocks noChangeShapeType="1"/>
          </p:cNvSpPr>
          <p:nvPr/>
        </p:nvSpPr>
        <p:spPr bwMode="auto">
          <a:xfrm>
            <a:off x="8239125" y="1147763"/>
            <a:ext cx="144463"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264" name="Oval 968"/>
          <p:cNvSpPr>
            <a:spLocks noChangeArrowheads="1"/>
          </p:cNvSpPr>
          <p:nvPr/>
        </p:nvSpPr>
        <p:spPr bwMode="auto">
          <a:xfrm>
            <a:off x="8599488" y="127793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8</a:t>
            </a:r>
          </a:p>
        </p:txBody>
      </p:sp>
      <p:sp>
        <p:nvSpPr>
          <p:cNvPr id="9265" name="Line 969"/>
          <p:cNvSpPr>
            <a:spLocks noChangeShapeType="1"/>
          </p:cNvSpPr>
          <p:nvPr/>
        </p:nvSpPr>
        <p:spPr bwMode="auto">
          <a:xfrm flipH="1">
            <a:off x="8745538" y="1060450"/>
            <a:ext cx="69850" cy="2174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266" name="Text Box 972"/>
          <p:cNvSpPr txBox="1">
            <a:spLocks noChangeArrowheads="1"/>
          </p:cNvSpPr>
          <p:nvPr/>
        </p:nvSpPr>
        <p:spPr bwMode="auto">
          <a:xfrm>
            <a:off x="8672513" y="411163"/>
            <a:ext cx="292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b="1" smtClean="0">
                <a:solidFill>
                  <a:srgbClr val="FF3300"/>
                </a:solidFill>
              </a:rPr>
              <a:t>u</a:t>
            </a:r>
          </a:p>
        </p:txBody>
      </p:sp>
      <p:sp>
        <p:nvSpPr>
          <p:cNvPr id="9267" name="AutoShape 973"/>
          <p:cNvSpPr>
            <a:spLocks noChangeArrowheads="1"/>
          </p:cNvSpPr>
          <p:nvPr/>
        </p:nvSpPr>
        <p:spPr bwMode="auto">
          <a:xfrm>
            <a:off x="8601075" y="500063"/>
            <a:ext cx="142875" cy="144462"/>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9268" name="Text Box 974"/>
          <p:cNvSpPr txBox="1">
            <a:spLocks noChangeArrowheads="1"/>
          </p:cNvSpPr>
          <p:nvPr/>
        </p:nvSpPr>
        <p:spPr bwMode="auto">
          <a:xfrm>
            <a:off x="7883525" y="115888"/>
            <a:ext cx="10509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delete(4,S)</a:t>
            </a:r>
          </a:p>
        </p:txBody>
      </p:sp>
      <p:sp>
        <p:nvSpPr>
          <p:cNvPr id="9269" name="Text Box 975"/>
          <p:cNvSpPr txBox="1">
            <a:spLocks noChangeArrowheads="1"/>
          </p:cNvSpPr>
          <p:nvPr/>
        </p:nvSpPr>
        <p:spPr bwMode="auto">
          <a:xfrm>
            <a:off x="8027988" y="420688"/>
            <a:ext cx="3857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4&lt;</a:t>
            </a:r>
          </a:p>
        </p:txBody>
      </p:sp>
      <p:sp>
        <p:nvSpPr>
          <p:cNvPr id="9270" name="Text Box 982"/>
          <p:cNvSpPr txBox="1">
            <a:spLocks noChangeArrowheads="1"/>
          </p:cNvSpPr>
          <p:nvPr/>
        </p:nvSpPr>
        <p:spPr bwMode="auto">
          <a:xfrm>
            <a:off x="8243888" y="908050"/>
            <a:ext cx="3857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&lt;4</a:t>
            </a:r>
          </a:p>
        </p:txBody>
      </p:sp>
      <p:sp>
        <p:nvSpPr>
          <p:cNvPr id="9272" name="AutoShape 984"/>
          <p:cNvSpPr>
            <a:spLocks noChangeArrowheads="1"/>
          </p:cNvSpPr>
          <p:nvPr/>
        </p:nvSpPr>
        <p:spPr bwMode="auto">
          <a:xfrm flipH="1">
            <a:off x="7958138" y="941388"/>
            <a:ext cx="142875" cy="144462"/>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grpSp>
        <p:nvGrpSpPr>
          <p:cNvPr id="66536" name="Group 1000"/>
          <p:cNvGrpSpPr>
            <a:grpSpLocks/>
          </p:cNvGrpSpPr>
          <p:nvPr/>
        </p:nvGrpSpPr>
        <p:grpSpPr bwMode="auto">
          <a:xfrm>
            <a:off x="8174036" y="1419227"/>
            <a:ext cx="646112" cy="425450"/>
            <a:chOff x="5013" y="859"/>
            <a:chExt cx="407" cy="268"/>
          </a:xfrm>
        </p:grpSpPr>
        <p:sp>
          <p:nvSpPr>
            <p:cNvPr id="9339" name="Oval 963"/>
            <p:cNvSpPr>
              <a:spLocks noChangeArrowheads="1"/>
            </p:cNvSpPr>
            <p:nvPr/>
          </p:nvSpPr>
          <p:spPr bwMode="auto">
            <a:xfrm>
              <a:off x="5099" y="859"/>
              <a:ext cx="136" cy="1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4</a:t>
              </a:r>
            </a:p>
          </p:txBody>
        </p:sp>
        <p:sp>
          <p:nvSpPr>
            <p:cNvPr id="9340" name="Line 971"/>
            <p:cNvSpPr>
              <a:spLocks noChangeShapeType="1"/>
            </p:cNvSpPr>
            <p:nvPr/>
          </p:nvSpPr>
          <p:spPr bwMode="auto">
            <a:xfrm>
              <a:off x="5190" y="991"/>
              <a:ext cx="91"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342" name="AutoShape 977"/>
            <p:cNvSpPr>
              <a:spLocks noChangeArrowheads="1"/>
            </p:cNvSpPr>
            <p:nvPr/>
          </p:nvSpPr>
          <p:spPr bwMode="auto">
            <a:xfrm flipH="1">
              <a:off x="5013" y="900"/>
              <a:ext cx="90" cy="91"/>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9343" name="Text Box 978"/>
            <p:cNvSpPr txBox="1">
              <a:spLocks noChangeArrowheads="1"/>
            </p:cNvSpPr>
            <p:nvPr/>
          </p:nvSpPr>
          <p:spPr bwMode="auto">
            <a:xfrm>
              <a:off x="5177" y="900"/>
              <a:ext cx="24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=4</a:t>
              </a:r>
            </a:p>
          </p:txBody>
        </p:sp>
      </p:grpSp>
      <p:grpSp>
        <p:nvGrpSpPr>
          <p:cNvPr id="66537" name="Group 1001"/>
          <p:cNvGrpSpPr>
            <a:grpSpLocks/>
          </p:cNvGrpSpPr>
          <p:nvPr/>
        </p:nvGrpSpPr>
        <p:grpSpPr bwMode="auto">
          <a:xfrm>
            <a:off x="8388350" y="1844675"/>
            <a:ext cx="431800" cy="647700"/>
            <a:chOff x="5099" y="1571"/>
            <a:chExt cx="272" cy="408"/>
          </a:xfrm>
        </p:grpSpPr>
        <p:sp>
          <p:nvSpPr>
            <p:cNvPr id="9336" name="Oval 970"/>
            <p:cNvSpPr>
              <a:spLocks noChangeArrowheads="1"/>
            </p:cNvSpPr>
            <p:nvPr/>
          </p:nvSpPr>
          <p:spPr bwMode="auto">
            <a:xfrm>
              <a:off x="5235" y="1571"/>
              <a:ext cx="136" cy="1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6</a:t>
              </a:r>
            </a:p>
          </p:txBody>
        </p:sp>
        <p:sp>
          <p:nvSpPr>
            <p:cNvPr id="9337" name="Oval 986"/>
            <p:cNvSpPr>
              <a:spLocks noChangeArrowheads="1"/>
            </p:cNvSpPr>
            <p:nvPr/>
          </p:nvSpPr>
          <p:spPr bwMode="auto">
            <a:xfrm>
              <a:off x="5099" y="1843"/>
              <a:ext cx="136" cy="1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5</a:t>
              </a:r>
            </a:p>
          </p:txBody>
        </p:sp>
        <p:sp>
          <p:nvSpPr>
            <p:cNvPr id="9338" name="Line 987"/>
            <p:cNvSpPr>
              <a:spLocks noChangeShapeType="1"/>
            </p:cNvSpPr>
            <p:nvPr/>
          </p:nvSpPr>
          <p:spPr bwMode="auto">
            <a:xfrm flipH="1">
              <a:off x="5191" y="1707"/>
              <a:ext cx="90"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grpSp>
        <p:nvGrpSpPr>
          <p:cNvPr id="66538" name="Group 1002"/>
          <p:cNvGrpSpPr>
            <a:grpSpLocks/>
          </p:cNvGrpSpPr>
          <p:nvPr/>
        </p:nvGrpSpPr>
        <p:grpSpPr bwMode="auto">
          <a:xfrm>
            <a:off x="8101013" y="1412875"/>
            <a:ext cx="431800" cy="647700"/>
            <a:chOff x="5103" y="2206"/>
            <a:chExt cx="272" cy="408"/>
          </a:xfrm>
        </p:grpSpPr>
        <p:sp>
          <p:nvSpPr>
            <p:cNvPr id="9333" name="Oval 991"/>
            <p:cNvSpPr>
              <a:spLocks noChangeArrowheads="1"/>
            </p:cNvSpPr>
            <p:nvPr/>
          </p:nvSpPr>
          <p:spPr bwMode="auto">
            <a:xfrm>
              <a:off x="5239" y="2206"/>
              <a:ext cx="136" cy="1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6</a:t>
              </a:r>
            </a:p>
          </p:txBody>
        </p:sp>
        <p:sp>
          <p:nvSpPr>
            <p:cNvPr id="9334" name="Oval 996"/>
            <p:cNvSpPr>
              <a:spLocks noChangeArrowheads="1"/>
            </p:cNvSpPr>
            <p:nvPr/>
          </p:nvSpPr>
          <p:spPr bwMode="auto">
            <a:xfrm>
              <a:off x="5103" y="2478"/>
              <a:ext cx="136" cy="1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5</a:t>
              </a:r>
            </a:p>
          </p:txBody>
        </p:sp>
        <p:sp>
          <p:nvSpPr>
            <p:cNvPr id="9335" name="Line 997"/>
            <p:cNvSpPr>
              <a:spLocks noChangeShapeType="1"/>
            </p:cNvSpPr>
            <p:nvPr/>
          </p:nvSpPr>
          <p:spPr bwMode="auto">
            <a:xfrm flipH="1">
              <a:off x="5195" y="2342"/>
              <a:ext cx="90"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sp>
        <p:nvSpPr>
          <p:cNvPr id="9276" name="Oval 1003"/>
          <p:cNvSpPr>
            <a:spLocks noChangeArrowheads="1"/>
          </p:cNvSpPr>
          <p:nvPr/>
        </p:nvSpPr>
        <p:spPr bwMode="auto">
          <a:xfrm>
            <a:off x="5795963" y="258921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7</a:t>
            </a:r>
          </a:p>
        </p:txBody>
      </p:sp>
      <p:sp>
        <p:nvSpPr>
          <p:cNvPr id="9277" name="Oval 1004"/>
          <p:cNvSpPr>
            <a:spLocks noChangeArrowheads="1"/>
          </p:cNvSpPr>
          <p:nvPr/>
        </p:nvSpPr>
        <p:spPr bwMode="auto">
          <a:xfrm>
            <a:off x="5507038" y="302101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3</a:t>
            </a:r>
          </a:p>
        </p:txBody>
      </p:sp>
      <p:sp>
        <p:nvSpPr>
          <p:cNvPr id="9278" name="Oval 1005"/>
          <p:cNvSpPr>
            <a:spLocks noChangeArrowheads="1"/>
          </p:cNvSpPr>
          <p:nvPr/>
        </p:nvSpPr>
        <p:spPr bwMode="auto">
          <a:xfrm>
            <a:off x="6156325" y="294163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10</a:t>
            </a:r>
          </a:p>
        </p:txBody>
      </p:sp>
      <p:sp>
        <p:nvSpPr>
          <p:cNvPr id="9279" name="Oval 1006"/>
          <p:cNvSpPr>
            <a:spLocks noChangeArrowheads="1"/>
          </p:cNvSpPr>
          <p:nvPr/>
        </p:nvSpPr>
        <p:spPr bwMode="auto">
          <a:xfrm>
            <a:off x="5219700" y="345281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a:t>
            </a:r>
          </a:p>
        </p:txBody>
      </p:sp>
      <p:sp>
        <p:nvSpPr>
          <p:cNvPr id="9280" name="Oval 1007"/>
          <p:cNvSpPr>
            <a:spLocks noChangeArrowheads="1"/>
          </p:cNvSpPr>
          <p:nvPr/>
        </p:nvSpPr>
        <p:spPr bwMode="auto">
          <a:xfrm>
            <a:off x="5722938" y="345281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4</a:t>
            </a:r>
          </a:p>
        </p:txBody>
      </p:sp>
      <p:sp>
        <p:nvSpPr>
          <p:cNvPr id="9281" name="Line 1008"/>
          <p:cNvSpPr>
            <a:spLocks noChangeShapeType="1"/>
          </p:cNvSpPr>
          <p:nvPr/>
        </p:nvSpPr>
        <p:spPr bwMode="auto">
          <a:xfrm flipH="1">
            <a:off x="5651500" y="2805113"/>
            <a:ext cx="144463"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282" name="Line 1009"/>
          <p:cNvSpPr>
            <a:spLocks noChangeShapeType="1"/>
          </p:cNvSpPr>
          <p:nvPr/>
        </p:nvSpPr>
        <p:spPr bwMode="auto">
          <a:xfrm flipH="1">
            <a:off x="5364163" y="3236913"/>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283" name="Line 1010"/>
          <p:cNvSpPr>
            <a:spLocks noChangeShapeType="1"/>
          </p:cNvSpPr>
          <p:nvPr/>
        </p:nvSpPr>
        <p:spPr bwMode="auto">
          <a:xfrm>
            <a:off x="6011863" y="2805113"/>
            <a:ext cx="215900" cy="1365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284" name="Line 1011"/>
          <p:cNvSpPr>
            <a:spLocks noChangeShapeType="1"/>
          </p:cNvSpPr>
          <p:nvPr/>
        </p:nvSpPr>
        <p:spPr bwMode="auto">
          <a:xfrm>
            <a:off x="5651500" y="3236913"/>
            <a:ext cx="144463"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285" name="Oval 1014"/>
          <p:cNvSpPr>
            <a:spLocks noChangeArrowheads="1"/>
          </p:cNvSpPr>
          <p:nvPr/>
        </p:nvSpPr>
        <p:spPr bwMode="auto">
          <a:xfrm>
            <a:off x="5938838" y="387826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6</a:t>
            </a:r>
          </a:p>
        </p:txBody>
      </p:sp>
      <p:sp>
        <p:nvSpPr>
          <p:cNvPr id="9286" name="Line 1015"/>
          <p:cNvSpPr>
            <a:spLocks noChangeShapeType="1"/>
          </p:cNvSpPr>
          <p:nvPr/>
        </p:nvSpPr>
        <p:spPr bwMode="auto">
          <a:xfrm>
            <a:off x="5867400" y="3662363"/>
            <a:ext cx="144463"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288" name="AutoShape 1017"/>
          <p:cNvSpPr>
            <a:spLocks noChangeArrowheads="1"/>
          </p:cNvSpPr>
          <p:nvPr/>
        </p:nvSpPr>
        <p:spPr bwMode="auto">
          <a:xfrm>
            <a:off x="6052525" y="2597028"/>
            <a:ext cx="142875" cy="144462"/>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9289" name="Text Box 1018"/>
          <p:cNvSpPr txBox="1">
            <a:spLocks noChangeArrowheads="1"/>
          </p:cNvSpPr>
          <p:nvPr/>
        </p:nvSpPr>
        <p:spPr bwMode="auto">
          <a:xfrm>
            <a:off x="5295900" y="2205038"/>
            <a:ext cx="10509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delete(7,S)</a:t>
            </a:r>
          </a:p>
        </p:txBody>
      </p:sp>
      <p:sp>
        <p:nvSpPr>
          <p:cNvPr id="9290" name="Text Box 1019"/>
          <p:cNvSpPr txBox="1">
            <a:spLocks noChangeArrowheads="1"/>
          </p:cNvSpPr>
          <p:nvPr/>
        </p:nvSpPr>
        <p:spPr bwMode="auto">
          <a:xfrm>
            <a:off x="5440363" y="2509838"/>
            <a:ext cx="3857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7=</a:t>
            </a:r>
          </a:p>
        </p:txBody>
      </p:sp>
      <p:sp>
        <p:nvSpPr>
          <p:cNvPr id="9291" name="Oval 1030"/>
          <p:cNvSpPr>
            <a:spLocks noChangeArrowheads="1"/>
          </p:cNvSpPr>
          <p:nvPr/>
        </p:nvSpPr>
        <p:spPr bwMode="auto">
          <a:xfrm>
            <a:off x="5722938" y="431006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5</a:t>
            </a:r>
          </a:p>
        </p:txBody>
      </p:sp>
      <p:sp>
        <p:nvSpPr>
          <p:cNvPr id="9292" name="Line 1031"/>
          <p:cNvSpPr>
            <a:spLocks noChangeShapeType="1"/>
          </p:cNvSpPr>
          <p:nvPr/>
        </p:nvSpPr>
        <p:spPr bwMode="auto">
          <a:xfrm flipH="1">
            <a:off x="5868988" y="4094163"/>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nvGrpSpPr>
          <p:cNvPr id="70670" name="Group 1038"/>
          <p:cNvGrpSpPr>
            <a:grpSpLocks/>
          </p:cNvGrpSpPr>
          <p:nvPr/>
        </p:nvGrpSpPr>
        <p:grpSpPr bwMode="auto">
          <a:xfrm>
            <a:off x="6011863" y="3149600"/>
            <a:ext cx="647700" cy="495300"/>
            <a:chOff x="3878" y="1984"/>
            <a:chExt cx="408" cy="312"/>
          </a:xfrm>
        </p:grpSpPr>
        <p:sp>
          <p:nvSpPr>
            <p:cNvPr id="9329" name="Oval 1012"/>
            <p:cNvSpPr>
              <a:spLocks noChangeArrowheads="1"/>
            </p:cNvSpPr>
            <p:nvPr/>
          </p:nvSpPr>
          <p:spPr bwMode="auto">
            <a:xfrm>
              <a:off x="3878" y="2121"/>
              <a:ext cx="136" cy="1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8</a:t>
              </a:r>
            </a:p>
          </p:txBody>
        </p:sp>
        <p:sp>
          <p:nvSpPr>
            <p:cNvPr id="9330" name="Line 1013"/>
            <p:cNvSpPr>
              <a:spLocks noChangeShapeType="1"/>
            </p:cNvSpPr>
            <p:nvPr/>
          </p:nvSpPr>
          <p:spPr bwMode="auto">
            <a:xfrm flipH="1">
              <a:off x="3970" y="1984"/>
              <a:ext cx="44" cy="1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331" name="Text Box 1035"/>
            <p:cNvSpPr txBox="1">
              <a:spLocks noChangeArrowheads="1"/>
            </p:cNvSpPr>
            <p:nvPr/>
          </p:nvSpPr>
          <p:spPr bwMode="auto">
            <a:xfrm>
              <a:off x="4108" y="2104"/>
              <a:ext cx="17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b="1" smtClean="0">
                  <a:solidFill>
                    <a:srgbClr val="FF3300"/>
                  </a:solidFill>
                </a:rPr>
                <a:t>v</a:t>
              </a:r>
            </a:p>
          </p:txBody>
        </p:sp>
        <p:sp>
          <p:nvSpPr>
            <p:cNvPr id="9332" name="AutoShape 1036"/>
            <p:cNvSpPr>
              <a:spLocks noChangeArrowheads="1"/>
            </p:cNvSpPr>
            <p:nvPr/>
          </p:nvSpPr>
          <p:spPr bwMode="auto">
            <a:xfrm>
              <a:off x="4018" y="2160"/>
              <a:ext cx="90" cy="91"/>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grpSp>
      <p:sp>
        <p:nvSpPr>
          <p:cNvPr id="70669" name="Oval 1037"/>
          <p:cNvSpPr>
            <a:spLocks noChangeArrowheads="1"/>
          </p:cNvSpPr>
          <p:nvPr/>
        </p:nvSpPr>
        <p:spPr bwMode="auto">
          <a:xfrm>
            <a:off x="5795963" y="2588349"/>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dirty="0">
                <a:latin typeface="Arial" charset="0"/>
                <a:ea typeface="ＭＳ Ｐゴシック" charset="0"/>
                <a:cs typeface="ＭＳ Ｐゴシック" charset="0"/>
              </a:rPr>
              <a:t>8</a:t>
            </a:r>
          </a:p>
        </p:txBody>
      </p:sp>
      <p:sp>
        <p:nvSpPr>
          <p:cNvPr id="9296" name="Oval 1039"/>
          <p:cNvSpPr>
            <a:spLocks noChangeArrowheads="1"/>
          </p:cNvSpPr>
          <p:nvPr/>
        </p:nvSpPr>
        <p:spPr bwMode="auto">
          <a:xfrm>
            <a:off x="7807325" y="258921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7</a:t>
            </a:r>
          </a:p>
        </p:txBody>
      </p:sp>
      <p:sp>
        <p:nvSpPr>
          <p:cNvPr id="9297" name="Oval 1040"/>
          <p:cNvSpPr>
            <a:spLocks noChangeArrowheads="1"/>
          </p:cNvSpPr>
          <p:nvPr/>
        </p:nvSpPr>
        <p:spPr bwMode="auto">
          <a:xfrm>
            <a:off x="7518400" y="302101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3</a:t>
            </a:r>
          </a:p>
        </p:txBody>
      </p:sp>
      <p:sp>
        <p:nvSpPr>
          <p:cNvPr id="9298" name="Oval 1041"/>
          <p:cNvSpPr>
            <a:spLocks noChangeArrowheads="1"/>
          </p:cNvSpPr>
          <p:nvPr/>
        </p:nvSpPr>
        <p:spPr bwMode="auto">
          <a:xfrm>
            <a:off x="8167688" y="294163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10</a:t>
            </a:r>
          </a:p>
        </p:txBody>
      </p:sp>
      <p:sp>
        <p:nvSpPr>
          <p:cNvPr id="9299" name="Oval 1042"/>
          <p:cNvSpPr>
            <a:spLocks noChangeArrowheads="1"/>
          </p:cNvSpPr>
          <p:nvPr/>
        </p:nvSpPr>
        <p:spPr bwMode="auto">
          <a:xfrm>
            <a:off x="7231063" y="345281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a:t>
            </a:r>
          </a:p>
        </p:txBody>
      </p:sp>
      <p:sp>
        <p:nvSpPr>
          <p:cNvPr id="9300" name="Line 1044"/>
          <p:cNvSpPr>
            <a:spLocks noChangeShapeType="1"/>
          </p:cNvSpPr>
          <p:nvPr/>
        </p:nvSpPr>
        <p:spPr bwMode="auto">
          <a:xfrm flipH="1">
            <a:off x="7662863" y="2805113"/>
            <a:ext cx="144462"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301" name="Line 1045"/>
          <p:cNvSpPr>
            <a:spLocks noChangeShapeType="1"/>
          </p:cNvSpPr>
          <p:nvPr/>
        </p:nvSpPr>
        <p:spPr bwMode="auto">
          <a:xfrm flipH="1">
            <a:off x="7375525" y="3236913"/>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302" name="Line 1046"/>
          <p:cNvSpPr>
            <a:spLocks noChangeShapeType="1"/>
          </p:cNvSpPr>
          <p:nvPr/>
        </p:nvSpPr>
        <p:spPr bwMode="auto">
          <a:xfrm>
            <a:off x="8023225" y="2805113"/>
            <a:ext cx="215900" cy="1365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303" name="Line 1047"/>
          <p:cNvSpPr>
            <a:spLocks noChangeShapeType="1"/>
          </p:cNvSpPr>
          <p:nvPr/>
        </p:nvSpPr>
        <p:spPr bwMode="auto">
          <a:xfrm>
            <a:off x="7662863" y="3236913"/>
            <a:ext cx="144462"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304" name="Oval 1048"/>
          <p:cNvSpPr>
            <a:spLocks noChangeArrowheads="1"/>
          </p:cNvSpPr>
          <p:nvPr/>
        </p:nvSpPr>
        <p:spPr bwMode="auto">
          <a:xfrm>
            <a:off x="8023225" y="336708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8</a:t>
            </a:r>
          </a:p>
        </p:txBody>
      </p:sp>
      <p:sp>
        <p:nvSpPr>
          <p:cNvPr id="9305" name="Line 1049"/>
          <p:cNvSpPr>
            <a:spLocks noChangeShapeType="1"/>
          </p:cNvSpPr>
          <p:nvPr/>
        </p:nvSpPr>
        <p:spPr bwMode="auto">
          <a:xfrm flipH="1">
            <a:off x="8169275" y="3149600"/>
            <a:ext cx="69850" cy="2174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306" name="Text Box 1052"/>
          <p:cNvSpPr txBox="1">
            <a:spLocks noChangeArrowheads="1"/>
          </p:cNvSpPr>
          <p:nvPr/>
        </p:nvSpPr>
        <p:spPr bwMode="auto">
          <a:xfrm>
            <a:off x="8096250" y="2500313"/>
            <a:ext cx="292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b="1" smtClean="0">
                <a:solidFill>
                  <a:srgbClr val="FF3300"/>
                </a:solidFill>
              </a:rPr>
              <a:t>u</a:t>
            </a:r>
          </a:p>
        </p:txBody>
      </p:sp>
      <p:sp>
        <p:nvSpPr>
          <p:cNvPr id="9307" name="AutoShape 1053"/>
          <p:cNvSpPr>
            <a:spLocks noChangeArrowheads="1"/>
          </p:cNvSpPr>
          <p:nvPr/>
        </p:nvSpPr>
        <p:spPr bwMode="auto">
          <a:xfrm>
            <a:off x="8024813" y="2589213"/>
            <a:ext cx="142875" cy="144462"/>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9308" name="Text Box 1054"/>
          <p:cNvSpPr txBox="1">
            <a:spLocks noChangeArrowheads="1"/>
          </p:cNvSpPr>
          <p:nvPr/>
        </p:nvSpPr>
        <p:spPr bwMode="auto">
          <a:xfrm>
            <a:off x="7265988" y="2205038"/>
            <a:ext cx="10509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delete(3,S)</a:t>
            </a:r>
          </a:p>
        </p:txBody>
      </p:sp>
      <p:sp>
        <p:nvSpPr>
          <p:cNvPr id="9309" name="Text Box 1055"/>
          <p:cNvSpPr txBox="1">
            <a:spLocks noChangeArrowheads="1"/>
          </p:cNvSpPr>
          <p:nvPr/>
        </p:nvSpPr>
        <p:spPr bwMode="auto">
          <a:xfrm>
            <a:off x="7451725" y="2509838"/>
            <a:ext cx="3857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3&lt;</a:t>
            </a:r>
          </a:p>
        </p:txBody>
      </p:sp>
      <p:sp>
        <p:nvSpPr>
          <p:cNvPr id="9310" name="Text Box 1056"/>
          <p:cNvSpPr txBox="1">
            <a:spLocks noChangeArrowheads="1"/>
          </p:cNvSpPr>
          <p:nvPr/>
        </p:nvSpPr>
        <p:spPr bwMode="auto">
          <a:xfrm>
            <a:off x="7375525" y="3429000"/>
            <a:ext cx="28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b="1" smtClean="0">
                <a:solidFill>
                  <a:srgbClr val="FF3300"/>
                </a:solidFill>
              </a:rPr>
              <a:t>v</a:t>
            </a:r>
          </a:p>
        </p:txBody>
      </p:sp>
      <p:grpSp>
        <p:nvGrpSpPr>
          <p:cNvPr id="70704" name="Group 1072"/>
          <p:cNvGrpSpPr>
            <a:grpSpLocks/>
          </p:cNvGrpSpPr>
          <p:nvPr/>
        </p:nvGrpSpPr>
        <p:grpSpPr bwMode="auto">
          <a:xfrm>
            <a:off x="7597775" y="3452813"/>
            <a:ext cx="425450" cy="425450"/>
            <a:chOff x="4786" y="2175"/>
            <a:chExt cx="268" cy="268"/>
          </a:xfrm>
        </p:grpSpPr>
        <p:sp>
          <p:nvSpPr>
            <p:cNvPr id="9326" name="Oval 1043"/>
            <p:cNvSpPr>
              <a:spLocks noChangeArrowheads="1"/>
            </p:cNvSpPr>
            <p:nvPr/>
          </p:nvSpPr>
          <p:spPr bwMode="auto">
            <a:xfrm>
              <a:off x="4872" y="2175"/>
              <a:ext cx="136" cy="1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4</a:t>
              </a:r>
            </a:p>
          </p:txBody>
        </p:sp>
        <p:sp>
          <p:nvSpPr>
            <p:cNvPr id="9327" name="Line 1051"/>
            <p:cNvSpPr>
              <a:spLocks noChangeShapeType="1"/>
            </p:cNvSpPr>
            <p:nvPr/>
          </p:nvSpPr>
          <p:spPr bwMode="auto">
            <a:xfrm>
              <a:off x="4963" y="2307"/>
              <a:ext cx="91"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9328" name="AutoShape 1057"/>
            <p:cNvSpPr>
              <a:spLocks noChangeArrowheads="1"/>
            </p:cNvSpPr>
            <p:nvPr/>
          </p:nvSpPr>
          <p:spPr bwMode="auto">
            <a:xfrm flipH="1">
              <a:off x="4786" y="2216"/>
              <a:ext cx="90" cy="91"/>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grpSp>
      <p:sp>
        <p:nvSpPr>
          <p:cNvPr id="9312" name="Text Box 1062"/>
          <p:cNvSpPr txBox="1">
            <a:spLocks noChangeArrowheads="1"/>
          </p:cNvSpPr>
          <p:nvPr/>
        </p:nvSpPr>
        <p:spPr bwMode="auto">
          <a:xfrm>
            <a:off x="7667625" y="2997200"/>
            <a:ext cx="3857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=3</a:t>
            </a:r>
          </a:p>
        </p:txBody>
      </p:sp>
      <p:sp>
        <p:nvSpPr>
          <p:cNvPr id="9314" name="AutoShape 1064"/>
          <p:cNvSpPr>
            <a:spLocks noChangeArrowheads="1"/>
          </p:cNvSpPr>
          <p:nvPr/>
        </p:nvSpPr>
        <p:spPr bwMode="auto">
          <a:xfrm flipH="1">
            <a:off x="7381875" y="3030538"/>
            <a:ext cx="142875" cy="144462"/>
          </a:xfrm>
          <a:prstGeom prst="leftArrow">
            <a:avLst>
              <a:gd name="adj1" fmla="val 50000"/>
              <a:gd name="adj2"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grpSp>
        <p:nvGrpSpPr>
          <p:cNvPr id="70709" name="Group 1077"/>
          <p:cNvGrpSpPr>
            <a:grpSpLocks/>
          </p:cNvGrpSpPr>
          <p:nvPr/>
        </p:nvGrpSpPr>
        <p:grpSpPr bwMode="auto">
          <a:xfrm>
            <a:off x="7734300" y="3878263"/>
            <a:ext cx="431800" cy="647700"/>
            <a:chOff x="4872" y="2443"/>
            <a:chExt cx="272" cy="408"/>
          </a:xfrm>
        </p:grpSpPr>
        <p:sp>
          <p:nvSpPr>
            <p:cNvPr id="9322" name="Oval 1050"/>
            <p:cNvSpPr>
              <a:spLocks noChangeArrowheads="1"/>
            </p:cNvSpPr>
            <p:nvPr/>
          </p:nvSpPr>
          <p:spPr bwMode="auto">
            <a:xfrm>
              <a:off x="5008" y="2443"/>
              <a:ext cx="136" cy="1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6</a:t>
              </a:r>
            </a:p>
          </p:txBody>
        </p:sp>
        <p:sp>
          <p:nvSpPr>
            <p:cNvPr id="9323" name="Oval 1066"/>
            <p:cNvSpPr>
              <a:spLocks noChangeArrowheads="1"/>
            </p:cNvSpPr>
            <p:nvPr/>
          </p:nvSpPr>
          <p:spPr bwMode="auto">
            <a:xfrm>
              <a:off x="4872" y="2715"/>
              <a:ext cx="136" cy="1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5</a:t>
              </a:r>
            </a:p>
          </p:txBody>
        </p:sp>
        <p:sp>
          <p:nvSpPr>
            <p:cNvPr id="9324" name="Line 1067"/>
            <p:cNvSpPr>
              <a:spLocks noChangeShapeType="1"/>
            </p:cNvSpPr>
            <p:nvPr/>
          </p:nvSpPr>
          <p:spPr bwMode="auto">
            <a:xfrm flipH="1">
              <a:off x="4964" y="2579"/>
              <a:ext cx="90"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sp>
        <p:nvSpPr>
          <p:cNvPr id="70703" name="Oval 1071"/>
          <p:cNvSpPr>
            <a:spLocks noChangeArrowheads="1"/>
          </p:cNvSpPr>
          <p:nvPr/>
        </p:nvSpPr>
        <p:spPr bwMode="auto">
          <a:xfrm>
            <a:off x="7524750" y="299720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4</a:t>
            </a:r>
          </a:p>
        </p:txBody>
      </p:sp>
      <p:grpSp>
        <p:nvGrpSpPr>
          <p:cNvPr id="70710" name="Group 1078"/>
          <p:cNvGrpSpPr>
            <a:grpSpLocks/>
          </p:cNvGrpSpPr>
          <p:nvPr/>
        </p:nvGrpSpPr>
        <p:grpSpPr bwMode="auto">
          <a:xfrm>
            <a:off x="7524750" y="3429000"/>
            <a:ext cx="431800" cy="647700"/>
            <a:chOff x="5284" y="2579"/>
            <a:chExt cx="272" cy="408"/>
          </a:xfrm>
        </p:grpSpPr>
        <p:sp>
          <p:nvSpPr>
            <p:cNvPr id="9319" name="Oval 1073"/>
            <p:cNvSpPr>
              <a:spLocks noChangeArrowheads="1"/>
            </p:cNvSpPr>
            <p:nvPr/>
          </p:nvSpPr>
          <p:spPr bwMode="auto">
            <a:xfrm>
              <a:off x="5420" y="2579"/>
              <a:ext cx="136" cy="1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6</a:t>
              </a:r>
            </a:p>
          </p:txBody>
        </p:sp>
        <p:sp>
          <p:nvSpPr>
            <p:cNvPr id="9320" name="Oval 1074"/>
            <p:cNvSpPr>
              <a:spLocks noChangeArrowheads="1"/>
            </p:cNvSpPr>
            <p:nvPr/>
          </p:nvSpPr>
          <p:spPr bwMode="auto">
            <a:xfrm>
              <a:off x="5284" y="2851"/>
              <a:ext cx="136" cy="1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5</a:t>
              </a:r>
            </a:p>
          </p:txBody>
        </p:sp>
        <p:sp>
          <p:nvSpPr>
            <p:cNvPr id="9321" name="Line 1075"/>
            <p:cNvSpPr>
              <a:spLocks noChangeShapeType="1"/>
            </p:cNvSpPr>
            <p:nvPr/>
          </p:nvSpPr>
          <p:spPr bwMode="auto">
            <a:xfrm flipH="1">
              <a:off x="5376" y="2715"/>
              <a:ext cx="90"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sp>
        <p:nvSpPr>
          <p:cNvPr id="9318" name="AutoShape 1079"/>
          <p:cNvSpPr>
            <a:spLocks noChangeArrowheads="1"/>
          </p:cNvSpPr>
          <p:nvPr/>
        </p:nvSpPr>
        <p:spPr bwMode="auto">
          <a:xfrm>
            <a:off x="7312431" y="5661025"/>
            <a:ext cx="1796074" cy="1058561"/>
          </a:xfrm>
          <a:prstGeom prst="wedgeRoundRectCallout">
            <a:avLst>
              <a:gd name="adj1" fmla="val -56998"/>
              <a:gd name="adj2" fmla="val 24954"/>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000" tIns="36000" rIns="72000" bIns="36000" anchor="ctr" anchorCtr="0"/>
          <a:lstStyle/>
          <a:p>
            <a:pPr>
              <a:defRPr/>
            </a:pPr>
            <a:r>
              <a:rPr lang="en-US" altLang="ja-JP" sz="1600" dirty="0">
                <a:latin typeface="Arial" charset="0"/>
                <a:ea typeface="ＭＳ Ｐゴシック" charset="0"/>
                <a:cs typeface="ＭＳ Ｐゴシック" charset="0"/>
              </a:rPr>
              <a:t>v</a:t>
            </a:r>
            <a:r>
              <a:rPr lang="ja-JP" altLang="en-US" sz="1600" dirty="0">
                <a:latin typeface="Arial" charset="0"/>
                <a:ea typeface="ＭＳ Ｐゴシック" charset="0"/>
                <a:cs typeface="ＭＳ Ｐゴシック" charset="0"/>
              </a:rPr>
              <a:t>は部分木の最小要素をもつ節点なので子の数</a:t>
            </a:r>
            <a:r>
              <a:rPr lang="ja-JP" altLang="en-US" sz="1600" dirty="0" smtClean="0">
                <a:latin typeface="Arial" charset="0"/>
                <a:ea typeface="ＭＳ Ｐゴシック" charset="0"/>
                <a:cs typeface="ＭＳ Ｐゴシック" charset="0"/>
              </a:rPr>
              <a:t>は高々</a:t>
            </a:r>
            <a:r>
              <a:rPr lang="ja-JP" altLang="en-US" sz="1600" dirty="0">
                <a:latin typeface="Arial" charset="0"/>
                <a:ea typeface="ＭＳ Ｐゴシック" charset="0"/>
                <a:cs typeface="ＭＳ Ｐゴシック" charset="0"/>
              </a:rPr>
              <a:t>１つ</a:t>
            </a:r>
          </a:p>
        </p:txBody>
      </p:sp>
      <p:sp>
        <p:nvSpPr>
          <p:cNvPr id="132" name="Text Box 940"/>
          <p:cNvSpPr txBox="1">
            <a:spLocks noChangeArrowheads="1"/>
          </p:cNvSpPr>
          <p:nvPr/>
        </p:nvSpPr>
        <p:spPr bwMode="auto">
          <a:xfrm>
            <a:off x="6145948" y="2501229"/>
            <a:ext cx="292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b="1" smtClean="0">
                <a:solidFill>
                  <a:srgbClr val="FF3300"/>
                </a:solidFill>
              </a:rPr>
              <a:t>u</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xit" presetSubtype="16" fill="hold" nodeType="clickEffect">
                                  <p:stCondLst>
                                    <p:cond delay="0"/>
                                  </p:stCondLst>
                                  <p:childTnLst>
                                    <p:animEffect transition="out" filter="box(in)">
                                      <p:cBhvr>
                                        <p:cTn id="6" dur="500"/>
                                        <p:tgtEl>
                                          <p:spTgt spid="66494"/>
                                        </p:tgtEl>
                                      </p:cBhvr>
                                    </p:animEffect>
                                    <p:set>
                                      <p:cBhvr>
                                        <p:cTn id="7" dur="1" fill="hold">
                                          <p:stCondLst>
                                            <p:cond delay="499"/>
                                          </p:stCondLst>
                                        </p:cTn>
                                        <p:tgtEl>
                                          <p:spTgt spid="66494"/>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xit" presetSubtype="10" fill="hold" nodeType="clickEffect">
                                  <p:stCondLst>
                                    <p:cond delay="0"/>
                                  </p:stCondLst>
                                  <p:childTnLst>
                                    <p:animEffect transition="out" filter="blinds(horizontal)">
                                      <p:cBhvr>
                                        <p:cTn id="11" dur="500"/>
                                        <p:tgtEl>
                                          <p:spTgt spid="66536"/>
                                        </p:tgtEl>
                                      </p:cBhvr>
                                    </p:animEffect>
                                    <p:set>
                                      <p:cBhvr>
                                        <p:cTn id="12" dur="1" fill="hold">
                                          <p:stCondLst>
                                            <p:cond delay="499"/>
                                          </p:stCondLst>
                                        </p:cTn>
                                        <p:tgtEl>
                                          <p:spTgt spid="66536"/>
                                        </p:tgtEl>
                                        <p:attrNameLst>
                                          <p:attrName>style.visibility</p:attrName>
                                        </p:attrNameLst>
                                      </p:cBhvr>
                                      <p:to>
                                        <p:strVal val="hidden"/>
                                      </p:to>
                                    </p:set>
                                  </p:childTnLst>
                                </p:cTn>
                              </p:par>
                              <p:par>
                                <p:cTn id="13" presetID="3" presetClass="entr" presetSubtype="10" fill="hold" nodeType="withEffect">
                                  <p:stCondLst>
                                    <p:cond delay="0"/>
                                  </p:stCondLst>
                                  <p:childTnLst>
                                    <p:set>
                                      <p:cBhvr>
                                        <p:cTn id="14" dur="1" fill="hold">
                                          <p:stCondLst>
                                            <p:cond delay="0"/>
                                          </p:stCondLst>
                                        </p:cTn>
                                        <p:tgtEl>
                                          <p:spTgt spid="66538"/>
                                        </p:tgtEl>
                                        <p:attrNameLst>
                                          <p:attrName>style.visibility</p:attrName>
                                        </p:attrNameLst>
                                      </p:cBhvr>
                                      <p:to>
                                        <p:strVal val="visible"/>
                                      </p:to>
                                    </p:set>
                                    <p:animEffect transition="in" filter="blinds(horizontal)">
                                      <p:cBhvr>
                                        <p:cTn id="15" dur="500"/>
                                        <p:tgtEl>
                                          <p:spTgt spid="66538"/>
                                        </p:tgtEl>
                                      </p:cBhvr>
                                    </p:animEffect>
                                  </p:childTnLst>
                                </p:cTn>
                              </p:par>
                              <p:par>
                                <p:cTn id="16" presetID="3" presetClass="exit" presetSubtype="10" fill="hold" nodeType="withEffect">
                                  <p:stCondLst>
                                    <p:cond delay="0"/>
                                  </p:stCondLst>
                                  <p:childTnLst>
                                    <p:animEffect transition="out" filter="blinds(horizontal)">
                                      <p:cBhvr>
                                        <p:cTn id="17" dur="500"/>
                                        <p:tgtEl>
                                          <p:spTgt spid="66537"/>
                                        </p:tgtEl>
                                      </p:cBhvr>
                                    </p:animEffect>
                                    <p:set>
                                      <p:cBhvr>
                                        <p:cTn id="18" dur="1" fill="hold">
                                          <p:stCondLst>
                                            <p:cond delay="499"/>
                                          </p:stCondLst>
                                        </p:cTn>
                                        <p:tgtEl>
                                          <p:spTgt spid="66537"/>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70669"/>
                                        </p:tgtEl>
                                        <p:attrNameLst>
                                          <p:attrName>style.visibility</p:attrName>
                                        </p:attrNameLst>
                                      </p:cBhvr>
                                      <p:to>
                                        <p:strVal val="visible"/>
                                      </p:to>
                                    </p:set>
                                    <p:animEffect transition="in" filter="blinds(horizontal)">
                                      <p:cBhvr>
                                        <p:cTn id="23" dur="500"/>
                                        <p:tgtEl>
                                          <p:spTgt spid="7066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xit" presetSubtype="10" fill="hold" nodeType="clickEffect">
                                  <p:stCondLst>
                                    <p:cond delay="0"/>
                                  </p:stCondLst>
                                  <p:childTnLst>
                                    <p:animEffect transition="out" filter="blinds(horizontal)">
                                      <p:cBhvr>
                                        <p:cTn id="27" dur="500"/>
                                        <p:tgtEl>
                                          <p:spTgt spid="70670"/>
                                        </p:tgtEl>
                                      </p:cBhvr>
                                    </p:animEffect>
                                    <p:set>
                                      <p:cBhvr>
                                        <p:cTn id="28" dur="1" fill="hold">
                                          <p:stCondLst>
                                            <p:cond delay="499"/>
                                          </p:stCondLst>
                                        </p:cTn>
                                        <p:tgtEl>
                                          <p:spTgt spid="70670"/>
                                        </p:tgtEl>
                                        <p:attrNameLst>
                                          <p:attrName>style.visibility</p:attrName>
                                        </p:attrNameLst>
                                      </p:cBhvr>
                                      <p:to>
                                        <p:strVal val="hidden"/>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70703"/>
                                        </p:tgtEl>
                                        <p:attrNameLst>
                                          <p:attrName>style.visibility</p:attrName>
                                        </p:attrNameLst>
                                      </p:cBhvr>
                                      <p:to>
                                        <p:strVal val="visible"/>
                                      </p:to>
                                    </p:set>
                                    <p:animEffect transition="in" filter="blinds(horizontal)">
                                      <p:cBhvr>
                                        <p:cTn id="33" dur="500"/>
                                        <p:tgtEl>
                                          <p:spTgt spid="7070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xit" presetSubtype="10" fill="hold" nodeType="clickEffect">
                                  <p:stCondLst>
                                    <p:cond delay="0"/>
                                  </p:stCondLst>
                                  <p:childTnLst>
                                    <p:animEffect transition="out" filter="blinds(horizontal)">
                                      <p:cBhvr>
                                        <p:cTn id="37" dur="500"/>
                                        <p:tgtEl>
                                          <p:spTgt spid="70704"/>
                                        </p:tgtEl>
                                      </p:cBhvr>
                                    </p:animEffect>
                                    <p:set>
                                      <p:cBhvr>
                                        <p:cTn id="38" dur="1" fill="hold">
                                          <p:stCondLst>
                                            <p:cond delay="499"/>
                                          </p:stCondLst>
                                        </p:cTn>
                                        <p:tgtEl>
                                          <p:spTgt spid="70704"/>
                                        </p:tgtEl>
                                        <p:attrNameLst>
                                          <p:attrName>style.visibility</p:attrName>
                                        </p:attrNameLst>
                                      </p:cBhvr>
                                      <p:to>
                                        <p:strVal val="hidden"/>
                                      </p:to>
                                    </p:set>
                                  </p:childTnLst>
                                </p:cTn>
                              </p:par>
                              <p:par>
                                <p:cTn id="39" presetID="3" presetClass="entr" presetSubtype="10" fill="hold" nodeType="withEffect">
                                  <p:stCondLst>
                                    <p:cond delay="0"/>
                                  </p:stCondLst>
                                  <p:childTnLst>
                                    <p:set>
                                      <p:cBhvr>
                                        <p:cTn id="40" dur="1" fill="hold">
                                          <p:stCondLst>
                                            <p:cond delay="0"/>
                                          </p:stCondLst>
                                        </p:cTn>
                                        <p:tgtEl>
                                          <p:spTgt spid="70710"/>
                                        </p:tgtEl>
                                        <p:attrNameLst>
                                          <p:attrName>style.visibility</p:attrName>
                                        </p:attrNameLst>
                                      </p:cBhvr>
                                      <p:to>
                                        <p:strVal val="visible"/>
                                      </p:to>
                                    </p:set>
                                    <p:animEffect transition="in" filter="blinds(horizontal)">
                                      <p:cBhvr>
                                        <p:cTn id="41" dur="500"/>
                                        <p:tgtEl>
                                          <p:spTgt spid="70710"/>
                                        </p:tgtEl>
                                      </p:cBhvr>
                                    </p:animEffect>
                                  </p:childTnLst>
                                </p:cTn>
                              </p:par>
                              <p:par>
                                <p:cTn id="42" presetID="3" presetClass="exit" presetSubtype="10" fill="hold" nodeType="withEffect">
                                  <p:stCondLst>
                                    <p:cond delay="0"/>
                                  </p:stCondLst>
                                  <p:childTnLst>
                                    <p:animEffect transition="out" filter="blinds(horizontal)">
                                      <p:cBhvr>
                                        <p:cTn id="43" dur="500"/>
                                        <p:tgtEl>
                                          <p:spTgt spid="70709"/>
                                        </p:tgtEl>
                                      </p:cBhvr>
                                    </p:animEffect>
                                    <p:set>
                                      <p:cBhvr>
                                        <p:cTn id="44" dur="1" fill="hold">
                                          <p:stCondLst>
                                            <p:cond delay="499"/>
                                          </p:stCondLst>
                                        </p:cTn>
                                        <p:tgtEl>
                                          <p:spTgt spid="7070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9" grpId="0" animBg="1"/>
      <p:bldP spid="7070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スライド番号プレースホルダー 4"/>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fld id="{6921951A-C6EE-4AEF-B120-A05178FF4E88}" type="slidenum">
              <a:rPr kumimoji="0" lang="en-US" altLang="ja-JP" sz="1200">
                <a:latin typeface="Arial Black" pitchFamily="34" charset="0"/>
              </a:rPr>
              <a:pPr/>
              <a:t>9</a:t>
            </a:fld>
            <a:endParaRPr kumimoji="0" lang="en-US" altLang="ja-JP" sz="1200">
              <a:latin typeface="Arial Black" pitchFamily="34" charset="0"/>
            </a:endParaRPr>
          </a:p>
        </p:txBody>
      </p:sp>
      <p:sp>
        <p:nvSpPr>
          <p:cNvPr id="10245" name="Rectangle 2"/>
          <p:cNvSpPr>
            <a:spLocks noGrp="1" noChangeArrowheads="1"/>
          </p:cNvSpPr>
          <p:nvPr>
            <p:ph type="title"/>
          </p:nvPr>
        </p:nvSpPr>
        <p:spPr>
          <a:xfrm>
            <a:off x="461963" y="260648"/>
            <a:ext cx="8604250" cy="926306"/>
          </a:xfrm>
        </p:spPr>
        <p:txBody>
          <a:bodyPr/>
          <a:lstStyle/>
          <a:p>
            <a:pPr eaLnBrk="1" hangingPunct="1">
              <a:defRPr/>
            </a:pPr>
            <a:r>
              <a:rPr lang="en-US" altLang="ja-JP" sz="3200" dirty="0"/>
              <a:t>n</a:t>
            </a:r>
            <a:r>
              <a:rPr lang="ja-JP" altLang="en-US" sz="3200" dirty="0"/>
              <a:t>要素の２分探索木に対する操作の時間計算量</a:t>
            </a:r>
            <a:endParaRPr lang="ja-JP" altLang="en-US" sz="2000" dirty="0"/>
          </a:p>
        </p:txBody>
      </p:sp>
      <p:sp>
        <p:nvSpPr>
          <p:cNvPr id="10246" name="Text Box 805"/>
          <p:cNvSpPr txBox="1">
            <a:spLocks noChangeArrowheads="1"/>
          </p:cNvSpPr>
          <p:nvPr/>
        </p:nvSpPr>
        <p:spPr bwMode="auto">
          <a:xfrm>
            <a:off x="323850" y="1335088"/>
            <a:ext cx="9317038" cy="193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2000" dirty="0" smtClean="0"/>
              <a:t>n</a:t>
            </a:r>
            <a:r>
              <a:rPr lang="ja-JP" altLang="en-US" sz="2000" dirty="0" smtClean="0"/>
              <a:t>要素の２分探索木に対する</a:t>
            </a:r>
            <a:r>
              <a:rPr lang="en-US" altLang="ja-JP" sz="2000" dirty="0" smtClean="0"/>
              <a:t>member(</a:t>
            </a:r>
            <a:r>
              <a:rPr lang="en-US" altLang="ja-JP" sz="2000" dirty="0" err="1" smtClean="0"/>
              <a:t>x,S</a:t>
            </a:r>
            <a:r>
              <a:rPr lang="en-US" altLang="ja-JP" sz="2000" dirty="0" smtClean="0"/>
              <a:t>), insert(</a:t>
            </a:r>
            <a:r>
              <a:rPr lang="en-US" altLang="ja-JP" sz="2000" dirty="0" err="1" smtClean="0"/>
              <a:t>x,S</a:t>
            </a:r>
            <a:r>
              <a:rPr lang="en-US" altLang="ja-JP" sz="2000" dirty="0" smtClean="0"/>
              <a:t>), delete(</a:t>
            </a:r>
            <a:r>
              <a:rPr lang="en-US" altLang="ja-JP" sz="2000" dirty="0" err="1" smtClean="0"/>
              <a:t>x,S</a:t>
            </a:r>
            <a:r>
              <a:rPr lang="en-US" altLang="ja-JP" sz="2000" dirty="0" smtClean="0"/>
              <a:t>)</a:t>
            </a:r>
            <a:r>
              <a:rPr lang="ja-JP" altLang="en-US" sz="2000" dirty="0" smtClean="0"/>
              <a:t>操作の</a:t>
            </a:r>
          </a:p>
          <a:p>
            <a:pPr eaLnBrk="1" hangingPunct="1">
              <a:defRPr/>
            </a:pPr>
            <a:r>
              <a:rPr lang="ja-JP" altLang="en-US" sz="2000" dirty="0" smtClean="0"/>
              <a:t>計算時間は、</a:t>
            </a:r>
          </a:p>
          <a:p>
            <a:pPr eaLnBrk="1" hangingPunct="1">
              <a:defRPr/>
            </a:pPr>
            <a:r>
              <a:rPr lang="ja-JP" altLang="en-US" sz="2000" dirty="0" smtClean="0"/>
              <a:t>　　　</a:t>
            </a:r>
            <a:r>
              <a:rPr lang="en-US" altLang="ja-JP" sz="2000" dirty="0" err="1" smtClean="0"/>
              <a:t>x∈S</a:t>
            </a:r>
            <a:r>
              <a:rPr lang="ja-JP" altLang="en-US" sz="2000" dirty="0" smtClean="0"/>
              <a:t>の場合、　</a:t>
            </a:r>
            <a:r>
              <a:rPr lang="en-US" altLang="ja-JP" sz="2000" dirty="0" smtClean="0"/>
              <a:t>x</a:t>
            </a:r>
            <a:r>
              <a:rPr lang="ja-JP" altLang="en-US" sz="2000" dirty="0" smtClean="0"/>
              <a:t>を要素としてもつ節点の深さに比例する。</a:t>
            </a:r>
            <a:endParaRPr lang="en-US" altLang="ja-JP" sz="2000" dirty="0" smtClean="0"/>
          </a:p>
          <a:p>
            <a:pPr eaLnBrk="1" hangingPunct="1">
              <a:defRPr/>
            </a:pPr>
            <a:r>
              <a:rPr lang="en-US" altLang="ja-JP" sz="2000" dirty="0"/>
              <a:t> </a:t>
            </a:r>
            <a:r>
              <a:rPr lang="en-US" altLang="ja-JP" sz="2000" dirty="0" smtClean="0"/>
              <a:t>           </a:t>
            </a:r>
            <a:r>
              <a:rPr lang="en-US" altLang="ja-JP" sz="1600" dirty="0" smtClean="0"/>
              <a:t>(</a:t>
            </a:r>
            <a:r>
              <a:rPr lang="ja-JP" altLang="en-US" sz="1600" dirty="0" smtClean="0"/>
              <a:t>２つの子をもつ節点の</a:t>
            </a:r>
            <a:r>
              <a:rPr lang="en-US" altLang="ja-JP" sz="1600" dirty="0" smtClean="0"/>
              <a:t>delete</a:t>
            </a:r>
            <a:r>
              <a:rPr lang="ja-JP" altLang="en-US" sz="1600" dirty="0" smtClean="0"/>
              <a:t>はその節点の右部分木の最小要素の節点の深さに比例する）</a:t>
            </a:r>
          </a:p>
          <a:p>
            <a:pPr eaLnBrk="1" hangingPunct="1">
              <a:defRPr/>
            </a:pPr>
            <a:r>
              <a:rPr lang="ja-JP" altLang="en-US" sz="2000" dirty="0" smtClean="0"/>
              <a:t>　　　</a:t>
            </a:r>
            <a:r>
              <a:rPr lang="en-US" altLang="ja-JP" sz="2000" dirty="0" smtClean="0"/>
              <a:t>x</a:t>
            </a:r>
            <a:r>
              <a:rPr lang="ja-JP" altLang="en-US" sz="2000" dirty="0" smtClean="0"/>
              <a:t>　</a:t>
            </a:r>
            <a:r>
              <a:rPr lang="en-US" altLang="ja-JP" sz="2000" dirty="0" smtClean="0"/>
              <a:t>S</a:t>
            </a:r>
            <a:r>
              <a:rPr lang="ja-JP" altLang="en-US" sz="2000" dirty="0" smtClean="0"/>
              <a:t>の場合は、</a:t>
            </a:r>
            <a:r>
              <a:rPr lang="en-US" altLang="ja-JP" sz="2000" dirty="0" smtClean="0"/>
              <a:t>insert(</a:t>
            </a:r>
            <a:r>
              <a:rPr lang="en-US" altLang="ja-JP" sz="2000" dirty="0" err="1" smtClean="0"/>
              <a:t>x,S</a:t>
            </a:r>
            <a:r>
              <a:rPr lang="en-US" altLang="ja-JP" sz="2000" dirty="0" smtClean="0"/>
              <a:t>)</a:t>
            </a:r>
            <a:r>
              <a:rPr lang="ja-JP" altLang="en-US" sz="2000" dirty="0" smtClean="0"/>
              <a:t>を行うことによってできる</a:t>
            </a:r>
          </a:p>
          <a:p>
            <a:pPr eaLnBrk="1" hangingPunct="1">
              <a:defRPr/>
            </a:pPr>
            <a:r>
              <a:rPr lang="ja-JP" altLang="en-US" sz="2000" dirty="0" smtClean="0"/>
              <a:t>                              </a:t>
            </a:r>
            <a:r>
              <a:rPr lang="en-US" altLang="ja-JP" sz="2000" dirty="0" smtClean="0"/>
              <a:t>x</a:t>
            </a:r>
            <a:r>
              <a:rPr lang="ja-JP" altLang="en-US" sz="2000" dirty="0" smtClean="0"/>
              <a:t>を要素としてもつ節点の深さ</a:t>
            </a:r>
            <a:r>
              <a:rPr lang="en-US" altLang="ja-JP" sz="2000" dirty="0" smtClean="0"/>
              <a:t>(</a:t>
            </a:r>
            <a:r>
              <a:rPr lang="ja-JP" altLang="en-US" sz="2000" dirty="0" smtClean="0"/>
              <a:t>から１を引いた値</a:t>
            </a:r>
            <a:r>
              <a:rPr lang="en-US" altLang="ja-JP" sz="2000" dirty="0" smtClean="0"/>
              <a:t>)</a:t>
            </a:r>
            <a:r>
              <a:rPr lang="ja-JP" altLang="en-US" sz="2000" dirty="0" smtClean="0"/>
              <a:t>に比例する。</a:t>
            </a:r>
          </a:p>
        </p:txBody>
      </p:sp>
      <p:grpSp>
        <p:nvGrpSpPr>
          <p:cNvPr id="23558" name="Group 809"/>
          <p:cNvGrpSpPr>
            <a:grpSpLocks/>
          </p:cNvGrpSpPr>
          <p:nvPr/>
        </p:nvGrpSpPr>
        <p:grpSpPr bwMode="auto">
          <a:xfrm>
            <a:off x="900113" y="2565400"/>
            <a:ext cx="438150" cy="396875"/>
            <a:chOff x="1189" y="3690"/>
            <a:chExt cx="276" cy="250"/>
          </a:xfrm>
        </p:grpSpPr>
        <p:sp>
          <p:nvSpPr>
            <p:cNvPr id="10276" name="Text Box 810"/>
            <p:cNvSpPr txBox="1">
              <a:spLocks noChangeArrowheads="1"/>
            </p:cNvSpPr>
            <p:nvPr/>
          </p:nvSpPr>
          <p:spPr bwMode="auto">
            <a:xfrm>
              <a:off x="1189" y="3690"/>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2000" smtClean="0"/>
                <a:t>∈</a:t>
              </a:r>
            </a:p>
          </p:txBody>
        </p:sp>
        <p:sp>
          <p:nvSpPr>
            <p:cNvPr id="10277" name="Line 811"/>
            <p:cNvSpPr>
              <a:spLocks noChangeShapeType="1"/>
            </p:cNvSpPr>
            <p:nvPr/>
          </p:nvSpPr>
          <p:spPr bwMode="auto">
            <a:xfrm>
              <a:off x="1292" y="3747"/>
              <a:ext cx="46" cy="1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sp>
        <p:nvSpPr>
          <p:cNvPr id="10248" name="Text Box 813"/>
          <p:cNvSpPr txBox="1">
            <a:spLocks noChangeArrowheads="1"/>
          </p:cNvSpPr>
          <p:nvPr/>
        </p:nvSpPr>
        <p:spPr bwMode="auto">
          <a:xfrm>
            <a:off x="447675" y="3349625"/>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endParaRPr lang="ja-JP" smtClean="0"/>
          </a:p>
        </p:txBody>
      </p:sp>
      <p:sp>
        <p:nvSpPr>
          <p:cNvPr id="10249" name="Text Box 814"/>
          <p:cNvSpPr txBox="1">
            <a:spLocks noChangeArrowheads="1"/>
          </p:cNvSpPr>
          <p:nvPr/>
        </p:nvSpPr>
        <p:spPr bwMode="auto">
          <a:xfrm>
            <a:off x="376238" y="3279775"/>
            <a:ext cx="2651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z="2000" b="1" smtClean="0"/>
              <a:t>最悪時間計算量　</a:t>
            </a:r>
            <a:r>
              <a:rPr lang="en-US" altLang="ja-JP" sz="2000" b="1" smtClean="0"/>
              <a:t>O(n)</a:t>
            </a:r>
          </a:p>
        </p:txBody>
      </p:sp>
      <p:sp>
        <p:nvSpPr>
          <p:cNvPr id="10250" name="Text Box 815"/>
          <p:cNvSpPr txBox="1">
            <a:spLocks noChangeArrowheads="1"/>
          </p:cNvSpPr>
          <p:nvPr/>
        </p:nvSpPr>
        <p:spPr bwMode="auto">
          <a:xfrm>
            <a:off x="1023938" y="3736975"/>
            <a:ext cx="80359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r>
              <a:rPr lang="ja-JP" altLang="en-US" sz="1800">
                <a:solidFill>
                  <a:srgbClr val="FF3300"/>
                </a:solidFill>
              </a:rPr>
              <a:t>節点の深さが</a:t>
            </a:r>
            <a:r>
              <a:rPr lang="en-US" altLang="ja-JP" sz="1800">
                <a:solidFill>
                  <a:srgbClr val="FF3300"/>
                </a:solidFill>
              </a:rPr>
              <a:t>n-1</a:t>
            </a:r>
            <a:r>
              <a:rPr lang="ja-JP" altLang="en-US" sz="1800">
                <a:solidFill>
                  <a:srgbClr val="FF3300"/>
                </a:solidFill>
              </a:rPr>
              <a:t>の場合</a:t>
            </a:r>
            <a:r>
              <a:rPr lang="en-US" altLang="ja-JP" sz="1800">
                <a:solidFill>
                  <a:srgbClr val="FF3300"/>
                </a:solidFill>
              </a:rPr>
              <a:t>(S=</a:t>
            </a:r>
            <a:r>
              <a:rPr lang="en-US" altLang="ja-JP" sz="1800">
                <a:solidFill>
                  <a:srgbClr val="FF3300"/>
                </a:solidFill>
                <a:latin typeface="ＭＳ ゴシック" pitchFamily="49" charset="-128"/>
                <a:ea typeface="ＭＳ ゴシック" pitchFamily="49" charset="-128"/>
              </a:rPr>
              <a:t>φ</a:t>
            </a:r>
            <a:r>
              <a:rPr lang="ja-JP" altLang="en-US" sz="1800">
                <a:solidFill>
                  <a:srgbClr val="FF3300"/>
                </a:solidFill>
              </a:rPr>
              <a:t>から小さい順、大きい順に</a:t>
            </a:r>
            <a:r>
              <a:rPr lang="en-US" altLang="ja-JP" sz="1800">
                <a:solidFill>
                  <a:srgbClr val="FF3300"/>
                </a:solidFill>
              </a:rPr>
              <a:t>insert(x,S)</a:t>
            </a:r>
            <a:r>
              <a:rPr lang="ja-JP" altLang="en-US" sz="1800">
                <a:solidFill>
                  <a:srgbClr val="FF3300"/>
                </a:solidFill>
              </a:rPr>
              <a:t>を行った場合）</a:t>
            </a:r>
          </a:p>
        </p:txBody>
      </p:sp>
      <p:sp>
        <p:nvSpPr>
          <p:cNvPr id="67376" name="Oval 816"/>
          <p:cNvSpPr>
            <a:spLocks noChangeArrowheads="1"/>
          </p:cNvSpPr>
          <p:nvPr/>
        </p:nvSpPr>
        <p:spPr bwMode="auto">
          <a:xfrm>
            <a:off x="2652713" y="412908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4</a:t>
            </a:r>
          </a:p>
        </p:txBody>
      </p:sp>
      <p:grpSp>
        <p:nvGrpSpPr>
          <p:cNvPr id="67406" name="Group 846"/>
          <p:cNvGrpSpPr>
            <a:grpSpLocks/>
          </p:cNvGrpSpPr>
          <p:nvPr/>
        </p:nvGrpSpPr>
        <p:grpSpPr bwMode="auto">
          <a:xfrm>
            <a:off x="2363788" y="4344988"/>
            <a:ext cx="288925" cy="431800"/>
            <a:chOff x="1489" y="2737"/>
            <a:chExt cx="182" cy="272"/>
          </a:xfrm>
        </p:grpSpPr>
        <p:sp>
          <p:nvSpPr>
            <p:cNvPr id="10274" name="Oval 817"/>
            <p:cNvSpPr>
              <a:spLocks noChangeArrowheads="1"/>
            </p:cNvSpPr>
            <p:nvPr/>
          </p:nvSpPr>
          <p:spPr bwMode="auto">
            <a:xfrm>
              <a:off x="1489" y="2873"/>
              <a:ext cx="136" cy="1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3</a:t>
              </a:r>
            </a:p>
          </p:txBody>
        </p:sp>
        <p:sp>
          <p:nvSpPr>
            <p:cNvPr id="10275" name="Line 822"/>
            <p:cNvSpPr>
              <a:spLocks noChangeShapeType="1"/>
            </p:cNvSpPr>
            <p:nvPr/>
          </p:nvSpPr>
          <p:spPr bwMode="auto">
            <a:xfrm flipH="1">
              <a:off x="1580" y="2737"/>
              <a:ext cx="91"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grpSp>
        <p:nvGrpSpPr>
          <p:cNvPr id="67407" name="Group 847"/>
          <p:cNvGrpSpPr>
            <a:grpSpLocks/>
          </p:cNvGrpSpPr>
          <p:nvPr/>
        </p:nvGrpSpPr>
        <p:grpSpPr bwMode="auto">
          <a:xfrm>
            <a:off x="2076450" y="4776788"/>
            <a:ext cx="287338" cy="431800"/>
            <a:chOff x="1308" y="3009"/>
            <a:chExt cx="181" cy="272"/>
          </a:xfrm>
        </p:grpSpPr>
        <p:sp>
          <p:nvSpPr>
            <p:cNvPr id="10272" name="Oval 819"/>
            <p:cNvSpPr>
              <a:spLocks noChangeArrowheads="1"/>
            </p:cNvSpPr>
            <p:nvPr/>
          </p:nvSpPr>
          <p:spPr bwMode="auto">
            <a:xfrm>
              <a:off x="1308" y="3145"/>
              <a:ext cx="136" cy="1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2</a:t>
              </a:r>
            </a:p>
          </p:txBody>
        </p:sp>
        <p:sp>
          <p:nvSpPr>
            <p:cNvPr id="10273" name="Line 823"/>
            <p:cNvSpPr>
              <a:spLocks noChangeShapeType="1"/>
            </p:cNvSpPr>
            <p:nvPr/>
          </p:nvSpPr>
          <p:spPr bwMode="auto">
            <a:xfrm flipH="1">
              <a:off x="1399" y="3009"/>
              <a:ext cx="90"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grpSp>
        <p:nvGrpSpPr>
          <p:cNvPr id="67408" name="Group 848"/>
          <p:cNvGrpSpPr>
            <a:grpSpLocks/>
          </p:cNvGrpSpPr>
          <p:nvPr/>
        </p:nvGrpSpPr>
        <p:grpSpPr bwMode="auto">
          <a:xfrm>
            <a:off x="1835150" y="5208588"/>
            <a:ext cx="288925" cy="431800"/>
            <a:chOff x="1156" y="3281"/>
            <a:chExt cx="182" cy="272"/>
          </a:xfrm>
        </p:grpSpPr>
        <p:sp>
          <p:nvSpPr>
            <p:cNvPr id="10270" name="Oval 821"/>
            <p:cNvSpPr>
              <a:spLocks noChangeArrowheads="1"/>
            </p:cNvSpPr>
            <p:nvPr/>
          </p:nvSpPr>
          <p:spPr bwMode="auto">
            <a:xfrm>
              <a:off x="1156" y="3417"/>
              <a:ext cx="136" cy="1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1</a:t>
              </a:r>
            </a:p>
          </p:txBody>
        </p:sp>
        <p:sp>
          <p:nvSpPr>
            <p:cNvPr id="10271" name="Line 826"/>
            <p:cNvSpPr>
              <a:spLocks noChangeShapeType="1"/>
            </p:cNvSpPr>
            <p:nvPr/>
          </p:nvSpPr>
          <p:spPr bwMode="auto">
            <a:xfrm flipH="1">
              <a:off x="1248" y="3281"/>
              <a:ext cx="90"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sp>
        <p:nvSpPr>
          <p:cNvPr id="67396" name="Oval 836"/>
          <p:cNvSpPr>
            <a:spLocks noChangeArrowheads="1"/>
          </p:cNvSpPr>
          <p:nvPr/>
        </p:nvSpPr>
        <p:spPr bwMode="auto">
          <a:xfrm flipH="1">
            <a:off x="4259263" y="4149725"/>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1</a:t>
            </a:r>
          </a:p>
        </p:txBody>
      </p:sp>
      <p:grpSp>
        <p:nvGrpSpPr>
          <p:cNvPr id="67412" name="Group 852"/>
          <p:cNvGrpSpPr>
            <a:grpSpLocks/>
          </p:cNvGrpSpPr>
          <p:nvPr/>
        </p:nvGrpSpPr>
        <p:grpSpPr bwMode="auto">
          <a:xfrm>
            <a:off x="4475163" y="4365625"/>
            <a:ext cx="288925" cy="431800"/>
            <a:chOff x="2819" y="2750"/>
            <a:chExt cx="182" cy="272"/>
          </a:xfrm>
        </p:grpSpPr>
        <p:sp>
          <p:nvSpPr>
            <p:cNvPr id="10268" name="Oval 837"/>
            <p:cNvSpPr>
              <a:spLocks noChangeArrowheads="1"/>
            </p:cNvSpPr>
            <p:nvPr/>
          </p:nvSpPr>
          <p:spPr bwMode="auto">
            <a:xfrm flipH="1">
              <a:off x="2865" y="2886"/>
              <a:ext cx="136" cy="1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2</a:t>
              </a:r>
            </a:p>
          </p:txBody>
        </p:sp>
        <p:sp>
          <p:nvSpPr>
            <p:cNvPr id="10269" name="Line 840"/>
            <p:cNvSpPr>
              <a:spLocks noChangeShapeType="1"/>
            </p:cNvSpPr>
            <p:nvPr/>
          </p:nvSpPr>
          <p:spPr bwMode="auto">
            <a:xfrm>
              <a:off x="2819" y="2750"/>
              <a:ext cx="91"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grpSp>
        <p:nvGrpSpPr>
          <p:cNvPr id="67410" name="Group 850"/>
          <p:cNvGrpSpPr>
            <a:grpSpLocks/>
          </p:cNvGrpSpPr>
          <p:nvPr/>
        </p:nvGrpSpPr>
        <p:grpSpPr bwMode="auto">
          <a:xfrm>
            <a:off x="4764088" y="4797425"/>
            <a:ext cx="287337" cy="431800"/>
            <a:chOff x="3001" y="3022"/>
            <a:chExt cx="181" cy="272"/>
          </a:xfrm>
        </p:grpSpPr>
        <p:sp>
          <p:nvSpPr>
            <p:cNvPr id="10266" name="Oval 838"/>
            <p:cNvSpPr>
              <a:spLocks noChangeArrowheads="1"/>
            </p:cNvSpPr>
            <p:nvPr/>
          </p:nvSpPr>
          <p:spPr bwMode="auto">
            <a:xfrm flipH="1">
              <a:off x="3046" y="3158"/>
              <a:ext cx="136" cy="1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3</a:t>
              </a:r>
            </a:p>
          </p:txBody>
        </p:sp>
        <p:sp>
          <p:nvSpPr>
            <p:cNvPr id="10267" name="Line 841"/>
            <p:cNvSpPr>
              <a:spLocks noChangeShapeType="1"/>
            </p:cNvSpPr>
            <p:nvPr/>
          </p:nvSpPr>
          <p:spPr bwMode="auto">
            <a:xfrm>
              <a:off x="3001" y="3022"/>
              <a:ext cx="90"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grpSp>
        <p:nvGrpSpPr>
          <p:cNvPr id="67411" name="Group 851"/>
          <p:cNvGrpSpPr>
            <a:grpSpLocks/>
          </p:cNvGrpSpPr>
          <p:nvPr/>
        </p:nvGrpSpPr>
        <p:grpSpPr bwMode="auto">
          <a:xfrm>
            <a:off x="5003800" y="5229225"/>
            <a:ext cx="288925" cy="431800"/>
            <a:chOff x="3152" y="3294"/>
            <a:chExt cx="182" cy="272"/>
          </a:xfrm>
        </p:grpSpPr>
        <p:sp>
          <p:nvSpPr>
            <p:cNvPr id="10264" name="Oval 839"/>
            <p:cNvSpPr>
              <a:spLocks noChangeArrowheads="1"/>
            </p:cNvSpPr>
            <p:nvPr/>
          </p:nvSpPr>
          <p:spPr bwMode="auto">
            <a:xfrm flipH="1">
              <a:off x="3198" y="3430"/>
              <a:ext cx="136" cy="1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4</a:t>
              </a:r>
            </a:p>
          </p:txBody>
        </p:sp>
        <p:sp>
          <p:nvSpPr>
            <p:cNvPr id="10265" name="Line 842"/>
            <p:cNvSpPr>
              <a:spLocks noChangeShapeType="1"/>
            </p:cNvSpPr>
            <p:nvPr/>
          </p:nvSpPr>
          <p:spPr bwMode="auto">
            <a:xfrm>
              <a:off x="3152" y="3294"/>
              <a:ext cx="90"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sp>
        <p:nvSpPr>
          <p:cNvPr id="10259" name="Text Box 844"/>
          <p:cNvSpPr txBox="1">
            <a:spLocks noChangeArrowheads="1"/>
          </p:cNvSpPr>
          <p:nvPr/>
        </p:nvSpPr>
        <p:spPr bwMode="auto">
          <a:xfrm>
            <a:off x="1095375" y="4298950"/>
            <a:ext cx="10509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mtClean="0"/>
              <a:t>大きい順</a:t>
            </a:r>
          </a:p>
          <a:p>
            <a:pPr eaLnBrk="1" hangingPunct="1">
              <a:defRPr/>
            </a:pPr>
            <a:r>
              <a:rPr lang="ja-JP" altLang="en-US" smtClean="0"/>
              <a:t>格納</a:t>
            </a:r>
          </a:p>
        </p:txBody>
      </p:sp>
      <p:sp>
        <p:nvSpPr>
          <p:cNvPr id="10260" name="Text Box 845"/>
          <p:cNvSpPr txBox="1">
            <a:spLocks noChangeArrowheads="1"/>
          </p:cNvSpPr>
          <p:nvPr/>
        </p:nvSpPr>
        <p:spPr bwMode="auto">
          <a:xfrm>
            <a:off x="4960938" y="4365625"/>
            <a:ext cx="10318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mtClean="0"/>
              <a:t>小さい順</a:t>
            </a:r>
          </a:p>
          <a:p>
            <a:pPr eaLnBrk="1" hangingPunct="1">
              <a:defRPr/>
            </a:pPr>
            <a:r>
              <a:rPr lang="ja-JP" altLang="en-US" smtClean="0"/>
              <a:t>格納</a:t>
            </a:r>
          </a:p>
        </p:txBody>
      </p:sp>
      <p:sp>
        <p:nvSpPr>
          <p:cNvPr id="10261" name="Text Box 853"/>
          <p:cNvSpPr txBox="1">
            <a:spLocks noChangeArrowheads="1"/>
          </p:cNvSpPr>
          <p:nvPr/>
        </p:nvSpPr>
        <p:spPr bwMode="auto">
          <a:xfrm>
            <a:off x="339725" y="5713413"/>
            <a:ext cx="196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z="2000" b="1" smtClean="0"/>
              <a:t>平均時間計算量</a:t>
            </a:r>
          </a:p>
        </p:txBody>
      </p:sp>
      <p:sp>
        <p:nvSpPr>
          <p:cNvPr id="10262" name="Text Box 854"/>
          <p:cNvSpPr txBox="1">
            <a:spLocks noChangeArrowheads="1"/>
          </p:cNvSpPr>
          <p:nvPr/>
        </p:nvSpPr>
        <p:spPr bwMode="auto">
          <a:xfrm>
            <a:off x="2338388" y="5726113"/>
            <a:ext cx="1060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b="1" smtClean="0"/>
              <a:t>O(log n)</a:t>
            </a:r>
          </a:p>
        </p:txBody>
      </p:sp>
      <p:sp>
        <p:nvSpPr>
          <p:cNvPr id="10263" name="Text Box 855"/>
          <p:cNvSpPr txBox="1">
            <a:spLocks noChangeArrowheads="1"/>
          </p:cNvSpPr>
          <p:nvPr/>
        </p:nvSpPr>
        <p:spPr bwMode="auto">
          <a:xfrm>
            <a:off x="1095375" y="6184900"/>
            <a:ext cx="32416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mtClean="0">
                <a:solidFill>
                  <a:srgbClr val="FF3300"/>
                </a:solidFill>
              </a:rPr>
              <a:t>節点の深さの期待値は</a:t>
            </a:r>
            <a:r>
              <a:rPr lang="en-US" altLang="ja-JP" smtClean="0">
                <a:solidFill>
                  <a:srgbClr val="FF3300"/>
                </a:solidFill>
              </a:rPr>
              <a:t>O(log 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376"/>
                                        </p:tgtEl>
                                        <p:attrNameLst>
                                          <p:attrName>style.visibility</p:attrName>
                                        </p:attrNameLst>
                                      </p:cBhvr>
                                      <p:to>
                                        <p:strVal val="visible"/>
                                      </p:to>
                                    </p:set>
                                    <p:animEffect transition="in" filter="blinds(horizontal)">
                                      <p:cBhvr>
                                        <p:cTn id="7" dur="500"/>
                                        <p:tgtEl>
                                          <p:spTgt spid="673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7406"/>
                                        </p:tgtEl>
                                        <p:attrNameLst>
                                          <p:attrName>style.visibility</p:attrName>
                                        </p:attrNameLst>
                                      </p:cBhvr>
                                      <p:to>
                                        <p:strVal val="visible"/>
                                      </p:to>
                                    </p:set>
                                    <p:animEffect transition="in" filter="blinds(horizontal)">
                                      <p:cBhvr>
                                        <p:cTn id="12" dur="500"/>
                                        <p:tgtEl>
                                          <p:spTgt spid="674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7407"/>
                                        </p:tgtEl>
                                        <p:attrNameLst>
                                          <p:attrName>style.visibility</p:attrName>
                                        </p:attrNameLst>
                                      </p:cBhvr>
                                      <p:to>
                                        <p:strVal val="visible"/>
                                      </p:to>
                                    </p:set>
                                    <p:animEffect transition="in" filter="blinds(horizontal)">
                                      <p:cBhvr>
                                        <p:cTn id="17" dur="500"/>
                                        <p:tgtEl>
                                          <p:spTgt spid="6740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7408"/>
                                        </p:tgtEl>
                                        <p:attrNameLst>
                                          <p:attrName>style.visibility</p:attrName>
                                        </p:attrNameLst>
                                      </p:cBhvr>
                                      <p:to>
                                        <p:strVal val="visible"/>
                                      </p:to>
                                    </p:set>
                                    <p:animEffect transition="in" filter="blinds(horizontal)">
                                      <p:cBhvr>
                                        <p:cTn id="22" dur="500"/>
                                        <p:tgtEl>
                                          <p:spTgt spid="6740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7396"/>
                                        </p:tgtEl>
                                        <p:attrNameLst>
                                          <p:attrName>style.visibility</p:attrName>
                                        </p:attrNameLst>
                                      </p:cBhvr>
                                      <p:to>
                                        <p:strVal val="visible"/>
                                      </p:to>
                                    </p:set>
                                    <p:animEffect transition="in" filter="blinds(horizontal)">
                                      <p:cBhvr>
                                        <p:cTn id="27" dur="500"/>
                                        <p:tgtEl>
                                          <p:spTgt spid="6739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7412"/>
                                        </p:tgtEl>
                                        <p:attrNameLst>
                                          <p:attrName>style.visibility</p:attrName>
                                        </p:attrNameLst>
                                      </p:cBhvr>
                                      <p:to>
                                        <p:strVal val="visible"/>
                                      </p:to>
                                    </p:set>
                                    <p:animEffect transition="in" filter="blinds(horizontal)">
                                      <p:cBhvr>
                                        <p:cTn id="32" dur="500"/>
                                        <p:tgtEl>
                                          <p:spTgt spid="6741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67410"/>
                                        </p:tgtEl>
                                        <p:attrNameLst>
                                          <p:attrName>style.visibility</p:attrName>
                                        </p:attrNameLst>
                                      </p:cBhvr>
                                      <p:to>
                                        <p:strVal val="visible"/>
                                      </p:to>
                                    </p:set>
                                    <p:animEffect transition="in" filter="blinds(horizontal)">
                                      <p:cBhvr>
                                        <p:cTn id="37" dur="500"/>
                                        <p:tgtEl>
                                          <p:spTgt spid="674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67411"/>
                                        </p:tgtEl>
                                        <p:attrNameLst>
                                          <p:attrName>style.visibility</p:attrName>
                                        </p:attrNameLst>
                                      </p:cBhvr>
                                      <p:to>
                                        <p:strVal val="visible"/>
                                      </p:to>
                                    </p:set>
                                    <p:animEffect transition="in" filter="blinds(horizontal)">
                                      <p:cBhvr>
                                        <p:cTn id="42" dur="500"/>
                                        <p:tgtEl>
                                          <p:spTgt spid="67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76" grpId="0" animBg="1"/>
      <p:bldP spid="6739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スライド番号プレースホルダー 5"/>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fld id="{06395A9F-6930-4B85-BEEB-DB6D608B587D}" type="slidenum">
              <a:rPr kumimoji="0" lang="en-US" altLang="ja-JP" sz="1200">
                <a:latin typeface="Arial Black" pitchFamily="34" charset="0"/>
              </a:rPr>
              <a:pPr/>
              <a:t>10</a:t>
            </a:fld>
            <a:endParaRPr kumimoji="0" lang="en-US" altLang="ja-JP" sz="1200">
              <a:latin typeface="Arial Black" pitchFamily="34" charset="0"/>
            </a:endParaRPr>
          </a:p>
        </p:txBody>
      </p:sp>
      <p:sp>
        <p:nvSpPr>
          <p:cNvPr id="11269" name="Rectangle 2"/>
          <p:cNvSpPr>
            <a:spLocks noGrp="1" noChangeArrowheads="1"/>
          </p:cNvSpPr>
          <p:nvPr>
            <p:ph type="title"/>
          </p:nvPr>
        </p:nvSpPr>
        <p:spPr>
          <a:xfrm>
            <a:off x="457200" y="44450"/>
            <a:ext cx="8229600" cy="1371600"/>
          </a:xfrm>
        </p:spPr>
        <p:txBody>
          <a:bodyPr/>
          <a:lstStyle/>
          <a:p>
            <a:pPr eaLnBrk="1" hangingPunct="1">
              <a:defRPr/>
            </a:pPr>
            <a:r>
              <a:rPr lang="en-US" altLang="ja-JP" sz="3200"/>
              <a:t>2</a:t>
            </a:r>
            <a:r>
              <a:rPr lang="ja-JP" altLang="en-US" sz="3200"/>
              <a:t>分探索木の節点の深さの期待値は</a:t>
            </a:r>
            <a:r>
              <a:rPr lang="en-US" altLang="ja-JP" sz="3200"/>
              <a:t>O(log n)</a:t>
            </a:r>
          </a:p>
        </p:txBody>
      </p:sp>
      <p:sp>
        <p:nvSpPr>
          <p:cNvPr id="11270" name="Text Box 13"/>
          <p:cNvSpPr txBox="1">
            <a:spLocks noChangeArrowheads="1"/>
          </p:cNvSpPr>
          <p:nvPr/>
        </p:nvSpPr>
        <p:spPr bwMode="auto">
          <a:xfrm>
            <a:off x="465138" y="1125538"/>
            <a:ext cx="8486775"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a:t>
            </a:r>
            <a:r>
              <a:rPr lang="ja-JP" altLang="en-US" smtClean="0"/>
              <a:t>証明</a:t>
            </a:r>
            <a:r>
              <a:rPr lang="en-US" altLang="ja-JP" smtClean="0"/>
              <a:t>) 2</a:t>
            </a:r>
            <a:r>
              <a:rPr lang="ja-JP" altLang="en-US" smtClean="0"/>
              <a:t>分探索木の全ての節点がちょうど２つの子をもつように</a:t>
            </a:r>
            <a:r>
              <a:rPr lang="en-US" altLang="ja-JP" smtClean="0"/>
              <a:t>n+1</a:t>
            </a:r>
            <a:r>
              <a:rPr lang="ja-JP" altLang="en-US" smtClean="0"/>
              <a:t>個の節点を加える。</a:t>
            </a:r>
          </a:p>
          <a:p>
            <a:pPr eaLnBrk="1" hangingPunct="1">
              <a:defRPr/>
            </a:pPr>
            <a:r>
              <a:rPr lang="ja-JP" altLang="en-US" smtClean="0"/>
              <a:t>もとの節点を</a:t>
            </a:r>
            <a:r>
              <a:rPr lang="ja-JP" altLang="en-US" b="1" smtClean="0">
                <a:solidFill>
                  <a:srgbClr val="FF3300"/>
                </a:solidFill>
              </a:rPr>
              <a:t>内点</a:t>
            </a:r>
            <a:r>
              <a:rPr lang="ja-JP" altLang="en-US" smtClean="0"/>
              <a:t>、新しく加えた節点を</a:t>
            </a:r>
            <a:r>
              <a:rPr lang="ja-JP" altLang="en-US" b="1" smtClean="0">
                <a:solidFill>
                  <a:srgbClr val="FF3300"/>
                </a:solidFill>
              </a:rPr>
              <a:t>外点</a:t>
            </a:r>
            <a:r>
              <a:rPr lang="ja-JP" altLang="en-US" smtClean="0"/>
              <a:t>と呼ぶ。</a:t>
            </a:r>
          </a:p>
          <a:p>
            <a:pPr eaLnBrk="1" hangingPunct="1">
              <a:defRPr/>
            </a:pPr>
            <a:endParaRPr lang="en-US" altLang="ja-JP" smtClean="0"/>
          </a:p>
        </p:txBody>
      </p:sp>
      <p:sp>
        <p:nvSpPr>
          <p:cNvPr id="11271" name="Oval 14"/>
          <p:cNvSpPr>
            <a:spLocks noChangeArrowheads="1"/>
          </p:cNvSpPr>
          <p:nvPr/>
        </p:nvSpPr>
        <p:spPr bwMode="auto">
          <a:xfrm>
            <a:off x="2052638" y="202406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7</a:t>
            </a:r>
          </a:p>
        </p:txBody>
      </p:sp>
      <p:sp>
        <p:nvSpPr>
          <p:cNvPr id="11272" name="Oval 15"/>
          <p:cNvSpPr>
            <a:spLocks noChangeArrowheads="1"/>
          </p:cNvSpPr>
          <p:nvPr/>
        </p:nvSpPr>
        <p:spPr bwMode="auto">
          <a:xfrm>
            <a:off x="1331913" y="245586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3</a:t>
            </a:r>
          </a:p>
        </p:txBody>
      </p:sp>
      <p:sp>
        <p:nvSpPr>
          <p:cNvPr id="11273" name="Oval 16"/>
          <p:cNvSpPr>
            <a:spLocks noChangeArrowheads="1"/>
          </p:cNvSpPr>
          <p:nvPr/>
        </p:nvSpPr>
        <p:spPr bwMode="auto">
          <a:xfrm>
            <a:off x="2555875" y="242728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10</a:t>
            </a:r>
          </a:p>
        </p:txBody>
      </p:sp>
      <p:sp>
        <p:nvSpPr>
          <p:cNvPr id="11274" name="Oval 17"/>
          <p:cNvSpPr>
            <a:spLocks noChangeArrowheads="1"/>
          </p:cNvSpPr>
          <p:nvPr/>
        </p:nvSpPr>
        <p:spPr bwMode="auto">
          <a:xfrm>
            <a:off x="971550" y="288766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a:t>
            </a:r>
          </a:p>
        </p:txBody>
      </p:sp>
      <p:sp>
        <p:nvSpPr>
          <p:cNvPr id="11275" name="Oval 18"/>
          <p:cNvSpPr>
            <a:spLocks noChangeArrowheads="1"/>
          </p:cNvSpPr>
          <p:nvPr/>
        </p:nvSpPr>
        <p:spPr bwMode="auto">
          <a:xfrm>
            <a:off x="1617663" y="288766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4</a:t>
            </a:r>
          </a:p>
        </p:txBody>
      </p:sp>
      <p:sp>
        <p:nvSpPr>
          <p:cNvPr id="11276" name="Oval 19"/>
          <p:cNvSpPr>
            <a:spLocks noChangeArrowheads="1"/>
          </p:cNvSpPr>
          <p:nvPr/>
        </p:nvSpPr>
        <p:spPr bwMode="auto">
          <a:xfrm>
            <a:off x="1617663" y="374491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5</a:t>
            </a:r>
          </a:p>
        </p:txBody>
      </p:sp>
      <p:sp>
        <p:nvSpPr>
          <p:cNvPr id="11277" name="Line 20"/>
          <p:cNvSpPr>
            <a:spLocks noChangeShapeType="1"/>
          </p:cNvSpPr>
          <p:nvPr/>
        </p:nvSpPr>
        <p:spPr bwMode="auto">
          <a:xfrm flipH="1">
            <a:off x="1546225" y="2205038"/>
            <a:ext cx="577850" cy="250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278" name="Line 21"/>
          <p:cNvSpPr>
            <a:spLocks noChangeShapeType="1"/>
          </p:cNvSpPr>
          <p:nvPr/>
        </p:nvSpPr>
        <p:spPr bwMode="auto">
          <a:xfrm flipH="1">
            <a:off x="1116013" y="2671763"/>
            <a:ext cx="215900" cy="25241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279" name="Line 22"/>
          <p:cNvSpPr>
            <a:spLocks noChangeShapeType="1"/>
          </p:cNvSpPr>
          <p:nvPr/>
        </p:nvSpPr>
        <p:spPr bwMode="auto">
          <a:xfrm>
            <a:off x="2195513" y="2205038"/>
            <a:ext cx="431800" cy="2222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280" name="Line 23"/>
          <p:cNvSpPr>
            <a:spLocks noChangeShapeType="1"/>
          </p:cNvSpPr>
          <p:nvPr/>
        </p:nvSpPr>
        <p:spPr bwMode="auto">
          <a:xfrm>
            <a:off x="1546225" y="2671763"/>
            <a:ext cx="144463"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281" name="Line 24"/>
          <p:cNvSpPr>
            <a:spLocks noChangeShapeType="1"/>
          </p:cNvSpPr>
          <p:nvPr/>
        </p:nvSpPr>
        <p:spPr bwMode="auto">
          <a:xfrm flipH="1">
            <a:off x="1763713" y="3529013"/>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282" name="Oval 25"/>
          <p:cNvSpPr>
            <a:spLocks noChangeArrowheads="1"/>
          </p:cNvSpPr>
          <p:nvPr/>
        </p:nvSpPr>
        <p:spPr bwMode="auto">
          <a:xfrm>
            <a:off x="2411413" y="285273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8</a:t>
            </a:r>
          </a:p>
        </p:txBody>
      </p:sp>
      <p:sp>
        <p:nvSpPr>
          <p:cNvPr id="11283" name="Line 26"/>
          <p:cNvSpPr>
            <a:spLocks noChangeShapeType="1"/>
          </p:cNvSpPr>
          <p:nvPr/>
        </p:nvSpPr>
        <p:spPr bwMode="auto">
          <a:xfrm flipH="1">
            <a:off x="2557463" y="2635250"/>
            <a:ext cx="69850" cy="2174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284" name="Oval 27"/>
          <p:cNvSpPr>
            <a:spLocks noChangeArrowheads="1"/>
          </p:cNvSpPr>
          <p:nvPr/>
        </p:nvSpPr>
        <p:spPr bwMode="auto">
          <a:xfrm>
            <a:off x="1833563" y="331311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6</a:t>
            </a:r>
          </a:p>
        </p:txBody>
      </p:sp>
      <p:sp>
        <p:nvSpPr>
          <p:cNvPr id="11285" name="Line 28"/>
          <p:cNvSpPr>
            <a:spLocks noChangeShapeType="1"/>
          </p:cNvSpPr>
          <p:nvPr/>
        </p:nvSpPr>
        <p:spPr bwMode="auto">
          <a:xfrm>
            <a:off x="1762125" y="3097213"/>
            <a:ext cx="144463"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286" name="Line 32"/>
          <p:cNvSpPr>
            <a:spLocks noChangeShapeType="1"/>
          </p:cNvSpPr>
          <p:nvPr/>
        </p:nvSpPr>
        <p:spPr bwMode="auto">
          <a:xfrm flipH="1">
            <a:off x="828675" y="3068638"/>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287" name="Line 33"/>
          <p:cNvSpPr>
            <a:spLocks noChangeShapeType="1"/>
          </p:cNvSpPr>
          <p:nvPr/>
        </p:nvSpPr>
        <p:spPr bwMode="auto">
          <a:xfrm>
            <a:off x="1116013" y="3068638"/>
            <a:ext cx="144462"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288" name="Rectangle 34"/>
          <p:cNvSpPr>
            <a:spLocks noChangeArrowheads="1"/>
          </p:cNvSpPr>
          <p:nvPr/>
        </p:nvSpPr>
        <p:spPr bwMode="auto">
          <a:xfrm>
            <a:off x="684213" y="3284538"/>
            <a:ext cx="215900" cy="2159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1289" name="Rectangle 36"/>
          <p:cNvSpPr>
            <a:spLocks noChangeArrowheads="1"/>
          </p:cNvSpPr>
          <p:nvPr/>
        </p:nvSpPr>
        <p:spPr bwMode="auto">
          <a:xfrm>
            <a:off x="1117600" y="3284538"/>
            <a:ext cx="215900" cy="2159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1290" name="Line 37"/>
          <p:cNvSpPr>
            <a:spLocks noChangeShapeType="1"/>
          </p:cNvSpPr>
          <p:nvPr/>
        </p:nvSpPr>
        <p:spPr bwMode="auto">
          <a:xfrm flipH="1">
            <a:off x="1476375" y="3933825"/>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291" name="Line 38"/>
          <p:cNvSpPr>
            <a:spLocks noChangeShapeType="1"/>
          </p:cNvSpPr>
          <p:nvPr/>
        </p:nvSpPr>
        <p:spPr bwMode="auto">
          <a:xfrm>
            <a:off x="1763713" y="3933825"/>
            <a:ext cx="144462"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292" name="Rectangle 39"/>
          <p:cNvSpPr>
            <a:spLocks noChangeArrowheads="1"/>
          </p:cNvSpPr>
          <p:nvPr/>
        </p:nvSpPr>
        <p:spPr bwMode="auto">
          <a:xfrm>
            <a:off x="1331913" y="4149725"/>
            <a:ext cx="215900" cy="2159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1293" name="Rectangle 40"/>
          <p:cNvSpPr>
            <a:spLocks noChangeArrowheads="1"/>
          </p:cNvSpPr>
          <p:nvPr/>
        </p:nvSpPr>
        <p:spPr bwMode="auto">
          <a:xfrm>
            <a:off x="1765300" y="4149725"/>
            <a:ext cx="215900" cy="2159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1294" name="Line 41"/>
          <p:cNvSpPr>
            <a:spLocks noChangeShapeType="1"/>
          </p:cNvSpPr>
          <p:nvPr/>
        </p:nvSpPr>
        <p:spPr bwMode="auto">
          <a:xfrm flipH="1">
            <a:off x="2268538" y="3068638"/>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295" name="Line 42"/>
          <p:cNvSpPr>
            <a:spLocks noChangeShapeType="1"/>
          </p:cNvSpPr>
          <p:nvPr/>
        </p:nvSpPr>
        <p:spPr bwMode="auto">
          <a:xfrm>
            <a:off x="2555875" y="3068638"/>
            <a:ext cx="144463"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296" name="Rectangle 43"/>
          <p:cNvSpPr>
            <a:spLocks noChangeArrowheads="1"/>
          </p:cNvSpPr>
          <p:nvPr/>
        </p:nvSpPr>
        <p:spPr bwMode="auto">
          <a:xfrm>
            <a:off x="2124075" y="3284538"/>
            <a:ext cx="215900" cy="2159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1297" name="Rectangle 44"/>
          <p:cNvSpPr>
            <a:spLocks noChangeArrowheads="1"/>
          </p:cNvSpPr>
          <p:nvPr/>
        </p:nvSpPr>
        <p:spPr bwMode="auto">
          <a:xfrm>
            <a:off x="2557463" y="3284538"/>
            <a:ext cx="215900" cy="2159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1298" name="Line 45"/>
          <p:cNvSpPr>
            <a:spLocks noChangeShapeType="1"/>
          </p:cNvSpPr>
          <p:nvPr/>
        </p:nvSpPr>
        <p:spPr bwMode="auto">
          <a:xfrm>
            <a:off x="2771775" y="2636838"/>
            <a:ext cx="144463"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299" name="Rectangle 46"/>
          <p:cNvSpPr>
            <a:spLocks noChangeArrowheads="1"/>
          </p:cNvSpPr>
          <p:nvPr/>
        </p:nvSpPr>
        <p:spPr bwMode="auto">
          <a:xfrm>
            <a:off x="2773363" y="2852738"/>
            <a:ext cx="215900" cy="2159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1300" name="Line 47"/>
          <p:cNvSpPr>
            <a:spLocks noChangeShapeType="1"/>
          </p:cNvSpPr>
          <p:nvPr/>
        </p:nvSpPr>
        <p:spPr bwMode="auto">
          <a:xfrm>
            <a:off x="1979613" y="3500438"/>
            <a:ext cx="144462"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301" name="Rectangle 48"/>
          <p:cNvSpPr>
            <a:spLocks noChangeArrowheads="1"/>
          </p:cNvSpPr>
          <p:nvPr/>
        </p:nvSpPr>
        <p:spPr bwMode="auto">
          <a:xfrm>
            <a:off x="2052638" y="3716338"/>
            <a:ext cx="215900" cy="2159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1302" name="Line 49"/>
          <p:cNvSpPr>
            <a:spLocks noChangeShapeType="1"/>
          </p:cNvSpPr>
          <p:nvPr/>
        </p:nvSpPr>
        <p:spPr bwMode="auto">
          <a:xfrm flipH="1">
            <a:off x="1547813" y="3068638"/>
            <a:ext cx="142875"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303" name="Rectangle 50"/>
          <p:cNvSpPr>
            <a:spLocks noChangeArrowheads="1"/>
          </p:cNvSpPr>
          <p:nvPr/>
        </p:nvSpPr>
        <p:spPr bwMode="auto">
          <a:xfrm>
            <a:off x="1403350" y="3284538"/>
            <a:ext cx="215900" cy="2159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1304" name="Text Box 51"/>
          <p:cNvSpPr txBox="1">
            <a:spLocks noChangeArrowheads="1"/>
          </p:cNvSpPr>
          <p:nvPr/>
        </p:nvSpPr>
        <p:spPr bwMode="auto">
          <a:xfrm>
            <a:off x="2987675" y="2781300"/>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z="1600" smtClean="0"/>
              <a:t>外点</a:t>
            </a:r>
          </a:p>
        </p:txBody>
      </p:sp>
      <p:sp>
        <p:nvSpPr>
          <p:cNvPr id="11305" name="Text Box 52"/>
          <p:cNvSpPr txBox="1">
            <a:spLocks noChangeArrowheads="1"/>
          </p:cNvSpPr>
          <p:nvPr/>
        </p:nvSpPr>
        <p:spPr bwMode="auto">
          <a:xfrm>
            <a:off x="2778125" y="2303463"/>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z="1600" smtClean="0"/>
              <a:t>内点</a:t>
            </a:r>
          </a:p>
        </p:txBody>
      </p:sp>
      <p:sp>
        <p:nvSpPr>
          <p:cNvPr id="11306" name="Text Box 54"/>
          <p:cNvSpPr txBox="1">
            <a:spLocks noChangeArrowheads="1"/>
          </p:cNvSpPr>
          <p:nvPr/>
        </p:nvSpPr>
        <p:spPr bwMode="auto">
          <a:xfrm>
            <a:off x="4048125" y="1922463"/>
            <a:ext cx="5021263" cy="201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mtClean="0"/>
              <a:t>　　　　外点の深さの平均≧内点の深さの平均</a:t>
            </a:r>
          </a:p>
          <a:p>
            <a:pPr eaLnBrk="1" hangingPunct="1">
              <a:defRPr/>
            </a:pPr>
            <a:endParaRPr lang="ja-JP" altLang="en-US" smtClean="0"/>
          </a:p>
          <a:p>
            <a:pPr eaLnBrk="1" hangingPunct="1">
              <a:defRPr/>
            </a:pPr>
            <a:r>
              <a:rPr lang="ja-JP" altLang="en-US" smtClean="0"/>
              <a:t>であるから外点の深さの平均が</a:t>
            </a:r>
            <a:r>
              <a:rPr lang="en-US" altLang="ja-JP" smtClean="0"/>
              <a:t>O(log n)</a:t>
            </a:r>
            <a:r>
              <a:rPr lang="ja-JP" altLang="en-US" smtClean="0"/>
              <a:t>であること</a:t>
            </a:r>
          </a:p>
          <a:p>
            <a:pPr eaLnBrk="1" hangingPunct="1">
              <a:defRPr/>
            </a:pPr>
            <a:r>
              <a:rPr lang="ja-JP" altLang="en-US" smtClean="0"/>
              <a:t>を示せばよい。</a:t>
            </a:r>
          </a:p>
          <a:p>
            <a:pPr eaLnBrk="1" hangingPunct="1">
              <a:defRPr/>
            </a:pPr>
            <a:r>
              <a:rPr lang="en-US" altLang="ja-JP" smtClean="0"/>
              <a:t>D(n)</a:t>
            </a:r>
            <a:r>
              <a:rPr lang="ja-JP" altLang="en-US" smtClean="0"/>
              <a:t>を外点の深さの平均とする。</a:t>
            </a:r>
          </a:p>
          <a:p>
            <a:pPr eaLnBrk="1" hangingPunct="1">
              <a:defRPr/>
            </a:pPr>
            <a:r>
              <a:rPr lang="ja-JP" altLang="en-US" smtClean="0"/>
              <a:t>最初に格納されるものが</a:t>
            </a:r>
            <a:r>
              <a:rPr lang="en-US" altLang="ja-JP" smtClean="0"/>
              <a:t>i</a:t>
            </a:r>
            <a:r>
              <a:rPr lang="ja-JP" altLang="en-US" smtClean="0"/>
              <a:t>番目の大きさである確率</a:t>
            </a:r>
          </a:p>
          <a:p>
            <a:pPr eaLnBrk="1" hangingPunct="1">
              <a:defRPr/>
            </a:pPr>
            <a:r>
              <a:rPr lang="ja-JP" altLang="en-US" smtClean="0"/>
              <a:t>を</a:t>
            </a:r>
            <a:r>
              <a:rPr lang="en-US" altLang="ja-JP" smtClean="0"/>
              <a:t>1/n</a:t>
            </a:r>
            <a:r>
              <a:rPr lang="ja-JP" altLang="en-US" smtClean="0"/>
              <a:t>（等確率）とすれば</a:t>
            </a:r>
          </a:p>
        </p:txBody>
      </p:sp>
      <p:sp>
        <p:nvSpPr>
          <p:cNvPr id="11307" name="Text Box 55"/>
          <p:cNvSpPr txBox="1">
            <a:spLocks noChangeArrowheads="1"/>
          </p:cNvSpPr>
          <p:nvPr/>
        </p:nvSpPr>
        <p:spPr bwMode="auto">
          <a:xfrm>
            <a:off x="2163763" y="4097338"/>
            <a:ext cx="8255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D(n)= </a:t>
            </a:r>
          </a:p>
        </p:txBody>
      </p:sp>
      <p:sp>
        <p:nvSpPr>
          <p:cNvPr id="11308" name="Text Box 56"/>
          <p:cNvSpPr txBox="1">
            <a:spLocks noChangeArrowheads="1"/>
          </p:cNvSpPr>
          <p:nvPr/>
        </p:nvSpPr>
        <p:spPr bwMode="auto">
          <a:xfrm>
            <a:off x="2832100" y="3954463"/>
            <a:ext cx="3663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buFontTx/>
              <a:buAutoNum type="arabicPlain"/>
              <a:defRPr/>
            </a:pPr>
            <a:r>
              <a:rPr lang="en-US" altLang="ja-JP" smtClean="0"/>
              <a:t>   i(D(i-1)+1) + (n-i+1)(D(n-i)+1)</a:t>
            </a:r>
          </a:p>
          <a:p>
            <a:pPr eaLnBrk="1" hangingPunct="1">
              <a:defRPr/>
            </a:pPr>
            <a:r>
              <a:rPr lang="en-US" altLang="ja-JP" smtClean="0"/>
              <a:t>n                       n+1</a:t>
            </a:r>
          </a:p>
        </p:txBody>
      </p:sp>
      <p:grpSp>
        <p:nvGrpSpPr>
          <p:cNvPr id="24620" name="Group 60"/>
          <p:cNvGrpSpPr>
            <a:grpSpLocks/>
          </p:cNvGrpSpPr>
          <p:nvPr/>
        </p:nvGrpSpPr>
        <p:grpSpPr bwMode="auto">
          <a:xfrm>
            <a:off x="3048000" y="3933825"/>
            <a:ext cx="444500" cy="665163"/>
            <a:chOff x="2006" y="3475"/>
            <a:chExt cx="280" cy="419"/>
          </a:xfrm>
        </p:grpSpPr>
        <p:sp>
          <p:nvSpPr>
            <p:cNvPr id="11339" name="Text Box 57"/>
            <p:cNvSpPr txBox="1">
              <a:spLocks noChangeArrowheads="1"/>
            </p:cNvSpPr>
            <p:nvPr/>
          </p:nvSpPr>
          <p:spPr bwMode="auto">
            <a:xfrm>
              <a:off x="2006" y="3570"/>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r>
                <a:rPr lang="en-US" altLang="ja-JP" sz="1800"/>
                <a:t>Σ</a:t>
              </a:r>
            </a:p>
          </p:txBody>
        </p:sp>
        <p:sp>
          <p:nvSpPr>
            <p:cNvPr id="11340" name="Text Box 58"/>
            <p:cNvSpPr txBox="1">
              <a:spLocks noChangeArrowheads="1"/>
            </p:cNvSpPr>
            <p:nvPr/>
          </p:nvSpPr>
          <p:spPr bwMode="auto">
            <a:xfrm>
              <a:off x="2018" y="3702"/>
              <a:ext cx="2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i=1</a:t>
              </a:r>
            </a:p>
          </p:txBody>
        </p:sp>
        <p:sp>
          <p:nvSpPr>
            <p:cNvPr id="11341" name="Text Box 59"/>
            <p:cNvSpPr txBox="1">
              <a:spLocks noChangeArrowheads="1"/>
            </p:cNvSpPr>
            <p:nvPr/>
          </p:nvSpPr>
          <p:spPr bwMode="auto">
            <a:xfrm>
              <a:off x="2067" y="3475"/>
              <a:ext cx="17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n</a:t>
              </a:r>
            </a:p>
          </p:txBody>
        </p:sp>
      </p:grpSp>
      <p:sp>
        <p:nvSpPr>
          <p:cNvPr id="11310" name="Line 61"/>
          <p:cNvSpPr>
            <a:spLocks noChangeShapeType="1"/>
          </p:cNvSpPr>
          <p:nvPr/>
        </p:nvSpPr>
        <p:spPr bwMode="auto">
          <a:xfrm>
            <a:off x="2832100" y="4294188"/>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311" name="Line 62"/>
          <p:cNvSpPr>
            <a:spLocks noChangeShapeType="1"/>
          </p:cNvSpPr>
          <p:nvPr/>
        </p:nvSpPr>
        <p:spPr bwMode="auto">
          <a:xfrm>
            <a:off x="3479800" y="4294188"/>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312" name="Text Box 63"/>
          <p:cNvSpPr txBox="1">
            <a:spLocks noChangeArrowheads="1"/>
          </p:cNvSpPr>
          <p:nvPr/>
        </p:nvSpPr>
        <p:spPr bwMode="auto">
          <a:xfrm>
            <a:off x="2593975" y="4800600"/>
            <a:ext cx="2444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r>
              <a:rPr lang="en-US" altLang="ja-JP" sz="1800"/>
              <a:t>=             ΣiD(i-1) + 1 </a:t>
            </a:r>
          </a:p>
        </p:txBody>
      </p:sp>
      <p:sp>
        <p:nvSpPr>
          <p:cNvPr id="11313" name="Text Box 64"/>
          <p:cNvSpPr txBox="1">
            <a:spLocks noChangeArrowheads="1"/>
          </p:cNvSpPr>
          <p:nvPr/>
        </p:nvSpPr>
        <p:spPr bwMode="auto">
          <a:xfrm>
            <a:off x="2832100" y="4660900"/>
            <a:ext cx="8509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    2 </a:t>
            </a:r>
          </a:p>
          <a:p>
            <a:pPr eaLnBrk="1" hangingPunct="1">
              <a:defRPr/>
            </a:pPr>
            <a:r>
              <a:rPr lang="en-US" altLang="ja-JP" smtClean="0"/>
              <a:t>n(n+1)</a:t>
            </a:r>
          </a:p>
        </p:txBody>
      </p:sp>
      <p:sp>
        <p:nvSpPr>
          <p:cNvPr id="11314" name="Text Box 67"/>
          <p:cNvSpPr txBox="1">
            <a:spLocks noChangeArrowheads="1"/>
          </p:cNvSpPr>
          <p:nvPr/>
        </p:nvSpPr>
        <p:spPr bwMode="auto">
          <a:xfrm>
            <a:off x="3551238" y="5014913"/>
            <a:ext cx="4254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i=1</a:t>
            </a:r>
          </a:p>
        </p:txBody>
      </p:sp>
      <p:sp>
        <p:nvSpPr>
          <p:cNvPr id="11315" name="Text Box 68"/>
          <p:cNvSpPr txBox="1">
            <a:spLocks noChangeArrowheads="1"/>
          </p:cNvSpPr>
          <p:nvPr/>
        </p:nvSpPr>
        <p:spPr bwMode="auto">
          <a:xfrm>
            <a:off x="3629025" y="4637088"/>
            <a:ext cx="28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n</a:t>
            </a:r>
          </a:p>
        </p:txBody>
      </p:sp>
      <p:sp>
        <p:nvSpPr>
          <p:cNvPr id="11316" name="Line 69"/>
          <p:cNvSpPr>
            <a:spLocks noChangeShapeType="1"/>
          </p:cNvSpPr>
          <p:nvPr/>
        </p:nvSpPr>
        <p:spPr bwMode="auto">
          <a:xfrm>
            <a:off x="2903538" y="5014913"/>
            <a:ext cx="6477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317" name="Text Box 71"/>
          <p:cNvSpPr txBox="1">
            <a:spLocks noChangeArrowheads="1"/>
          </p:cNvSpPr>
          <p:nvPr/>
        </p:nvSpPr>
        <p:spPr bwMode="auto">
          <a:xfrm>
            <a:off x="2616200" y="5516563"/>
            <a:ext cx="6419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r>
              <a:rPr lang="en-US" altLang="ja-JP" sz="1800"/>
              <a:t>=                        ΣiD(i-1) + 1               -              +nD(n-1)    +1</a:t>
            </a:r>
          </a:p>
        </p:txBody>
      </p:sp>
      <p:sp>
        <p:nvSpPr>
          <p:cNvPr id="11318" name="Text Box 72"/>
          <p:cNvSpPr txBox="1">
            <a:spLocks noChangeArrowheads="1"/>
          </p:cNvSpPr>
          <p:nvPr/>
        </p:nvSpPr>
        <p:spPr bwMode="auto">
          <a:xfrm>
            <a:off x="2822575" y="5400675"/>
            <a:ext cx="4629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dirty="0" smtClean="0"/>
              <a:t>　　</a:t>
            </a:r>
            <a:r>
              <a:rPr lang="en-US" altLang="ja-JP" dirty="0" smtClean="0"/>
              <a:t>2          2                          n(n-1)      n(n-1)</a:t>
            </a:r>
          </a:p>
          <a:p>
            <a:pPr eaLnBrk="1" hangingPunct="1">
              <a:defRPr/>
            </a:pPr>
            <a:r>
              <a:rPr lang="en-US" altLang="ja-JP" dirty="0" smtClean="0"/>
              <a:t>n(n+1)   n(n-1)                        2              2</a:t>
            </a:r>
          </a:p>
        </p:txBody>
      </p:sp>
      <p:sp>
        <p:nvSpPr>
          <p:cNvPr id="11319" name="Line 73"/>
          <p:cNvSpPr>
            <a:spLocks noChangeShapeType="1"/>
          </p:cNvSpPr>
          <p:nvPr/>
        </p:nvSpPr>
        <p:spPr bwMode="auto">
          <a:xfrm>
            <a:off x="2905125" y="5734050"/>
            <a:ext cx="6477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320" name="Line 74"/>
          <p:cNvSpPr>
            <a:spLocks noChangeShapeType="1"/>
          </p:cNvSpPr>
          <p:nvPr/>
        </p:nvSpPr>
        <p:spPr bwMode="auto">
          <a:xfrm>
            <a:off x="3768725" y="5734050"/>
            <a:ext cx="5762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321" name="Line 75"/>
          <p:cNvSpPr>
            <a:spLocks noChangeShapeType="1"/>
          </p:cNvSpPr>
          <p:nvPr/>
        </p:nvSpPr>
        <p:spPr bwMode="auto">
          <a:xfrm>
            <a:off x="5784850" y="5734050"/>
            <a:ext cx="5762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322" name="Line 76"/>
          <p:cNvSpPr>
            <a:spLocks noChangeShapeType="1"/>
          </p:cNvSpPr>
          <p:nvPr/>
        </p:nvSpPr>
        <p:spPr bwMode="auto">
          <a:xfrm>
            <a:off x="6721475" y="5734050"/>
            <a:ext cx="5762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323" name="AutoShape 77"/>
          <p:cNvSpPr>
            <a:spLocks noChangeArrowheads="1"/>
          </p:cNvSpPr>
          <p:nvPr/>
        </p:nvSpPr>
        <p:spPr bwMode="auto">
          <a:xfrm>
            <a:off x="3624263" y="5518150"/>
            <a:ext cx="4897437" cy="504825"/>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1324" name="AutoShape 78"/>
          <p:cNvSpPr>
            <a:spLocks noChangeArrowheads="1"/>
          </p:cNvSpPr>
          <p:nvPr/>
        </p:nvSpPr>
        <p:spPr bwMode="auto">
          <a:xfrm>
            <a:off x="3697288" y="5518150"/>
            <a:ext cx="1943100" cy="504825"/>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1325" name="Text Box 79"/>
          <p:cNvSpPr txBox="1">
            <a:spLocks noChangeArrowheads="1"/>
          </p:cNvSpPr>
          <p:nvPr/>
        </p:nvSpPr>
        <p:spPr bwMode="auto">
          <a:xfrm>
            <a:off x="4271963" y="5751513"/>
            <a:ext cx="4254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dirty="0" err="1" smtClean="0"/>
              <a:t>i</a:t>
            </a:r>
            <a:r>
              <a:rPr lang="en-US" altLang="ja-JP" sz="1400" dirty="0" smtClean="0"/>
              <a:t>=1</a:t>
            </a:r>
          </a:p>
        </p:txBody>
      </p:sp>
      <p:sp>
        <p:nvSpPr>
          <p:cNvPr id="11326" name="Text Box 80"/>
          <p:cNvSpPr txBox="1">
            <a:spLocks noChangeArrowheads="1"/>
          </p:cNvSpPr>
          <p:nvPr/>
        </p:nvSpPr>
        <p:spPr bwMode="auto">
          <a:xfrm>
            <a:off x="4278313" y="5373688"/>
            <a:ext cx="4397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n-1</a:t>
            </a:r>
          </a:p>
        </p:txBody>
      </p:sp>
      <p:sp>
        <p:nvSpPr>
          <p:cNvPr id="11327" name="Text Box 81"/>
          <p:cNvSpPr txBox="1">
            <a:spLocks noChangeArrowheads="1"/>
          </p:cNvSpPr>
          <p:nvPr/>
        </p:nvSpPr>
        <p:spPr bwMode="auto">
          <a:xfrm>
            <a:off x="2611438" y="6186488"/>
            <a:ext cx="1352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 D(n-1)  + </a:t>
            </a:r>
          </a:p>
        </p:txBody>
      </p:sp>
      <p:sp>
        <p:nvSpPr>
          <p:cNvPr id="11328" name="Text Box 82"/>
          <p:cNvSpPr txBox="1">
            <a:spLocks noChangeArrowheads="1"/>
          </p:cNvSpPr>
          <p:nvPr/>
        </p:nvSpPr>
        <p:spPr bwMode="auto">
          <a:xfrm>
            <a:off x="3856038" y="6029325"/>
            <a:ext cx="5715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  2</a:t>
            </a:r>
          </a:p>
          <a:p>
            <a:pPr eaLnBrk="1" hangingPunct="1">
              <a:defRPr/>
            </a:pPr>
            <a:r>
              <a:rPr lang="en-US" altLang="ja-JP" smtClean="0"/>
              <a:t>n+1</a:t>
            </a:r>
          </a:p>
        </p:txBody>
      </p:sp>
      <p:sp>
        <p:nvSpPr>
          <p:cNvPr id="11329" name="Line 83"/>
          <p:cNvSpPr>
            <a:spLocks noChangeShapeType="1"/>
          </p:cNvSpPr>
          <p:nvPr/>
        </p:nvSpPr>
        <p:spPr bwMode="auto">
          <a:xfrm>
            <a:off x="3927475" y="6381750"/>
            <a:ext cx="4333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330" name="Oval 84"/>
          <p:cNvSpPr>
            <a:spLocks noChangeArrowheads="1"/>
          </p:cNvSpPr>
          <p:nvPr/>
        </p:nvSpPr>
        <p:spPr bwMode="auto">
          <a:xfrm>
            <a:off x="1331913" y="4581525"/>
            <a:ext cx="144462" cy="1428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1331" name="AutoShape 85"/>
          <p:cNvSpPr>
            <a:spLocks noChangeArrowheads="1"/>
          </p:cNvSpPr>
          <p:nvPr/>
        </p:nvSpPr>
        <p:spPr bwMode="auto">
          <a:xfrm>
            <a:off x="754063" y="5084763"/>
            <a:ext cx="504825" cy="792162"/>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1332" name="AutoShape 86"/>
          <p:cNvSpPr>
            <a:spLocks noChangeArrowheads="1"/>
          </p:cNvSpPr>
          <p:nvPr/>
        </p:nvSpPr>
        <p:spPr bwMode="auto">
          <a:xfrm>
            <a:off x="1404938" y="5084763"/>
            <a:ext cx="504825" cy="792162"/>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1333" name="Line 87"/>
          <p:cNvSpPr>
            <a:spLocks noChangeShapeType="1"/>
          </p:cNvSpPr>
          <p:nvPr/>
        </p:nvSpPr>
        <p:spPr bwMode="auto">
          <a:xfrm flipH="1">
            <a:off x="971550" y="4724400"/>
            <a:ext cx="360363" cy="360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334" name="Line 88"/>
          <p:cNvSpPr>
            <a:spLocks noChangeShapeType="1"/>
          </p:cNvSpPr>
          <p:nvPr/>
        </p:nvSpPr>
        <p:spPr bwMode="auto">
          <a:xfrm>
            <a:off x="1476375" y="4724400"/>
            <a:ext cx="215900" cy="360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1335" name="Text Box 89"/>
          <p:cNvSpPr txBox="1">
            <a:spLocks noChangeArrowheads="1"/>
          </p:cNvSpPr>
          <p:nvPr/>
        </p:nvSpPr>
        <p:spPr bwMode="auto">
          <a:xfrm>
            <a:off x="107950" y="4437063"/>
            <a:ext cx="1244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600" smtClean="0">
                <a:solidFill>
                  <a:srgbClr val="FF3300"/>
                </a:solidFill>
              </a:rPr>
              <a:t>i</a:t>
            </a:r>
            <a:r>
              <a:rPr lang="ja-JP" altLang="en-US" sz="1600" smtClean="0">
                <a:solidFill>
                  <a:srgbClr val="FF3300"/>
                </a:solidFill>
              </a:rPr>
              <a:t>番目の要素</a:t>
            </a:r>
          </a:p>
        </p:txBody>
      </p:sp>
      <p:sp>
        <p:nvSpPr>
          <p:cNvPr id="11336" name="Text Box 90"/>
          <p:cNvSpPr txBox="1">
            <a:spLocks noChangeArrowheads="1"/>
          </p:cNvSpPr>
          <p:nvPr/>
        </p:nvSpPr>
        <p:spPr bwMode="auto">
          <a:xfrm>
            <a:off x="395288" y="5843588"/>
            <a:ext cx="7937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600" dirty="0" smtClean="0">
                <a:solidFill>
                  <a:srgbClr val="FF3300"/>
                </a:solidFill>
              </a:rPr>
              <a:t>i-1</a:t>
            </a:r>
            <a:r>
              <a:rPr lang="ja-JP" altLang="en-US" sz="1600" dirty="0" smtClean="0">
                <a:solidFill>
                  <a:srgbClr val="FF3300"/>
                </a:solidFill>
              </a:rPr>
              <a:t>個</a:t>
            </a:r>
          </a:p>
          <a:p>
            <a:pPr eaLnBrk="1" hangingPunct="1">
              <a:defRPr/>
            </a:pPr>
            <a:r>
              <a:rPr lang="ja-JP" altLang="en-US" sz="1600" dirty="0" smtClean="0">
                <a:solidFill>
                  <a:srgbClr val="FF3300"/>
                </a:solidFill>
              </a:rPr>
              <a:t>の要素</a:t>
            </a:r>
          </a:p>
          <a:p>
            <a:pPr eaLnBrk="1" hangingPunct="1">
              <a:defRPr/>
            </a:pPr>
            <a:r>
              <a:rPr lang="ja-JP" altLang="en-US" sz="1600" dirty="0" smtClean="0">
                <a:solidFill>
                  <a:srgbClr val="FF3300"/>
                </a:solidFill>
              </a:rPr>
              <a:t>（内点）</a:t>
            </a:r>
          </a:p>
        </p:txBody>
      </p:sp>
      <p:sp>
        <p:nvSpPr>
          <p:cNvPr id="11337" name="Text Box 91"/>
          <p:cNvSpPr txBox="1">
            <a:spLocks noChangeArrowheads="1"/>
          </p:cNvSpPr>
          <p:nvPr/>
        </p:nvSpPr>
        <p:spPr bwMode="auto">
          <a:xfrm>
            <a:off x="1474788" y="5838825"/>
            <a:ext cx="7937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600" smtClean="0">
                <a:solidFill>
                  <a:srgbClr val="FF3300"/>
                </a:solidFill>
              </a:rPr>
              <a:t>n-i</a:t>
            </a:r>
            <a:r>
              <a:rPr lang="ja-JP" altLang="en-US" sz="1600" smtClean="0">
                <a:solidFill>
                  <a:srgbClr val="FF3300"/>
                </a:solidFill>
              </a:rPr>
              <a:t>個</a:t>
            </a:r>
          </a:p>
          <a:p>
            <a:pPr eaLnBrk="1" hangingPunct="1">
              <a:defRPr/>
            </a:pPr>
            <a:r>
              <a:rPr lang="ja-JP" altLang="en-US" sz="1600" smtClean="0">
                <a:solidFill>
                  <a:srgbClr val="FF3300"/>
                </a:solidFill>
              </a:rPr>
              <a:t>の要素</a:t>
            </a:r>
          </a:p>
          <a:p>
            <a:pPr eaLnBrk="1" hangingPunct="1">
              <a:defRPr/>
            </a:pPr>
            <a:r>
              <a:rPr lang="en-US" altLang="ja-JP" sz="1600" smtClean="0">
                <a:solidFill>
                  <a:srgbClr val="FF3300"/>
                </a:solidFill>
              </a:rPr>
              <a:t>(</a:t>
            </a:r>
            <a:r>
              <a:rPr lang="ja-JP" altLang="en-US" sz="1600" smtClean="0">
                <a:solidFill>
                  <a:srgbClr val="FF3300"/>
                </a:solidFill>
              </a:rPr>
              <a:t>内点）</a:t>
            </a:r>
          </a:p>
        </p:txBody>
      </p:sp>
      <p:sp>
        <p:nvSpPr>
          <p:cNvPr id="11338" name="AutoShape 92"/>
          <p:cNvSpPr>
            <a:spLocks noChangeArrowheads="1"/>
          </p:cNvSpPr>
          <p:nvPr/>
        </p:nvSpPr>
        <p:spPr bwMode="auto">
          <a:xfrm>
            <a:off x="6300788" y="4508500"/>
            <a:ext cx="2843212" cy="360363"/>
          </a:xfrm>
          <a:prstGeom prst="wedgeRoundRectCallout">
            <a:avLst>
              <a:gd name="adj1" fmla="val -41514"/>
              <a:gd name="adj2" fmla="val -127532"/>
              <a:gd name="adj3" fmla="val 16667"/>
            </a:avLst>
          </a:prstGeom>
          <a:solidFill>
            <a:schemeClr val="bg1"/>
          </a:solidFill>
          <a:ln w="9525">
            <a:solidFill>
              <a:schemeClr val="bg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lgn="ctr">
              <a:defRPr/>
            </a:pPr>
            <a:r>
              <a:rPr lang="ja-JP" altLang="en-US" sz="1600">
                <a:solidFill>
                  <a:schemeClr val="bg2"/>
                </a:solidFill>
                <a:latin typeface="Arial" charset="0"/>
                <a:ea typeface="ＭＳ Ｐゴシック" charset="0"/>
                <a:cs typeface="ＭＳ Ｐゴシック" charset="0"/>
              </a:rPr>
              <a:t>外点の数</a:t>
            </a:r>
            <a:r>
              <a:rPr lang="en-US" altLang="ja-JP" sz="1600">
                <a:solidFill>
                  <a:schemeClr val="bg2"/>
                </a:solidFill>
                <a:latin typeface="Arial" charset="0"/>
                <a:ea typeface="ＭＳ Ｐゴシック" charset="0"/>
                <a:cs typeface="ＭＳ Ｐゴシック" charset="0"/>
              </a:rPr>
              <a:t>=</a:t>
            </a:r>
            <a:r>
              <a:rPr lang="ja-JP" altLang="en-US" sz="1600">
                <a:solidFill>
                  <a:schemeClr val="bg2"/>
                </a:solidFill>
                <a:latin typeface="Arial" charset="0"/>
                <a:ea typeface="ＭＳ Ｐゴシック" charset="0"/>
                <a:cs typeface="ＭＳ Ｐゴシック" charset="0"/>
              </a:rPr>
              <a:t>内点の数＋１</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スライド番号プレースホルダー 4"/>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fld id="{0056CD34-EFC4-4129-8288-36715ECF99FB}" type="slidenum">
              <a:rPr kumimoji="0" lang="en-US" altLang="ja-JP" sz="1200">
                <a:latin typeface="Arial Black" pitchFamily="34" charset="0"/>
              </a:rPr>
              <a:pPr/>
              <a:t>11</a:t>
            </a:fld>
            <a:endParaRPr kumimoji="0" lang="en-US" altLang="ja-JP" sz="1200">
              <a:latin typeface="Arial Black" pitchFamily="34" charset="0"/>
            </a:endParaRPr>
          </a:p>
        </p:txBody>
      </p:sp>
      <p:sp>
        <p:nvSpPr>
          <p:cNvPr id="12293" name="Rectangle 7"/>
          <p:cNvSpPr>
            <a:spLocks noGrp="1" noChangeArrowheads="1"/>
          </p:cNvSpPr>
          <p:nvPr>
            <p:ph type="title"/>
          </p:nvPr>
        </p:nvSpPr>
        <p:spPr>
          <a:xfrm>
            <a:off x="609600" y="198438"/>
            <a:ext cx="7772400" cy="1143000"/>
          </a:xfrm>
        </p:spPr>
        <p:txBody>
          <a:bodyPr/>
          <a:lstStyle/>
          <a:p>
            <a:pPr eaLnBrk="1" hangingPunct="1">
              <a:defRPr/>
            </a:pPr>
            <a:r>
              <a:rPr lang="ja-JP" altLang="en-US" sz="3200"/>
              <a:t>証明つづき</a:t>
            </a:r>
          </a:p>
        </p:txBody>
      </p:sp>
      <p:sp>
        <p:nvSpPr>
          <p:cNvPr id="12294" name="Text Box 51"/>
          <p:cNvSpPr txBox="1">
            <a:spLocks noChangeArrowheads="1"/>
          </p:cNvSpPr>
          <p:nvPr/>
        </p:nvSpPr>
        <p:spPr bwMode="auto">
          <a:xfrm>
            <a:off x="1042988" y="1549400"/>
            <a:ext cx="4941887"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r>
              <a:rPr lang="ja-JP" altLang="en-US" sz="1800"/>
              <a:t>よって</a:t>
            </a:r>
            <a:r>
              <a:rPr lang="en-US" altLang="ja-JP" sz="1800"/>
              <a:t>D(n)-D(n-1)=2/(n+1)</a:t>
            </a:r>
            <a:r>
              <a:rPr lang="ja-JP" altLang="en-US" sz="1800"/>
              <a:t>、</a:t>
            </a:r>
            <a:r>
              <a:rPr lang="en-US" altLang="ja-JP" sz="1800"/>
              <a:t>D(0)=0</a:t>
            </a:r>
            <a:r>
              <a:rPr lang="ja-JP" altLang="en-US" sz="1800"/>
              <a:t>であるから</a:t>
            </a:r>
          </a:p>
          <a:p>
            <a:endParaRPr lang="ja-JP" altLang="en-US" sz="1800"/>
          </a:p>
          <a:p>
            <a:r>
              <a:rPr lang="ja-JP" altLang="en-US" sz="1800"/>
              <a:t>　　　　</a:t>
            </a:r>
            <a:r>
              <a:rPr lang="en-US" altLang="ja-JP" sz="1800"/>
              <a:t>D(n)=2Σ      ≦ 2</a:t>
            </a:r>
            <a:r>
              <a:rPr lang="en-US" altLang="ja-JP"/>
              <a:t>     </a:t>
            </a:r>
            <a:r>
              <a:rPr lang="en-US" altLang="ja-JP" sz="1800"/>
              <a:t>(1/x) dx=2log</a:t>
            </a:r>
            <a:r>
              <a:rPr lang="en-US" altLang="ja-JP" sz="1800" baseline="-25000"/>
              <a:t>e </a:t>
            </a:r>
            <a:r>
              <a:rPr lang="en-US" altLang="ja-JP" sz="1800"/>
              <a:t>(n+1)</a:t>
            </a:r>
          </a:p>
          <a:p>
            <a:endParaRPr lang="en-US" altLang="ja-JP" sz="1800"/>
          </a:p>
          <a:p>
            <a:r>
              <a:rPr lang="ja-JP" altLang="en-US" sz="1800"/>
              <a:t>したがって</a:t>
            </a:r>
            <a:r>
              <a:rPr lang="en-US" altLang="ja-JP" sz="1800"/>
              <a:t>D(n)=O(log n)</a:t>
            </a:r>
            <a:r>
              <a:rPr lang="ja-JP" altLang="en-US" sz="1800"/>
              <a:t>である。</a:t>
            </a:r>
          </a:p>
        </p:txBody>
      </p:sp>
      <p:sp>
        <p:nvSpPr>
          <p:cNvPr id="12295" name="Text Box 52"/>
          <p:cNvSpPr txBox="1">
            <a:spLocks noChangeArrowheads="1"/>
          </p:cNvSpPr>
          <p:nvPr/>
        </p:nvSpPr>
        <p:spPr bwMode="auto">
          <a:xfrm>
            <a:off x="2339975" y="2349500"/>
            <a:ext cx="4254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i=2</a:t>
            </a:r>
          </a:p>
        </p:txBody>
      </p:sp>
      <p:sp>
        <p:nvSpPr>
          <p:cNvPr id="12296" name="Text Box 53"/>
          <p:cNvSpPr txBox="1">
            <a:spLocks noChangeArrowheads="1"/>
          </p:cNvSpPr>
          <p:nvPr/>
        </p:nvSpPr>
        <p:spPr bwMode="auto">
          <a:xfrm>
            <a:off x="2287588" y="2044700"/>
            <a:ext cx="4841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n+1</a:t>
            </a:r>
          </a:p>
        </p:txBody>
      </p:sp>
      <p:grpSp>
        <p:nvGrpSpPr>
          <p:cNvPr id="25608" name="Group 58"/>
          <p:cNvGrpSpPr>
            <a:grpSpLocks/>
          </p:cNvGrpSpPr>
          <p:nvPr/>
        </p:nvGrpSpPr>
        <p:grpSpPr bwMode="auto">
          <a:xfrm>
            <a:off x="3276600" y="2062163"/>
            <a:ext cx="635000" cy="574675"/>
            <a:chOff x="1733" y="2478"/>
            <a:chExt cx="400" cy="362"/>
          </a:xfrm>
        </p:grpSpPr>
        <p:sp>
          <p:nvSpPr>
            <p:cNvPr id="12321" name="Text Box 54"/>
            <p:cNvSpPr txBox="1">
              <a:spLocks noChangeArrowheads="1"/>
            </p:cNvSpPr>
            <p:nvPr/>
          </p:nvSpPr>
          <p:spPr bwMode="auto">
            <a:xfrm>
              <a:off x="1733" y="2490"/>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2800" smtClean="0"/>
                <a:t>∫</a:t>
              </a:r>
            </a:p>
          </p:txBody>
        </p:sp>
        <p:sp>
          <p:nvSpPr>
            <p:cNvPr id="12322" name="Text Box 56"/>
            <p:cNvSpPr txBox="1">
              <a:spLocks noChangeArrowheads="1"/>
            </p:cNvSpPr>
            <p:nvPr/>
          </p:nvSpPr>
          <p:spPr bwMode="auto">
            <a:xfrm>
              <a:off x="1882" y="2648"/>
              <a:ext cx="17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dirty="0" smtClean="0"/>
                <a:t>1</a:t>
              </a:r>
            </a:p>
          </p:txBody>
        </p:sp>
        <p:sp>
          <p:nvSpPr>
            <p:cNvPr id="12323" name="Text Box 57"/>
            <p:cNvSpPr txBox="1">
              <a:spLocks noChangeArrowheads="1"/>
            </p:cNvSpPr>
            <p:nvPr/>
          </p:nvSpPr>
          <p:spPr bwMode="auto">
            <a:xfrm>
              <a:off x="1828" y="2478"/>
              <a:ext cx="30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dirty="0" smtClean="0"/>
                <a:t>n+1</a:t>
              </a:r>
            </a:p>
          </p:txBody>
        </p:sp>
      </p:grpSp>
      <p:sp>
        <p:nvSpPr>
          <p:cNvPr id="12298" name="Text Box 59"/>
          <p:cNvSpPr txBox="1">
            <a:spLocks noChangeArrowheads="1"/>
          </p:cNvSpPr>
          <p:nvPr/>
        </p:nvSpPr>
        <p:spPr bwMode="auto">
          <a:xfrm>
            <a:off x="2700338" y="1989138"/>
            <a:ext cx="311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1</a:t>
            </a:r>
          </a:p>
          <a:p>
            <a:pPr eaLnBrk="1" hangingPunct="1">
              <a:defRPr/>
            </a:pPr>
            <a:r>
              <a:rPr lang="en-US" altLang="ja-JP" smtClean="0"/>
              <a:t> i</a:t>
            </a:r>
          </a:p>
        </p:txBody>
      </p:sp>
      <p:sp>
        <p:nvSpPr>
          <p:cNvPr id="12299" name="Line 60"/>
          <p:cNvSpPr>
            <a:spLocks noChangeShapeType="1"/>
          </p:cNvSpPr>
          <p:nvPr/>
        </p:nvSpPr>
        <p:spPr bwMode="auto">
          <a:xfrm>
            <a:off x="2771775" y="2349500"/>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2300" name="Line 61"/>
          <p:cNvSpPr>
            <a:spLocks noChangeShapeType="1"/>
          </p:cNvSpPr>
          <p:nvPr/>
        </p:nvSpPr>
        <p:spPr bwMode="auto">
          <a:xfrm flipV="1">
            <a:off x="1258888" y="3573463"/>
            <a:ext cx="0" cy="23764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2301" name="Line 62"/>
          <p:cNvSpPr>
            <a:spLocks noChangeShapeType="1"/>
          </p:cNvSpPr>
          <p:nvPr/>
        </p:nvSpPr>
        <p:spPr bwMode="auto">
          <a:xfrm>
            <a:off x="3995738" y="5949950"/>
            <a:ext cx="15128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2302" name="Rectangle 66"/>
          <p:cNvSpPr>
            <a:spLocks noChangeArrowheads="1"/>
          </p:cNvSpPr>
          <p:nvPr/>
        </p:nvSpPr>
        <p:spPr bwMode="auto">
          <a:xfrm>
            <a:off x="1692275" y="5229225"/>
            <a:ext cx="431800" cy="720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2303" name="Rectangle 67"/>
          <p:cNvSpPr>
            <a:spLocks noChangeArrowheads="1"/>
          </p:cNvSpPr>
          <p:nvPr/>
        </p:nvSpPr>
        <p:spPr bwMode="auto">
          <a:xfrm>
            <a:off x="2124075" y="5445125"/>
            <a:ext cx="431800" cy="5048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2304" name="Rectangle 68"/>
          <p:cNvSpPr>
            <a:spLocks noChangeArrowheads="1"/>
          </p:cNvSpPr>
          <p:nvPr/>
        </p:nvSpPr>
        <p:spPr bwMode="auto">
          <a:xfrm>
            <a:off x="2555875" y="5589588"/>
            <a:ext cx="431800" cy="3603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2305" name="Rectangle 69"/>
          <p:cNvSpPr>
            <a:spLocks noChangeArrowheads="1"/>
          </p:cNvSpPr>
          <p:nvPr/>
        </p:nvSpPr>
        <p:spPr bwMode="auto">
          <a:xfrm>
            <a:off x="2987675" y="5661025"/>
            <a:ext cx="431800"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2306" name="Rectangle 71"/>
          <p:cNvSpPr>
            <a:spLocks noChangeArrowheads="1"/>
          </p:cNvSpPr>
          <p:nvPr/>
        </p:nvSpPr>
        <p:spPr bwMode="auto">
          <a:xfrm>
            <a:off x="4211638" y="5734050"/>
            <a:ext cx="431800" cy="215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2307" name="Line 75"/>
          <p:cNvSpPr>
            <a:spLocks noChangeShapeType="1"/>
          </p:cNvSpPr>
          <p:nvPr/>
        </p:nvSpPr>
        <p:spPr bwMode="auto">
          <a:xfrm>
            <a:off x="1258888" y="5949950"/>
            <a:ext cx="23050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2308" name="Text Box 76"/>
          <p:cNvSpPr txBox="1">
            <a:spLocks noChangeArrowheads="1"/>
          </p:cNvSpPr>
          <p:nvPr/>
        </p:nvSpPr>
        <p:spPr bwMode="auto">
          <a:xfrm>
            <a:off x="3492500" y="55165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r>
              <a:rPr lang="en-US" altLang="ja-JP" sz="3200"/>
              <a:t>…</a:t>
            </a:r>
          </a:p>
        </p:txBody>
      </p:sp>
      <p:sp>
        <p:nvSpPr>
          <p:cNvPr id="12309" name="Line 77"/>
          <p:cNvSpPr>
            <a:spLocks noChangeShapeType="1"/>
          </p:cNvSpPr>
          <p:nvPr/>
        </p:nvSpPr>
        <p:spPr bwMode="auto">
          <a:xfrm flipH="1">
            <a:off x="1258888" y="5229225"/>
            <a:ext cx="43338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2310" name="Text Box 78"/>
          <p:cNvSpPr txBox="1">
            <a:spLocks noChangeArrowheads="1"/>
          </p:cNvSpPr>
          <p:nvPr/>
        </p:nvSpPr>
        <p:spPr bwMode="auto">
          <a:xfrm>
            <a:off x="830263" y="5006975"/>
            <a:ext cx="501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1/2</a:t>
            </a:r>
          </a:p>
        </p:txBody>
      </p:sp>
      <p:sp>
        <p:nvSpPr>
          <p:cNvPr id="12311" name="Rectangle 79"/>
          <p:cNvSpPr>
            <a:spLocks noChangeArrowheads="1"/>
          </p:cNvSpPr>
          <p:nvPr/>
        </p:nvSpPr>
        <p:spPr bwMode="auto">
          <a:xfrm>
            <a:off x="1258888" y="4508500"/>
            <a:ext cx="431800" cy="1441450"/>
          </a:xfrm>
          <a:prstGeom prst="rect">
            <a:avLst/>
          </a:prstGeom>
          <a:noFill/>
          <a:ln w="9525">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2312" name="Text Box 80"/>
          <p:cNvSpPr txBox="1">
            <a:spLocks noChangeArrowheads="1"/>
          </p:cNvSpPr>
          <p:nvPr/>
        </p:nvSpPr>
        <p:spPr bwMode="auto">
          <a:xfrm>
            <a:off x="950913" y="429260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1</a:t>
            </a:r>
          </a:p>
        </p:txBody>
      </p:sp>
      <p:sp>
        <p:nvSpPr>
          <p:cNvPr id="12313" name="Line 81"/>
          <p:cNvSpPr>
            <a:spLocks noChangeShapeType="1"/>
          </p:cNvSpPr>
          <p:nvPr/>
        </p:nvSpPr>
        <p:spPr bwMode="auto">
          <a:xfrm flipH="1">
            <a:off x="1258888" y="5445125"/>
            <a:ext cx="936625"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2314" name="Text Box 82"/>
          <p:cNvSpPr txBox="1">
            <a:spLocks noChangeArrowheads="1"/>
          </p:cNvSpPr>
          <p:nvPr/>
        </p:nvSpPr>
        <p:spPr bwMode="auto">
          <a:xfrm>
            <a:off x="830263" y="5294313"/>
            <a:ext cx="501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1/3</a:t>
            </a:r>
          </a:p>
        </p:txBody>
      </p:sp>
      <p:sp>
        <p:nvSpPr>
          <p:cNvPr id="25626" name="Freeform 83"/>
          <p:cNvSpPr>
            <a:spLocks/>
          </p:cNvSpPr>
          <p:nvPr/>
        </p:nvSpPr>
        <p:spPr bwMode="auto">
          <a:xfrm>
            <a:off x="1476375" y="3644900"/>
            <a:ext cx="3600450" cy="2101850"/>
          </a:xfrm>
          <a:custGeom>
            <a:avLst/>
            <a:gdLst>
              <a:gd name="T0" fmla="*/ 0 w 2268"/>
              <a:gd name="T1" fmla="*/ 0 h 1324"/>
              <a:gd name="T2" fmla="*/ 2147483647 w 2268"/>
              <a:gd name="T3" fmla="*/ 2147483647 h 1324"/>
              <a:gd name="T4" fmla="*/ 2147483647 w 2268"/>
              <a:gd name="T5" fmla="*/ 2147483647 h 1324"/>
              <a:gd name="T6" fmla="*/ 2147483647 w 2268"/>
              <a:gd name="T7" fmla="*/ 2147483647 h 1324"/>
              <a:gd name="T8" fmla="*/ 2147483647 w 2268"/>
              <a:gd name="T9" fmla="*/ 2147483647 h 1324"/>
              <a:gd name="T10" fmla="*/ 2147483647 w 2268"/>
              <a:gd name="T11" fmla="*/ 2147483647 h 1324"/>
              <a:gd name="T12" fmla="*/ 2147483647 w 2268"/>
              <a:gd name="T13" fmla="*/ 2147483647 h 1324"/>
              <a:gd name="T14" fmla="*/ 2147483647 w 2268"/>
              <a:gd name="T15" fmla="*/ 2147483647 h 13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268" h="1324">
                <a:moveTo>
                  <a:pt x="0" y="0"/>
                </a:moveTo>
                <a:cubicBezTo>
                  <a:pt x="34" y="189"/>
                  <a:pt x="68" y="378"/>
                  <a:pt x="136" y="544"/>
                </a:cubicBezTo>
                <a:cubicBezTo>
                  <a:pt x="204" y="710"/>
                  <a:pt x="317" y="900"/>
                  <a:pt x="408" y="998"/>
                </a:cubicBezTo>
                <a:cubicBezTo>
                  <a:pt x="499" y="1096"/>
                  <a:pt x="589" y="1096"/>
                  <a:pt x="680" y="1134"/>
                </a:cubicBezTo>
                <a:cubicBezTo>
                  <a:pt x="771" y="1172"/>
                  <a:pt x="861" y="1202"/>
                  <a:pt x="952" y="1225"/>
                </a:cubicBezTo>
                <a:cubicBezTo>
                  <a:pt x="1043" y="1248"/>
                  <a:pt x="1050" y="1255"/>
                  <a:pt x="1224" y="1270"/>
                </a:cubicBezTo>
                <a:cubicBezTo>
                  <a:pt x="1398" y="1285"/>
                  <a:pt x="1821" y="1308"/>
                  <a:pt x="1995" y="1316"/>
                </a:cubicBezTo>
                <a:cubicBezTo>
                  <a:pt x="2169" y="1324"/>
                  <a:pt x="2223" y="1316"/>
                  <a:pt x="2268" y="1316"/>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12316" name="Text Box 84"/>
          <p:cNvSpPr txBox="1">
            <a:spLocks noChangeArrowheads="1"/>
          </p:cNvSpPr>
          <p:nvPr/>
        </p:nvSpPr>
        <p:spPr bwMode="auto">
          <a:xfrm>
            <a:off x="1600200" y="596900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1</a:t>
            </a:r>
          </a:p>
        </p:txBody>
      </p:sp>
      <p:sp>
        <p:nvSpPr>
          <p:cNvPr id="12317" name="Text Box 85"/>
          <p:cNvSpPr txBox="1">
            <a:spLocks noChangeArrowheads="1"/>
          </p:cNvSpPr>
          <p:nvPr/>
        </p:nvSpPr>
        <p:spPr bwMode="auto">
          <a:xfrm>
            <a:off x="1958975" y="596900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2</a:t>
            </a:r>
          </a:p>
        </p:txBody>
      </p:sp>
      <p:sp>
        <p:nvSpPr>
          <p:cNvPr id="12318" name="Text Box 86"/>
          <p:cNvSpPr txBox="1">
            <a:spLocks noChangeArrowheads="1"/>
          </p:cNvSpPr>
          <p:nvPr/>
        </p:nvSpPr>
        <p:spPr bwMode="auto">
          <a:xfrm>
            <a:off x="4048125" y="589756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n</a:t>
            </a:r>
          </a:p>
        </p:txBody>
      </p:sp>
      <p:sp>
        <p:nvSpPr>
          <p:cNvPr id="12319" name="Text Box 87"/>
          <p:cNvSpPr txBox="1">
            <a:spLocks noChangeArrowheads="1"/>
          </p:cNvSpPr>
          <p:nvPr/>
        </p:nvSpPr>
        <p:spPr bwMode="auto">
          <a:xfrm>
            <a:off x="4356100" y="5876925"/>
            <a:ext cx="5715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n+1</a:t>
            </a:r>
          </a:p>
        </p:txBody>
      </p:sp>
      <p:sp>
        <p:nvSpPr>
          <p:cNvPr id="12320" name="Text Box 88"/>
          <p:cNvSpPr txBox="1">
            <a:spLocks noChangeArrowheads="1"/>
          </p:cNvSpPr>
          <p:nvPr/>
        </p:nvSpPr>
        <p:spPr bwMode="auto">
          <a:xfrm>
            <a:off x="4911725" y="2774950"/>
            <a:ext cx="14589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a:t>
            </a:r>
            <a:r>
              <a:rPr lang="ja-JP" altLang="en-US" smtClean="0"/>
              <a:t>証明終わり）</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スライド番号プレースホルダー 5"/>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fld id="{E3AF17EC-6F6A-4B06-9CA8-0E6C7F44C085}" type="slidenum">
              <a:rPr kumimoji="0" lang="en-US" altLang="ja-JP" sz="1200">
                <a:latin typeface="Arial Black" pitchFamily="34" charset="0"/>
              </a:rPr>
              <a:pPr/>
              <a:t>12</a:t>
            </a:fld>
            <a:endParaRPr kumimoji="0" lang="en-US" altLang="ja-JP" sz="1200">
              <a:latin typeface="Arial Black" pitchFamily="34" charset="0"/>
            </a:endParaRPr>
          </a:p>
        </p:txBody>
      </p:sp>
      <p:sp>
        <p:nvSpPr>
          <p:cNvPr id="13317" name="Rectangle 4"/>
          <p:cNvSpPr>
            <a:spLocks noGrp="1" noChangeArrowheads="1"/>
          </p:cNvSpPr>
          <p:nvPr>
            <p:ph type="title"/>
          </p:nvPr>
        </p:nvSpPr>
        <p:spPr>
          <a:xfrm>
            <a:off x="609600" y="198438"/>
            <a:ext cx="7772400" cy="1143000"/>
          </a:xfrm>
        </p:spPr>
        <p:txBody>
          <a:bodyPr/>
          <a:lstStyle/>
          <a:p>
            <a:pPr eaLnBrk="1" hangingPunct="1">
              <a:defRPr/>
            </a:pPr>
            <a:r>
              <a:rPr lang="ja-JP" altLang="en-US" sz="3600"/>
              <a:t>木のなぞり</a:t>
            </a:r>
          </a:p>
        </p:txBody>
      </p:sp>
      <p:sp>
        <p:nvSpPr>
          <p:cNvPr id="13318" name="Text Box 6"/>
          <p:cNvSpPr txBox="1">
            <a:spLocks noChangeArrowheads="1"/>
          </p:cNvSpPr>
          <p:nvPr/>
        </p:nvSpPr>
        <p:spPr bwMode="auto">
          <a:xfrm>
            <a:off x="808038" y="1335088"/>
            <a:ext cx="72024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z="2000" b="1" smtClean="0"/>
              <a:t>木のなぞり</a:t>
            </a:r>
            <a:r>
              <a:rPr lang="en-US" altLang="ja-JP" sz="2000" b="1" smtClean="0"/>
              <a:t>(traverse)</a:t>
            </a:r>
            <a:r>
              <a:rPr lang="ja-JP" altLang="en-US" sz="2000" smtClean="0"/>
              <a:t>とは、</a:t>
            </a:r>
          </a:p>
          <a:p>
            <a:pPr eaLnBrk="1" hangingPunct="1">
              <a:defRPr/>
            </a:pPr>
            <a:r>
              <a:rPr lang="ja-JP" altLang="en-US" sz="2000" smtClean="0"/>
              <a:t>　　　　　　　　　</a:t>
            </a:r>
            <a:r>
              <a:rPr lang="ja-JP" altLang="en-US" sz="2000" smtClean="0">
                <a:solidFill>
                  <a:srgbClr val="FF3300"/>
                </a:solidFill>
              </a:rPr>
              <a:t>木のすべての節点を組織だった方法で訪問すること</a:t>
            </a:r>
            <a:endParaRPr lang="ja-JP" altLang="en-US" sz="2000" smtClean="0"/>
          </a:p>
        </p:txBody>
      </p:sp>
      <p:sp>
        <p:nvSpPr>
          <p:cNvPr id="13319" name="Text Box 7"/>
          <p:cNvSpPr txBox="1">
            <a:spLocks noChangeArrowheads="1"/>
          </p:cNvSpPr>
          <p:nvPr/>
        </p:nvSpPr>
        <p:spPr bwMode="auto">
          <a:xfrm>
            <a:off x="808038" y="2224088"/>
            <a:ext cx="50815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mtClean="0"/>
              <a:t>深さ優先探索</a:t>
            </a:r>
            <a:r>
              <a:rPr lang="en-US" altLang="ja-JP" smtClean="0"/>
              <a:t>(depth-first search)</a:t>
            </a:r>
            <a:r>
              <a:rPr lang="ja-JP" altLang="en-US" smtClean="0"/>
              <a:t>による木のなぞり</a:t>
            </a:r>
          </a:p>
        </p:txBody>
      </p:sp>
      <p:sp>
        <p:nvSpPr>
          <p:cNvPr id="13320" name="Oval 8"/>
          <p:cNvSpPr>
            <a:spLocks noChangeArrowheads="1"/>
          </p:cNvSpPr>
          <p:nvPr/>
        </p:nvSpPr>
        <p:spPr bwMode="auto">
          <a:xfrm>
            <a:off x="2141538" y="2838450"/>
            <a:ext cx="319087" cy="3143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7</a:t>
            </a:r>
          </a:p>
        </p:txBody>
      </p:sp>
      <p:sp>
        <p:nvSpPr>
          <p:cNvPr id="13321" name="Oval 9"/>
          <p:cNvSpPr>
            <a:spLocks noChangeArrowheads="1"/>
          </p:cNvSpPr>
          <p:nvPr/>
        </p:nvSpPr>
        <p:spPr bwMode="auto">
          <a:xfrm>
            <a:off x="1716088" y="3467100"/>
            <a:ext cx="319087" cy="3143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3</a:t>
            </a:r>
          </a:p>
        </p:txBody>
      </p:sp>
      <p:sp>
        <p:nvSpPr>
          <p:cNvPr id="13322" name="Oval 10"/>
          <p:cNvSpPr>
            <a:spLocks noChangeArrowheads="1"/>
          </p:cNvSpPr>
          <p:nvPr/>
        </p:nvSpPr>
        <p:spPr bwMode="auto">
          <a:xfrm>
            <a:off x="2673350" y="3351213"/>
            <a:ext cx="317500" cy="3159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10</a:t>
            </a:r>
          </a:p>
        </p:txBody>
      </p:sp>
      <p:sp>
        <p:nvSpPr>
          <p:cNvPr id="13323" name="Oval 11"/>
          <p:cNvSpPr>
            <a:spLocks noChangeArrowheads="1"/>
          </p:cNvSpPr>
          <p:nvPr/>
        </p:nvSpPr>
        <p:spPr bwMode="auto">
          <a:xfrm>
            <a:off x="1292225" y="4097338"/>
            <a:ext cx="319088" cy="3143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1</a:t>
            </a:r>
          </a:p>
        </p:txBody>
      </p:sp>
      <p:sp>
        <p:nvSpPr>
          <p:cNvPr id="13324" name="Oval 12"/>
          <p:cNvSpPr>
            <a:spLocks noChangeArrowheads="1"/>
          </p:cNvSpPr>
          <p:nvPr/>
        </p:nvSpPr>
        <p:spPr bwMode="auto">
          <a:xfrm>
            <a:off x="2035175" y="4097338"/>
            <a:ext cx="317500" cy="3143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4</a:t>
            </a:r>
          </a:p>
        </p:txBody>
      </p:sp>
      <p:sp>
        <p:nvSpPr>
          <p:cNvPr id="13325" name="Oval 13"/>
          <p:cNvSpPr>
            <a:spLocks noChangeArrowheads="1"/>
          </p:cNvSpPr>
          <p:nvPr/>
        </p:nvSpPr>
        <p:spPr bwMode="auto">
          <a:xfrm>
            <a:off x="2035175" y="5346700"/>
            <a:ext cx="317500" cy="3143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5</a:t>
            </a:r>
          </a:p>
        </p:txBody>
      </p:sp>
      <p:sp>
        <p:nvSpPr>
          <p:cNvPr id="13326" name="Line 14"/>
          <p:cNvSpPr>
            <a:spLocks noChangeShapeType="1"/>
          </p:cNvSpPr>
          <p:nvPr/>
        </p:nvSpPr>
        <p:spPr bwMode="auto">
          <a:xfrm flipH="1">
            <a:off x="1928813" y="3152775"/>
            <a:ext cx="212725" cy="314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27" name="Line 15"/>
          <p:cNvSpPr>
            <a:spLocks noChangeShapeType="1"/>
          </p:cNvSpPr>
          <p:nvPr/>
        </p:nvSpPr>
        <p:spPr bwMode="auto">
          <a:xfrm flipH="1">
            <a:off x="1504950" y="3781425"/>
            <a:ext cx="211138" cy="3159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28" name="Line 16"/>
          <p:cNvSpPr>
            <a:spLocks noChangeShapeType="1"/>
          </p:cNvSpPr>
          <p:nvPr/>
        </p:nvSpPr>
        <p:spPr bwMode="auto">
          <a:xfrm>
            <a:off x="2460625" y="3152775"/>
            <a:ext cx="317500" cy="1984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29" name="Line 17"/>
          <p:cNvSpPr>
            <a:spLocks noChangeShapeType="1"/>
          </p:cNvSpPr>
          <p:nvPr/>
        </p:nvSpPr>
        <p:spPr bwMode="auto">
          <a:xfrm>
            <a:off x="1928813" y="3781425"/>
            <a:ext cx="212725" cy="3159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30" name="Line 18"/>
          <p:cNvSpPr>
            <a:spLocks noChangeShapeType="1"/>
          </p:cNvSpPr>
          <p:nvPr/>
        </p:nvSpPr>
        <p:spPr bwMode="auto">
          <a:xfrm flipH="1">
            <a:off x="2249488" y="5032375"/>
            <a:ext cx="211137" cy="314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31" name="Oval 19"/>
          <p:cNvSpPr>
            <a:spLocks noChangeArrowheads="1"/>
          </p:cNvSpPr>
          <p:nvPr/>
        </p:nvSpPr>
        <p:spPr bwMode="auto">
          <a:xfrm>
            <a:off x="2460625" y="3971925"/>
            <a:ext cx="317500" cy="3143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8</a:t>
            </a:r>
          </a:p>
        </p:txBody>
      </p:sp>
      <p:sp>
        <p:nvSpPr>
          <p:cNvPr id="13332" name="Line 20"/>
          <p:cNvSpPr>
            <a:spLocks noChangeShapeType="1"/>
          </p:cNvSpPr>
          <p:nvPr/>
        </p:nvSpPr>
        <p:spPr bwMode="auto">
          <a:xfrm flipH="1">
            <a:off x="2674938" y="3654425"/>
            <a:ext cx="103187" cy="317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33" name="Oval 21"/>
          <p:cNvSpPr>
            <a:spLocks noChangeArrowheads="1"/>
          </p:cNvSpPr>
          <p:nvPr/>
        </p:nvSpPr>
        <p:spPr bwMode="auto">
          <a:xfrm>
            <a:off x="2352675" y="4716463"/>
            <a:ext cx="317500" cy="3159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sz="1400">
                <a:latin typeface="Arial" charset="0"/>
                <a:ea typeface="ＭＳ Ｐゴシック" charset="0"/>
                <a:cs typeface="ＭＳ Ｐゴシック" charset="0"/>
              </a:rPr>
              <a:t>6</a:t>
            </a:r>
          </a:p>
        </p:txBody>
      </p:sp>
      <p:sp>
        <p:nvSpPr>
          <p:cNvPr id="13334" name="Line 22"/>
          <p:cNvSpPr>
            <a:spLocks noChangeShapeType="1"/>
          </p:cNvSpPr>
          <p:nvPr/>
        </p:nvSpPr>
        <p:spPr bwMode="auto">
          <a:xfrm>
            <a:off x="2247900" y="4402138"/>
            <a:ext cx="212725" cy="314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35" name="Line 26"/>
          <p:cNvSpPr>
            <a:spLocks noChangeShapeType="1"/>
          </p:cNvSpPr>
          <p:nvPr/>
        </p:nvSpPr>
        <p:spPr bwMode="auto">
          <a:xfrm flipH="1">
            <a:off x="1804988" y="2997200"/>
            <a:ext cx="319087" cy="422275"/>
          </a:xfrm>
          <a:prstGeom prst="line">
            <a:avLst/>
          </a:prstGeom>
          <a:noFill/>
          <a:ln w="9525">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36" name="Line 27"/>
          <p:cNvSpPr>
            <a:spLocks noChangeShapeType="1"/>
          </p:cNvSpPr>
          <p:nvPr/>
        </p:nvSpPr>
        <p:spPr bwMode="auto">
          <a:xfrm flipH="1">
            <a:off x="1373188" y="3656013"/>
            <a:ext cx="319087" cy="420687"/>
          </a:xfrm>
          <a:prstGeom prst="line">
            <a:avLst/>
          </a:prstGeom>
          <a:noFill/>
          <a:ln w="9525">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37" name="Line 28"/>
          <p:cNvSpPr>
            <a:spLocks noChangeShapeType="1"/>
          </p:cNvSpPr>
          <p:nvPr/>
        </p:nvSpPr>
        <p:spPr bwMode="auto">
          <a:xfrm flipH="1">
            <a:off x="1611313" y="3886200"/>
            <a:ext cx="212725" cy="317500"/>
          </a:xfrm>
          <a:prstGeom prst="line">
            <a:avLst/>
          </a:prstGeom>
          <a:noFill/>
          <a:ln w="9525">
            <a:solidFill>
              <a:schemeClr val="tx1"/>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38" name="Line 29"/>
          <p:cNvSpPr>
            <a:spLocks noChangeShapeType="1"/>
          </p:cNvSpPr>
          <p:nvPr/>
        </p:nvSpPr>
        <p:spPr bwMode="auto">
          <a:xfrm>
            <a:off x="1824038" y="3889375"/>
            <a:ext cx="211137" cy="314325"/>
          </a:xfrm>
          <a:prstGeom prst="line">
            <a:avLst/>
          </a:prstGeom>
          <a:noFill/>
          <a:ln w="9525">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39" name="Line 30"/>
          <p:cNvSpPr>
            <a:spLocks noChangeShapeType="1"/>
          </p:cNvSpPr>
          <p:nvPr/>
        </p:nvSpPr>
        <p:spPr bwMode="auto">
          <a:xfrm>
            <a:off x="2144713" y="4518025"/>
            <a:ext cx="209550" cy="314325"/>
          </a:xfrm>
          <a:prstGeom prst="line">
            <a:avLst/>
          </a:prstGeom>
          <a:noFill/>
          <a:ln w="9525">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40" name="Line 32"/>
          <p:cNvSpPr>
            <a:spLocks noChangeShapeType="1"/>
          </p:cNvSpPr>
          <p:nvPr/>
        </p:nvSpPr>
        <p:spPr bwMode="auto">
          <a:xfrm flipH="1">
            <a:off x="2141538" y="4937125"/>
            <a:ext cx="212725" cy="314325"/>
          </a:xfrm>
          <a:prstGeom prst="line">
            <a:avLst/>
          </a:prstGeom>
          <a:noFill/>
          <a:ln w="9525">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41" name="Line 33"/>
          <p:cNvSpPr>
            <a:spLocks noChangeShapeType="1"/>
          </p:cNvSpPr>
          <p:nvPr/>
        </p:nvSpPr>
        <p:spPr bwMode="auto">
          <a:xfrm flipH="1">
            <a:off x="2354263" y="5145088"/>
            <a:ext cx="214312" cy="317500"/>
          </a:xfrm>
          <a:prstGeom prst="line">
            <a:avLst/>
          </a:prstGeom>
          <a:noFill/>
          <a:ln w="9525">
            <a:solidFill>
              <a:schemeClr val="tx1"/>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42" name="Line 34"/>
          <p:cNvSpPr>
            <a:spLocks noChangeShapeType="1"/>
          </p:cNvSpPr>
          <p:nvPr/>
        </p:nvSpPr>
        <p:spPr bwMode="auto">
          <a:xfrm>
            <a:off x="2354263" y="4306888"/>
            <a:ext cx="211137" cy="315912"/>
          </a:xfrm>
          <a:prstGeom prst="line">
            <a:avLst/>
          </a:prstGeom>
          <a:noFill/>
          <a:ln w="9525">
            <a:solidFill>
              <a:schemeClr val="tx1"/>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43" name="Line 35"/>
          <p:cNvSpPr>
            <a:spLocks noChangeShapeType="1"/>
          </p:cNvSpPr>
          <p:nvPr/>
        </p:nvSpPr>
        <p:spPr bwMode="auto">
          <a:xfrm>
            <a:off x="2035175" y="3678238"/>
            <a:ext cx="209550" cy="314325"/>
          </a:xfrm>
          <a:prstGeom prst="line">
            <a:avLst/>
          </a:prstGeom>
          <a:noFill/>
          <a:ln w="9525">
            <a:solidFill>
              <a:schemeClr val="tx1"/>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44" name="Line 36"/>
          <p:cNvSpPr>
            <a:spLocks noChangeShapeType="1"/>
          </p:cNvSpPr>
          <p:nvPr/>
        </p:nvSpPr>
        <p:spPr bwMode="auto">
          <a:xfrm flipH="1">
            <a:off x="2035175" y="3257550"/>
            <a:ext cx="212725" cy="315913"/>
          </a:xfrm>
          <a:prstGeom prst="line">
            <a:avLst/>
          </a:prstGeom>
          <a:noFill/>
          <a:ln w="9525">
            <a:solidFill>
              <a:schemeClr val="tx1"/>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45" name="Line 37"/>
          <p:cNvSpPr>
            <a:spLocks noChangeShapeType="1"/>
          </p:cNvSpPr>
          <p:nvPr/>
        </p:nvSpPr>
        <p:spPr bwMode="auto">
          <a:xfrm>
            <a:off x="2354263" y="3259138"/>
            <a:ext cx="319087" cy="207962"/>
          </a:xfrm>
          <a:prstGeom prst="line">
            <a:avLst/>
          </a:prstGeom>
          <a:noFill/>
          <a:ln w="9525">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46" name="Line 38"/>
          <p:cNvSpPr>
            <a:spLocks noChangeShapeType="1"/>
          </p:cNvSpPr>
          <p:nvPr/>
        </p:nvSpPr>
        <p:spPr bwMode="auto">
          <a:xfrm flipH="1">
            <a:off x="2568575" y="3617913"/>
            <a:ext cx="104775" cy="315912"/>
          </a:xfrm>
          <a:prstGeom prst="line">
            <a:avLst/>
          </a:prstGeom>
          <a:noFill/>
          <a:ln w="9525">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47" name="Line 39"/>
          <p:cNvSpPr>
            <a:spLocks noChangeShapeType="1"/>
          </p:cNvSpPr>
          <p:nvPr/>
        </p:nvSpPr>
        <p:spPr bwMode="auto">
          <a:xfrm flipH="1">
            <a:off x="2771775" y="3690938"/>
            <a:ext cx="106363" cy="314325"/>
          </a:xfrm>
          <a:prstGeom prst="line">
            <a:avLst/>
          </a:prstGeom>
          <a:noFill/>
          <a:ln w="9525">
            <a:solidFill>
              <a:schemeClr val="tx1"/>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48" name="Line 40"/>
          <p:cNvSpPr>
            <a:spLocks noChangeShapeType="1"/>
          </p:cNvSpPr>
          <p:nvPr/>
        </p:nvSpPr>
        <p:spPr bwMode="auto">
          <a:xfrm>
            <a:off x="2565400" y="3048000"/>
            <a:ext cx="319088" cy="211138"/>
          </a:xfrm>
          <a:prstGeom prst="line">
            <a:avLst/>
          </a:prstGeom>
          <a:noFill/>
          <a:ln w="9525">
            <a:solidFill>
              <a:schemeClr val="tx1"/>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3349" name="Text Box 41"/>
          <p:cNvSpPr txBox="1">
            <a:spLocks noChangeArrowheads="1"/>
          </p:cNvSpPr>
          <p:nvPr/>
        </p:nvSpPr>
        <p:spPr bwMode="auto">
          <a:xfrm>
            <a:off x="1581150" y="2636838"/>
            <a:ext cx="1841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endParaRPr lang="ja-JP" smtClean="0"/>
          </a:p>
        </p:txBody>
      </p:sp>
      <p:sp>
        <p:nvSpPr>
          <p:cNvPr id="13350" name="Text Box 42"/>
          <p:cNvSpPr txBox="1">
            <a:spLocks noChangeArrowheads="1"/>
          </p:cNvSpPr>
          <p:nvPr/>
        </p:nvSpPr>
        <p:spPr bwMode="auto">
          <a:xfrm>
            <a:off x="1835150" y="2978150"/>
            <a:ext cx="282575" cy="30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1</a:t>
            </a:r>
          </a:p>
        </p:txBody>
      </p:sp>
      <p:sp>
        <p:nvSpPr>
          <p:cNvPr id="13351" name="Text Box 43"/>
          <p:cNvSpPr txBox="1">
            <a:spLocks noChangeArrowheads="1"/>
          </p:cNvSpPr>
          <p:nvPr/>
        </p:nvSpPr>
        <p:spPr bwMode="auto">
          <a:xfrm>
            <a:off x="1336675" y="3629025"/>
            <a:ext cx="28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2</a:t>
            </a:r>
          </a:p>
        </p:txBody>
      </p:sp>
      <p:sp>
        <p:nvSpPr>
          <p:cNvPr id="13352" name="Text Box 44"/>
          <p:cNvSpPr txBox="1">
            <a:spLocks noChangeArrowheads="1"/>
          </p:cNvSpPr>
          <p:nvPr/>
        </p:nvSpPr>
        <p:spPr bwMode="auto">
          <a:xfrm>
            <a:off x="1552575" y="3933825"/>
            <a:ext cx="282575" cy="30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3</a:t>
            </a:r>
          </a:p>
        </p:txBody>
      </p:sp>
      <p:sp>
        <p:nvSpPr>
          <p:cNvPr id="13353" name="Text Box 45"/>
          <p:cNvSpPr txBox="1">
            <a:spLocks noChangeArrowheads="1"/>
          </p:cNvSpPr>
          <p:nvPr/>
        </p:nvSpPr>
        <p:spPr bwMode="auto">
          <a:xfrm>
            <a:off x="1768475" y="3916363"/>
            <a:ext cx="28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4</a:t>
            </a:r>
          </a:p>
        </p:txBody>
      </p:sp>
      <p:sp>
        <p:nvSpPr>
          <p:cNvPr id="13354" name="Text Box 46"/>
          <p:cNvSpPr txBox="1">
            <a:spLocks noChangeArrowheads="1"/>
          </p:cNvSpPr>
          <p:nvPr/>
        </p:nvSpPr>
        <p:spPr bwMode="auto">
          <a:xfrm>
            <a:off x="1985963" y="4564063"/>
            <a:ext cx="28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5</a:t>
            </a:r>
          </a:p>
        </p:txBody>
      </p:sp>
      <p:sp>
        <p:nvSpPr>
          <p:cNvPr id="13355" name="Text Box 47"/>
          <p:cNvSpPr txBox="1">
            <a:spLocks noChangeArrowheads="1"/>
          </p:cNvSpPr>
          <p:nvPr/>
        </p:nvSpPr>
        <p:spPr bwMode="auto">
          <a:xfrm>
            <a:off x="2055813" y="4832350"/>
            <a:ext cx="284162" cy="30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6</a:t>
            </a:r>
          </a:p>
        </p:txBody>
      </p:sp>
      <p:sp>
        <p:nvSpPr>
          <p:cNvPr id="13356" name="Text Box 48"/>
          <p:cNvSpPr txBox="1">
            <a:spLocks noChangeArrowheads="1"/>
          </p:cNvSpPr>
          <p:nvPr/>
        </p:nvSpPr>
        <p:spPr bwMode="auto">
          <a:xfrm>
            <a:off x="2362200" y="5227638"/>
            <a:ext cx="282575" cy="303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7</a:t>
            </a:r>
          </a:p>
        </p:txBody>
      </p:sp>
      <p:sp>
        <p:nvSpPr>
          <p:cNvPr id="13357" name="Text Box 49"/>
          <p:cNvSpPr txBox="1">
            <a:spLocks noChangeArrowheads="1"/>
          </p:cNvSpPr>
          <p:nvPr/>
        </p:nvSpPr>
        <p:spPr bwMode="auto">
          <a:xfrm>
            <a:off x="2354263" y="4203700"/>
            <a:ext cx="2809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8</a:t>
            </a:r>
          </a:p>
        </p:txBody>
      </p:sp>
      <p:sp>
        <p:nvSpPr>
          <p:cNvPr id="13358" name="Text Box 50"/>
          <p:cNvSpPr txBox="1">
            <a:spLocks noChangeArrowheads="1"/>
          </p:cNvSpPr>
          <p:nvPr/>
        </p:nvSpPr>
        <p:spPr bwMode="auto">
          <a:xfrm>
            <a:off x="2035175" y="3652838"/>
            <a:ext cx="28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9</a:t>
            </a:r>
          </a:p>
        </p:txBody>
      </p:sp>
      <p:sp>
        <p:nvSpPr>
          <p:cNvPr id="13359" name="Text Box 51"/>
          <p:cNvSpPr txBox="1">
            <a:spLocks noChangeArrowheads="1"/>
          </p:cNvSpPr>
          <p:nvPr/>
        </p:nvSpPr>
        <p:spPr bwMode="auto">
          <a:xfrm>
            <a:off x="1979613" y="33575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10</a:t>
            </a:r>
          </a:p>
        </p:txBody>
      </p:sp>
      <p:sp>
        <p:nvSpPr>
          <p:cNvPr id="13360" name="Text Box 52"/>
          <p:cNvSpPr txBox="1">
            <a:spLocks noChangeArrowheads="1"/>
          </p:cNvSpPr>
          <p:nvPr/>
        </p:nvSpPr>
        <p:spPr bwMode="auto">
          <a:xfrm>
            <a:off x="2257425" y="32337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11</a:t>
            </a:r>
          </a:p>
        </p:txBody>
      </p:sp>
      <p:sp>
        <p:nvSpPr>
          <p:cNvPr id="13361" name="Text Box 53"/>
          <p:cNvSpPr txBox="1">
            <a:spLocks noChangeArrowheads="1"/>
          </p:cNvSpPr>
          <p:nvPr/>
        </p:nvSpPr>
        <p:spPr bwMode="auto">
          <a:xfrm>
            <a:off x="2339975" y="357346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12</a:t>
            </a:r>
          </a:p>
        </p:txBody>
      </p:sp>
      <p:sp>
        <p:nvSpPr>
          <p:cNvPr id="13362" name="Text Box 54"/>
          <p:cNvSpPr txBox="1">
            <a:spLocks noChangeArrowheads="1"/>
          </p:cNvSpPr>
          <p:nvPr/>
        </p:nvSpPr>
        <p:spPr bwMode="auto">
          <a:xfrm>
            <a:off x="2700338" y="37719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13</a:t>
            </a:r>
          </a:p>
        </p:txBody>
      </p:sp>
      <p:sp>
        <p:nvSpPr>
          <p:cNvPr id="13363" name="Text Box 55"/>
          <p:cNvSpPr txBox="1">
            <a:spLocks noChangeArrowheads="1"/>
          </p:cNvSpPr>
          <p:nvPr/>
        </p:nvSpPr>
        <p:spPr bwMode="auto">
          <a:xfrm>
            <a:off x="2678113" y="2979738"/>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400" smtClean="0"/>
              <a:t>14</a:t>
            </a:r>
          </a:p>
        </p:txBody>
      </p:sp>
      <p:sp>
        <p:nvSpPr>
          <p:cNvPr id="13364" name="Text Box 57"/>
          <p:cNvSpPr txBox="1">
            <a:spLocks noChangeArrowheads="1"/>
          </p:cNvSpPr>
          <p:nvPr/>
        </p:nvSpPr>
        <p:spPr bwMode="auto">
          <a:xfrm>
            <a:off x="3348038" y="2781300"/>
            <a:ext cx="55737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mtClean="0"/>
              <a:t>すべての節点の要素を次の３種類の順番で出力できる。</a:t>
            </a:r>
          </a:p>
        </p:txBody>
      </p:sp>
      <p:sp>
        <p:nvSpPr>
          <p:cNvPr id="13365" name="Text Box 58"/>
          <p:cNvSpPr txBox="1">
            <a:spLocks noChangeArrowheads="1"/>
          </p:cNvSpPr>
          <p:nvPr/>
        </p:nvSpPr>
        <p:spPr bwMode="auto">
          <a:xfrm>
            <a:off x="3471863" y="3213100"/>
            <a:ext cx="5353050" cy="317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r>
              <a:rPr lang="ja-JP" altLang="en-US" sz="1800" b="1"/>
              <a:t>前順（行きがけ順、</a:t>
            </a:r>
            <a:r>
              <a:rPr lang="en-US" altLang="ja-JP" sz="1800" b="1"/>
              <a:t>preorder)</a:t>
            </a:r>
          </a:p>
          <a:p>
            <a:r>
              <a:rPr lang="en-US" altLang="ja-JP" sz="1800"/>
              <a:t>     </a:t>
            </a:r>
            <a:r>
              <a:rPr lang="ja-JP" altLang="en-US" sz="1800"/>
              <a:t>　　　　　　最初の訪問時に出力</a:t>
            </a:r>
          </a:p>
          <a:p>
            <a:endParaRPr lang="ja-JP" altLang="en-US" sz="800"/>
          </a:p>
          <a:p>
            <a:r>
              <a:rPr lang="ja-JP" altLang="en-US" sz="1800"/>
              <a:t>   </a:t>
            </a:r>
            <a:r>
              <a:rPr lang="en-US" altLang="ja-JP" sz="1800"/>
              <a:t>7, 3, 1, 4, 6, 5, 10, 8</a:t>
            </a:r>
          </a:p>
          <a:p>
            <a:endParaRPr lang="en-US" altLang="ja-JP" sz="800"/>
          </a:p>
          <a:p>
            <a:r>
              <a:rPr lang="ja-JP" altLang="en-US" sz="1800" b="1"/>
              <a:t>中順（通りがけ順、</a:t>
            </a:r>
            <a:r>
              <a:rPr lang="en-US" altLang="ja-JP" sz="1800" b="1"/>
              <a:t>inorder)</a:t>
            </a:r>
          </a:p>
          <a:p>
            <a:r>
              <a:rPr lang="ja-JP" altLang="en-US" sz="1800"/>
              <a:t>　　　　　　　　左の部分木のなぞりが終わった後に出力</a:t>
            </a:r>
          </a:p>
          <a:p>
            <a:endParaRPr lang="ja-JP" altLang="en-US" sz="800"/>
          </a:p>
          <a:p>
            <a:r>
              <a:rPr lang="ja-JP" altLang="en-US" sz="1800"/>
              <a:t>  </a:t>
            </a:r>
            <a:r>
              <a:rPr lang="en-US" altLang="ja-JP" sz="1800"/>
              <a:t>1, 3, 4, 5, 6, 7, 8, 10</a:t>
            </a:r>
          </a:p>
          <a:p>
            <a:endParaRPr lang="en-US" altLang="ja-JP" sz="800"/>
          </a:p>
          <a:p>
            <a:r>
              <a:rPr lang="ja-JP" altLang="en-US" sz="1800" b="1"/>
              <a:t>後順（帰りがけ順</a:t>
            </a:r>
            <a:r>
              <a:rPr lang="en-US" altLang="ja-JP" sz="1800" b="1"/>
              <a:t>, postorder)</a:t>
            </a:r>
          </a:p>
          <a:p>
            <a:r>
              <a:rPr lang="en-US" altLang="ja-JP" sz="1800"/>
              <a:t>                    </a:t>
            </a:r>
            <a:r>
              <a:rPr lang="ja-JP" altLang="en-US" sz="1800"/>
              <a:t>最後の訪問時に出力</a:t>
            </a:r>
          </a:p>
          <a:p>
            <a:endParaRPr lang="ja-JP" altLang="en-US" sz="800"/>
          </a:p>
          <a:p>
            <a:r>
              <a:rPr lang="ja-JP" altLang="en-US" sz="1800"/>
              <a:t>　</a:t>
            </a:r>
            <a:r>
              <a:rPr lang="en-US" altLang="ja-JP" sz="1800"/>
              <a:t>1, 5, 6, 4, 3, 8, 10, 7</a:t>
            </a:r>
          </a:p>
        </p:txBody>
      </p:sp>
      <p:sp>
        <p:nvSpPr>
          <p:cNvPr id="13366" name="Text Box 59"/>
          <p:cNvSpPr txBox="1">
            <a:spLocks noChangeArrowheads="1"/>
          </p:cNvSpPr>
          <p:nvPr/>
        </p:nvSpPr>
        <p:spPr bwMode="auto">
          <a:xfrm>
            <a:off x="303213" y="5753100"/>
            <a:ext cx="2935287" cy="925513"/>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solidFill>
                  <a:srgbClr val="FF3300"/>
                </a:solidFill>
              </a:rPr>
              <a:t>2</a:t>
            </a:r>
            <a:r>
              <a:rPr lang="ja-JP" altLang="en-US" smtClean="0">
                <a:solidFill>
                  <a:srgbClr val="FF3300"/>
                </a:solidFill>
              </a:rPr>
              <a:t>分探索木を中順出力すると</a:t>
            </a:r>
          </a:p>
          <a:p>
            <a:pPr eaLnBrk="1" hangingPunct="1">
              <a:defRPr/>
            </a:pPr>
            <a:r>
              <a:rPr lang="ja-JP" altLang="en-US" smtClean="0">
                <a:solidFill>
                  <a:srgbClr val="FF3300"/>
                </a:solidFill>
              </a:rPr>
              <a:t>整列された要素のリストが</a:t>
            </a:r>
          </a:p>
          <a:p>
            <a:pPr eaLnBrk="1" hangingPunct="1">
              <a:defRPr/>
            </a:pPr>
            <a:r>
              <a:rPr lang="ja-JP" altLang="en-US" smtClean="0">
                <a:solidFill>
                  <a:srgbClr val="FF3300"/>
                </a:solidFill>
              </a:rPr>
              <a:t>えられる！</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スライド番号プレースホルダー 5"/>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fld id="{4F51EF12-74B1-4942-BB6E-3758BF42FDCA}" type="slidenum">
              <a:rPr kumimoji="0" lang="en-US" altLang="ja-JP" sz="1200">
                <a:latin typeface="Arial Black" pitchFamily="34" charset="0"/>
              </a:rPr>
              <a:pPr/>
              <a:t>13</a:t>
            </a:fld>
            <a:endParaRPr kumimoji="0" lang="en-US" altLang="ja-JP" sz="1200">
              <a:latin typeface="Arial Black" pitchFamily="34" charset="0"/>
            </a:endParaRPr>
          </a:p>
        </p:txBody>
      </p:sp>
      <p:sp>
        <p:nvSpPr>
          <p:cNvPr id="14341" name="Rectangle 2"/>
          <p:cNvSpPr>
            <a:spLocks noGrp="1" noChangeArrowheads="1"/>
          </p:cNvSpPr>
          <p:nvPr>
            <p:ph type="title"/>
          </p:nvPr>
        </p:nvSpPr>
        <p:spPr>
          <a:xfrm>
            <a:off x="6567488" y="-315913"/>
            <a:ext cx="8229600" cy="1371601"/>
          </a:xfrm>
        </p:spPr>
        <p:txBody>
          <a:bodyPr/>
          <a:lstStyle/>
          <a:p>
            <a:pPr eaLnBrk="1" hangingPunct="1">
              <a:defRPr/>
            </a:pPr>
            <a:r>
              <a:rPr lang="ja-JP" altLang="en-US" sz="3200" dirty="0"/>
              <a:t>平衡探索木</a:t>
            </a:r>
          </a:p>
        </p:txBody>
      </p:sp>
      <p:sp>
        <p:nvSpPr>
          <p:cNvPr id="14342" name="Text Box 4"/>
          <p:cNvSpPr txBox="1">
            <a:spLocks noChangeArrowheads="1"/>
          </p:cNvSpPr>
          <p:nvPr/>
        </p:nvSpPr>
        <p:spPr bwMode="auto">
          <a:xfrm>
            <a:off x="395288" y="476250"/>
            <a:ext cx="75723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z="2000" b="1" dirty="0" smtClean="0"/>
              <a:t>平衡探索木</a:t>
            </a:r>
            <a:r>
              <a:rPr lang="en-US" altLang="ja-JP" sz="2000" b="1" dirty="0" smtClean="0"/>
              <a:t>(balanced search tree)</a:t>
            </a:r>
            <a:r>
              <a:rPr lang="ja-JP" altLang="en-US" sz="2000" dirty="0" smtClean="0"/>
              <a:t>とは</a:t>
            </a:r>
          </a:p>
          <a:p>
            <a:pPr eaLnBrk="1" hangingPunct="1">
              <a:defRPr/>
            </a:pPr>
            <a:r>
              <a:rPr lang="ja-JP" altLang="en-US" sz="2000" dirty="0" smtClean="0"/>
              <a:t>　　　　</a:t>
            </a:r>
            <a:r>
              <a:rPr lang="ja-JP" altLang="en-US" sz="2000" dirty="0" smtClean="0">
                <a:solidFill>
                  <a:srgbClr val="FF3300"/>
                </a:solidFill>
              </a:rPr>
              <a:t>各節点において、その子節点を根とする全ての部分木の高さが</a:t>
            </a:r>
          </a:p>
          <a:p>
            <a:pPr eaLnBrk="1" hangingPunct="1">
              <a:defRPr/>
            </a:pPr>
            <a:r>
              <a:rPr lang="ja-JP" altLang="en-US" sz="2000" dirty="0" smtClean="0">
                <a:solidFill>
                  <a:srgbClr val="FF3300"/>
                </a:solidFill>
              </a:rPr>
              <a:t>　　　　ほぼ平衡している探索木</a:t>
            </a:r>
          </a:p>
        </p:txBody>
      </p:sp>
      <p:sp>
        <p:nvSpPr>
          <p:cNvPr id="14343" name="Text Box 5"/>
          <p:cNvSpPr txBox="1">
            <a:spLocks noChangeArrowheads="1"/>
          </p:cNvSpPr>
          <p:nvPr/>
        </p:nvSpPr>
        <p:spPr bwMode="auto">
          <a:xfrm>
            <a:off x="107950" y="1412875"/>
            <a:ext cx="7777163" cy="421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r>
              <a:rPr lang="en-US" altLang="ja-JP" sz="1800" dirty="0"/>
              <a:t>[</a:t>
            </a:r>
            <a:r>
              <a:rPr lang="ja-JP" altLang="en-US" sz="1800" dirty="0"/>
              <a:t>主な平衡探索木</a:t>
            </a:r>
            <a:r>
              <a:rPr lang="en-US" altLang="ja-JP" sz="1800" dirty="0"/>
              <a:t>]</a:t>
            </a:r>
          </a:p>
          <a:p>
            <a:endParaRPr lang="en-US" altLang="ja-JP" sz="1800" dirty="0"/>
          </a:p>
          <a:p>
            <a:r>
              <a:rPr lang="en-US" altLang="ja-JP" sz="1800" b="1" dirty="0"/>
              <a:t>AVL</a:t>
            </a:r>
            <a:r>
              <a:rPr lang="ja-JP" altLang="en-US" sz="1800" b="1" dirty="0"/>
              <a:t>木</a:t>
            </a:r>
            <a:r>
              <a:rPr lang="ja-JP" altLang="en-US" sz="1800" dirty="0"/>
              <a:t>　どの節点においても、その左部分木と右部分木の高さの差が１以下</a:t>
            </a:r>
          </a:p>
          <a:p>
            <a:r>
              <a:rPr lang="ja-JP" altLang="en-US" sz="1800" dirty="0"/>
              <a:t>　　　　　である２分探索木。</a:t>
            </a:r>
            <a:r>
              <a:rPr lang="en-US" altLang="ja-JP" sz="1800" dirty="0"/>
              <a:t>AVL</a:t>
            </a:r>
            <a:r>
              <a:rPr lang="ja-JP" altLang="en-US" sz="1800" dirty="0"/>
              <a:t>は２人の提唱者の頭文字</a:t>
            </a:r>
          </a:p>
          <a:p>
            <a:r>
              <a:rPr lang="ja-JP" altLang="en-US" sz="1800" dirty="0"/>
              <a:t>　　　　　</a:t>
            </a:r>
            <a:r>
              <a:rPr lang="en-US" altLang="ja-JP" sz="1800" dirty="0"/>
              <a:t>(G. M. </a:t>
            </a:r>
            <a:r>
              <a:rPr lang="en-US" altLang="ja-JP" sz="1800" dirty="0" err="1"/>
              <a:t>Adel’son-Vel’skii</a:t>
            </a:r>
            <a:r>
              <a:rPr lang="en-US" altLang="ja-JP" sz="1800" dirty="0"/>
              <a:t> and Y. M. Landis)</a:t>
            </a:r>
          </a:p>
          <a:p>
            <a:endParaRPr lang="en-US" altLang="ja-JP" sz="1800" dirty="0"/>
          </a:p>
          <a:p>
            <a:r>
              <a:rPr lang="en-US" altLang="ja-JP" sz="1800" b="1" dirty="0"/>
              <a:t>2</a:t>
            </a:r>
            <a:r>
              <a:rPr lang="ja-JP" altLang="en-US" sz="1800" b="1" dirty="0"/>
              <a:t>色木</a:t>
            </a:r>
            <a:r>
              <a:rPr lang="ja-JP" altLang="en-US" sz="1800" dirty="0"/>
              <a:t>　２分探索木の各辺に次の条件を満たすように赤か黒の色を塗れるもの</a:t>
            </a:r>
          </a:p>
          <a:p>
            <a:r>
              <a:rPr lang="ja-JP" altLang="en-US" sz="1800" dirty="0"/>
              <a:t>　　　　　</a:t>
            </a:r>
            <a:r>
              <a:rPr lang="en-US" altLang="ja-JP" sz="1800" dirty="0"/>
              <a:t>1. </a:t>
            </a:r>
            <a:r>
              <a:rPr lang="ja-JP" altLang="en-US" sz="1800" dirty="0"/>
              <a:t>外点に接続する辺の色は黒。</a:t>
            </a:r>
          </a:p>
          <a:p>
            <a:r>
              <a:rPr lang="ja-JP" altLang="en-US" sz="1800" dirty="0"/>
              <a:t>　　　　　</a:t>
            </a:r>
            <a:r>
              <a:rPr lang="en-US" altLang="ja-JP" sz="1800" dirty="0"/>
              <a:t>2. </a:t>
            </a:r>
            <a:r>
              <a:rPr lang="ja-JP" altLang="en-US" sz="1800" dirty="0"/>
              <a:t>根から外点に至るどの路の上でも、赤い辺が連続することはない。</a:t>
            </a:r>
          </a:p>
          <a:p>
            <a:r>
              <a:rPr lang="ja-JP" altLang="en-US" sz="1800" dirty="0"/>
              <a:t>　　　　　</a:t>
            </a:r>
            <a:r>
              <a:rPr lang="en-US" altLang="ja-JP" sz="1800" dirty="0"/>
              <a:t>3. </a:t>
            </a:r>
            <a:r>
              <a:rPr lang="ja-JP" altLang="en-US" sz="1800" dirty="0"/>
              <a:t>根から外点に至るどの路も、含む黒色の辺の本数は同じ。</a:t>
            </a:r>
          </a:p>
          <a:p>
            <a:endParaRPr lang="ja-JP" altLang="en-US" sz="1800" dirty="0"/>
          </a:p>
          <a:p>
            <a:r>
              <a:rPr lang="en-US" altLang="ja-JP" sz="1800" b="1" dirty="0"/>
              <a:t>B</a:t>
            </a:r>
            <a:r>
              <a:rPr lang="ja-JP" altLang="en-US" sz="1800" b="1" dirty="0"/>
              <a:t>木</a:t>
            </a:r>
            <a:r>
              <a:rPr lang="ja-JP" altLang="en-US" sz="1800" dirty="0"/>
              <a:t>　　根と葉を除く各節点が　</a:t>
            </a:r>
            <a:r>
              <a:rPr lang="en-US" altLang="ja-JP" sz="1800" dirty="0"/>
              <a:t>m/2</a:t>
            </a:r>
            <a:r>
              <a:rPr lang="ja-JP" altLang="en-US" sz="1800" dirty="0"/>
              <a:t>　個以上、</a:t>
            </a:r>
            <a:r>
              <a:rPr lang="en-US" altLang="ja-JP" sz="1800" dirty="0"/>
              <a:t>m</a:t>
            </a:r>
            <a:r>
              <a:rPr lang="ja-JP" altLang="en-US" sz="1800" dirty="0"/>
              <a:t>個以下の子をもつ探索木。</a:t>
            </a:r>
          </a:p>
          <a:p>
            <a:r>
              <a:rPr lang="ja-JP" altLang="en-US" sz="1800" dirty="0"/>
              <a:t>　　　　　ただし、</a:t>
            </a:r>
            <a:r>
              <a:rPr lang="en-US" altLang="ja-JP" sz="1800" dirty="0"/>
              <a:t>m</a:t>
            </a:r>
            <a:r>
              <a:rPr lang="ja-JP" altLang="en-US" sz="1800" dirty="0"/>
              <a:t>は自然数。</a:t>
            </a:r>
          </a:p>
          <a:p>
            <a:endParaRPr lang="ja-JP" altLang="en-US" sz="1800" dirty="0"/>
          </a:p>
          <a:p>
            <a:r>
              <a:rPr lang="en-US" altLang="ja-JP" sz="1800" b="1" dirty="0"/>
              <a:t>2-3 </a:t>
            </a:r>
            <a:r>
              <a:rPr lang="ja-JP" altLang="en-US" sz="1800" b="1" dirty="0"/>
              <a:t>木</a:t>
            </a:r>
            <a:r>
              <a:rPr lang="ja-JP" altLang="en-US" sz="1800" dirty="0"/>
              <a:t>　</a:t>
            </a:r>
            <a:r>
              <a:rPr lang="en-US" altLang="ja-JP" sz="1800" dirty="0"/>
              <a:t>m=3</a:t>
            </a:r>
            <a:r>
              <a:rPr lang="ja-JP" altLang="en-US" sz="1800" dirty="0"/>
              <a:t>の場合の</a:t>
            </a:r>
            <a:r>
              <a:rPr lang="en-US" altLang="ja-JP" sz="1800" dirty="0"/>
              <a:t>B</a:t>
            </a:r>
            <a:r>
              <a:rPr lang="ja-JP" altLang="en-US" sz="1800" dirty="0"/>
              <a:t>木。</a:t>
            </a:r>
          </a:p>
        </p:txBody>
      </p:sp>
      <p:sp>
        <p:nvSpPr>
          <p:cNvPr id="14344" name="Oval 6"/>
          <p:cNvSpPr>
            <a:spLocks noChangeArrowheads="1"/>
          </p:cNvSpPr>
          <p:nvPr/>
        </p:nvSpPr>
        <p:spPr bwMode="auto">
          <a:xfrm>
            <a:off x="8462963" y="1995488"/>
            <a:ext cx="71437" cy="7143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4345" name="AutoShape 7"/>
          <p:cNvSpPr>
            <a:spLocks noChangeArrowheads="1"/>
          </p:cNvSpPr>
          <p:nvPr/>
        </p:nvSpPr>
        <p:spPr bwMode="auto">
          <a:xfrm>
            <a:off x="8102600" y="2211388"/>
            <a:ext cx="287338" cy="431800"/>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4346" name="AutoShape 8"/>
          <p:cNvSpPr>
            <a:spLocks noChangeArrowheads="1"/>
          </p:cNvSpPr>
          <p:nvPr/>
        </p:nvSpPr>
        <p:spPr bwMode="auto">
          <a:xfrm>
            <a:off x="8534400" y="2211388"/>
            <a:ext cx="358775" cy="503237"/>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4347" name="Line 9"/>
          <p:cNvSpPr>
            <a:spLocks noChangeShapeType="1"/>
          </p:cNvSpPr>
          <p:nvPr/>
        </p:nvSpPr>
        <p:spPr bwMode="auto">
          <a:xfrm flipH="1">
            <a:off x="8245475" y="2066925"/>
            <a:ext cx="215900" cy="1444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48" name="Line 10"/>
          <p:cNvSpPr>
            <a:spLocks noChangeShapeType="1"/>
          </p:cNvSpPr>
          <p:nvPr/>
        </p:nvSpPr>
        <p:spPr bwMode="auto">
          <a:xfrm>
            <a:off x="8534400" y="2066925"/>
            <a:ext cx="215900" cy="1444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49" name="Line 11"/>
          <p:cNvSpPr>
            <a:spLocks noChangeShapeType="1"/>
          </p:cNvSpPr>
          <p:nvPr/>
        </p:nvSpPr>
        <p:spPr bwMode="auto">
          <a:xfrm flipH="1">
            <a:off x="7742238" y="2716213"/>
            <a:ext cx="7921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50" name="Line 12"/>
          <p:cNvSpPr>
            <a:spLocks noChangeShapeType="1"/>
          </p:cNvSpPr>
          <p:nvPr/>
        </p:nvSpPr>
        <p:spPr bwMode="auto">
          <a:xfrm flipH="1">
            <a:off x="7742238" y="2643188"/>
            <a:ext cx="3603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51" name="AutoShape 13"/>
          <p:cNvSpPr>
            <a:spLocks/>
          </p:cNvSpPr>
          <p:nvPr/>
        </p:nvSpPr>
        <p:spPr bwMode="auto">
          <a:xfrm flipH="1">
            <a:off x="7597775" y="2643188"/>
            <a:ext cx="71438" cy="73025"/>
          </a:xfrm>
          <a:prstGeom prst="rightBrace">
            <a:avLst>
              <a:gd name="adj1" fmla="val 8518"/>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4352" name="Text Box 14"/>
          <p:cNvSpPr txBox="1">
            <a:spLocks noChangeArrowheads="1"/>
          </p:cNvSpPr>
          <p:nvPr/>
        </p:nvSpPr>
        <p:spPr bwMode="auto">
          <a:xfrm>
            <a:off x="7165975" y="2516188"/>
            <a:ext cx="5000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600" smtClean="0">
                <a:solidFill>
                  <a:srgbClr val="FF3300"/>
                </a:solidFill>
              </a:rPr>
              <a:t>1≧</a:t>
            </a:r>
          </a:p>
        </p:txBody>
      </p:sp>
      <p:sp>
        <p:nvSpPr>
          <p:cNvPr id="14353" name="Oval 15"/>
          <p:cNvSpPr>
            <a:spLocks noChangeArrowheads="1"/>
          </p:cNvSpPr>
          <p:nvPr/>
        </p:nvSpPr>
        <p:spPr bwMode="auto">
          <a:xfrm>
            <a:off x="8440738" y="3133725"/>
            <a:ext cx="122237" cy="1317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sz="800">
              <a:latin typeface="Arial" charset="0"/>
              <a:ea typeface="ＭＳ Ｐゴシック" charset="0"/>
              <a:cs typeface="ＭＳ Ｐゴシック" charset="0"/>
            </a:endParaRPr>
          </a:p>
        </p:txBody>
      </p:sp>
      <p:sp>
        <p:nvSpPr>
          <p:cNvPr id="14354" name="Oval 16"/>
          <p:cNvSpPr>
            <a:spLocks noChangeArrowheads="1"/>
          </p:cNvSpPr>
          <p:nvPr/>
        </p:nvSpPr>
        <p:spPr bwMode="auto">
          <a:xfrm>
            <a:off x="8034338" y="3395663"/>
            <a:ext cx="122237" cy="1317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sz="800">
              <a:latin typeface="Arial" charset="0"/>
              <a:ea typeface="ＭＳ Ｐゴシック" charset="0"/>
              <a:cs typeface="ＭＳ Ｐゴシック" charset="0"/>
            </a:endParaRPr>
          </a:p>
        </p:txBody>
      </p:sp>
      <p:sp>
        <p:nvSpPr>
          <p:cNvPr id="14355" name="Oval 17"/>
          <p:cNvSpPr>
            <a:spLocks noChangeArrowheads="1"/>
          </p:cNvSpPr>
          <p:nvPr/>
        </p:nvSpPr>
        <p:spPr bwMode="auto">
          <a:xfrm>
            <a:off x="8726488" y="3378200"/>
            <a:ext cx="122237" cy="1317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sz="800">
              <a:latin typeface="Arial" charset="0"/>
              <a:ea typeface="ＭＳ Ｐゴシック" charset="0"/>
              <a:cs typeface="ＭＳ Ｐゴシック" charset="0"/>
            </a:endParaRPr>
          </a:p>
        </p:txBody>
      </p:sp>
      <p:sp>
        <p:nvSpPr>
          <p:cNvPr id="14356" name="Oval 18"/>
          <p:cNvSpPr>
            <a:spLocks noChangeArrowheads="1"/>
          </p:cNvSpPr>
          <p:nvPr/>
        </p:nvSpPr>
        <p:spPr bwMode="auto">
          <a:xfrm>
            <a:off x="7829550" y="3657600"/>
            <a:ext cx="122238" cy="1317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sz="800">
              <a:latin typeface="Arial" charset="0"/>
              <a:ea typeface="ＭＳ Ｐゴシック" charset="0"/>
              <a:cs typeface="ＭＳ Ｐゴシック" charset="0"/>
            </a:endParaRPr>
          </a:p>
        </p:txBody>
      </p:sp>
      <p:sp>
        <p:nvSpPr>
          <p:cNvPr id="14357" name="Oval 19"/>
          <p:cNvSpPr>
            <a:spLocks noChangeArrowheads="1"/>
          </p:cNvSpPr>
          <p:nvPr/>
        </p:nvSpPr>
        <p:spPr bwMode="auto">
          <a:xfrm>
            <a:off x="8194675" y="3657600"/>
            <a:ext cx="122238" cy="1317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sz="800">
              <a:latin typeface="Arial" charset="0"/>
              <a:ea typeface="ＭＳ Ｐゴシック" charset="0"/>
              <a:cs typeface="ＭＳ Ｐゴシック" charset="0"/>
            </a:endParaRPr>
          </a:p>
        </p:txBody>
      </p:sp>
      <p:sp>
        <p:nvSpPr>
          <p:cNvPr id="14358" name="Line 21"/>
          <p:cNvSpPr>
            <a:spLocks noChangeShapeType="1"/>
          </p:cNvSpPr>
          <p:nvPr/>
        </p:nvSpPr>
        <p:spPr bwMode="auto">
          <a:xfrm flipH="1">
            <a:off x="8154988" y="3243263"/>
            <a:ext cx="327025" cy="15240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59" name="Line 22"/>
          <p:cNvSpPr>
            <a:spLocks noChangeShapeType="1"/>
          </p:cNvSpPr>
          <p:nvPr/>
        </p:nvSpPr>
        <p:spPr bwMode="auto">
          <a:xfrm flipH="1">
            <a:off x="7912100" y="3527425"/>
            <a:ext cx="122238" cy="152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60" name="Line 23"/>
          <p:cNvSpPr>
            <a:spLocks noChangeShapeType="1"/>
          </p:cNvSpPr>
          <p:nvPr/>
        </p:nvSpPr>
        <p:spPr bwMode="auto">
          <a:xfrm>
            <a:off x="8521700" y="3243263"/>
            <a:ext cx="244475" cy="1349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61" name="Line 24"/>
          <p:cNvSpPr>
            <a:spLocks noChangeShapeType="1"/>
          </p:cNvSpPr>
          <p:nvPr/>
        </p:nvSpPr>
        <p:spPr bwMode="auto">
          <a:xfrm>
            <a:off x="8154988" y="3527425"/>
            <a:ext cx="82550" cy="1301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62" name="Line 25"/>
          <p:cNvSpPr>
            <a:spLocks noChangeShapeType="1"/>
          </p:cNvSpPr>
          <p:nvPr/>
        </p:nvSpPr>
        <p:spPr bwMode="auto">
          <a:xfrm flipH="1">
            <a:off x="8278813" y="4048125"/>
            <a:ext cx="79375" cy="1301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63" name="Oval 26"/>
          <p:cNvSpPr>
            <a:spLocks noChangeArrowheads="1"/>
          </p:cNvSpPr>
          <p:nvPr/>
        </p:nvSpPr>
        <p:spPr bwMode="auto">
          <a:xfrm>
            <a:off x="8643938" y="3636963"/>
            <a:ext cx="122237" cy="1317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sz="800">
              <a:latin typeface="Arial" charset="0"/>
              <a:ea typeface="ＭＳ Ｐゴシック" charset="0"/>
              <a:cs typeface="ＭＳ Ｐゴシック" charset="0"/>
            </a:endParaRPr>
          </a:p>
        </p:txBody>
      </p:sp>
      <p:sp>
        <p:nvSpPr>
          <p:cNvPr id="14364" name="Line 27"/>
          <p:cNvSpPr>
            <a:spLocks noChangeShapeType="1"/>
          </p:cNvSpPr>
          <p:nvPr/>
        </p:nvSpPr>
        <p:spPr bwMode="auto">
          <a:xfrm flipH="1">
            <a:off x="8726488" y="3505200"/>
            <a:ext cx="39687" cy="131763"/>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65" name="Oval 28"/>
          <p:cNvSpPr>
            <a:spLocks noChangeArrowheads="1"/>
          </p:cNvSpPr>
          <p:nvPr/>
        </p:nvSpPr>
        <p:spPr bwMode="auto">
          <a:xfrm>
            <a:off x="8316913" y="3916363"/>
            <a:ext cx="122237" cy="1317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sz="800">
              <a:latin typeface="Arial" charset="0"/>
              <a:ea typeface="ＭＳ Ｐゴシック" charset="0"/>
              <a:cs typeface="ＭＳ Ｐゴシック" charset="0"/>
            </a:endParaRPr>
          </a:p>
        </p:txBody>
      </p:sp>
      <p:sp>
        <p:nvSpPr>
          <p:cNvPr id="14366" name="Line 29"/>
          <p:cNvSpPr>
            <a:spLocks noChangeShapeType="1"/>
          </p:cNvSpPr>
          <p:nvPr/>
        </p:nvSpPr>
        <p:spPr bwMode="auto">
          <a:xfrm>
            <a:off x="8277225" y="3786188"/>
            <a:ext cx="80963" cy="130175"/>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67" name="Line 30"/>
          <p:cNvSpPr>
            <a:spLocks noChangeShapeType="1"/>
          </p:cNvSpPr>
          <p:nvPr/>
        </p:nvSpPr>
        <p:spPr bwMode="auto">
          <a:xfrm flipH="1">
            <a:off x="7748588" y="3768725"/>
            <a:ext cx="80962" cy="1301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68" name="Line 31"/>
          <p:cNvSpPr>
            <a:spLocks noChangeShapeType="1"/>
          </p:cNvSpPr>
          <p:nvPr/>
        </p:nvSpPr>
        <p:spPr bwMode="auto">
          <a:xfrm>
            <a:off x="7912100" y="3768725"/>
            <a:ext cx="80963" cy="1301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69" name="Rectangle 32"/>
          <p:cNvSpPr>
            <a:spLocks noChangeArrowheads="1"/>
          </p:cNvSpPr>
          <p:nvPr/>
        </p:nvSpPr>
        <p:spPr bwMode="auto">
          <a:xfrm>
            <a:off x="7667625" y="3898900"/>
            <a:ext cx="122238" cy="13176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4370" name="Rectangle 33"/>
          <p:cNvSpPr>
            <a:spLocks noChangeArrowheads="1"/>
          </p:cNvSpPr>
          <p:nvPr/>
        </p:nvSpPr>
        <p:spPr bwMode="auto">
          <a:xfrm>
            <a:off x="7912100" y="3898900"/>
            <a:ext cx="122238" cy="13176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4371" name="Rectangle 36"/>
          <p:cNvSpPr>
            <a:spLocks noChangeArrowheads="1"/>
          </p:cNvSpPr>
          <p:nvPr/>
        </p:nvSpPr>
        <p:spPr bwMode="auto">
          <a:xfrm>
            <a:off x="8212138" y="4135438"/>
            <a:ext cx="122237" cy="131762"/>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4372" name="Line 38"/>
          <p:cNvSpPr>
            <a:spLocks noChangeShapeType="1"/>
          </p:cNvSpPr>
          <p:nvPr/>
        </p:nvSpPr>
        <p:spPr bwMode="auto">
          <a:xfrm flipH="1">
            <a:off x="8562975" y="3768725"/>
            <a:ext cx="80963" cy="1301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73" name="Line 39"/>
          <p:cNvSpPr>
            <a:spLocks noChangeShapeType="1"/>
          </p:cNvSpPr>
          <p:nvPr/>
        </p:nvSpPr>
        <p:spPr bwMode="auto">
          <a:xfrm>
            <a:off x="8726488" y="3768725"/>
            <a:ext cx="80962" cy="1301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74" name="Rectangle 40"/>
          <p:cNvSpPr>
            <a:spLocks noChangeArrowheads="1"/>
          </p:cNvSpPr>
          <p:nvPr/>
        </p:nvSpPr>
        <p:spPr bwMode="auto">
          <a:xfrm>
            <a:off x="8482013" y="3898900"/>
            <a:ext cx="122237" cy="13176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4375" name="Rectangle 41"/>
          <p:cNvSpPr>
            <a:spLocks noChangeArrowheads="1"/>
          </p:cNvSpPr>
          <p:nvPr/>
        </p:nvSpPr>
        <p:spPr bwMode="auto">
          <a:xfrm>
            <a:off x="8726488" y="3898900"/>
            <a:ext cx="122237" cy="13176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4376" name="Line 42"/>
          <p:cNvSpPr>
            <a:spLocks noChangeShapeType="1"/>
          </p:cNvSpPr>
          <p:nvPr/>
        </p:nvSpPr>
        <p:spPr bwMode="auto">
          <a:xfrm>
            <a:off x="8848725" y="3505200"/>
            <a:ext cx="80963" cy="1317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77" name="Rectangle 43"/>
          <p:cNvSpPr>
            <a:spLocks noChangeArrowheads="1"/>
          </p:cNvSpPr>
          <p:nvPr/>
        </p:nvSpPr>
        <p:spPr bwMode="auto">
          <a:xfrm>
            <a:off x="8848725" y="3636963"/>
            <a:ext cx="122238" cy="131762"/>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4378" name="Line 44"/>
          <p:cNvSpPr>
            <a:spLocks noChangeShapeType="1"/>
          </p:cNvSpPr>
          <p:nvPr/>
        </p:nvSpPr>
        <p:spPr bwMode="auto">
          <a:xfrm>
            <a:off x="8399463" y="4030663"/>
            <a:ext cx="82550" cy="1317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79" name="Rectangle 45"/>
          <p:cNvSpPr>
            <a:spLocks noChangeArrowheads="1"/>
          </p:cNvSpPr>
          <p:nvPr/>
        </p:nvSpPr>
        <p:spPr bwMode="auto">
          <a:xfrm>
            <a:off x="8440738" y="4162425"/>
            <a:ext cx="122237" cy="13017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4380" name="Line 46"/>
          <p:cNvSpPr>
            <a:spLocks noChangeShapeType="1"/>
          </p:cNvSpPr>
          <p:nvPr/>
        </p:nvSpPr>
        <p:spPr bwMode="auto">
          <a:xfrm flipH="1">
            <a:off x="8156575" y="3768725"/>
            <a:ext cx="80963" cy="1301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81" name="Rectangle 47"/>
          <p:cNvSpPr>
            <a:spLocks noChangeArrowheads="1"/>
          </p:cNvSpPr>
          <p:nvPr/>
        </p:nvSpPr>
        <p:spPr bwMode="auto">
          <a:xfrm>
            <a:off x="8074025" y="3898900"/>
            <a:ext cx="122238" cy="13176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4382" name="Oval 57"/>
          <p:cNvSpPr>
            <a:spLocks noChangeArrowheads="1"/>
          </p:cNvSpPr>
          <p:nvPr/>
        </p:nvSpPr>
        <p:spPr bwMode="auto">
          <a:xfrm>
            <a:off x="4141788" y="5300663"/>
            <a:ext cx="122237" cy="1317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sz="800">
              <a:latin typeface="Arial" charset="0"/>
              <a:ea typeface="ＭＳ Ｐゴシック" charset="0"/>
              <a:cs typeface="ＭＳ Ｐゴシック" charset="0"/>
            </a:endParaRPr>
          </a:p>
        </p:txBody>
      </p:sp>
      <p:sp>
        <p:nvSpPr>
          <p:cNvPr id="14383" name="Oval 58"/>
          <p:cNvSpPr>
            <a:spLocks noChangeArrowheads="1"/>
          </p:cNvSpPr>
          <p:nvPr/>
        </p:nvSpPr>
        <p:spPr bwMode="auto">
          <a:xfrm>
            <a:off x="3735388" y="5562600"/>
            <a:ext cx="122237" cy="1317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sz="800">
              <a:latin typeface="Arial" charset="0"/>
              <a:ea typeface="ＭＳ Ｐゴシック" charset="0"/>
              <a:cs typeface="ＭＳ Ｐゴシック" charset="0"/>
            </a:endParaRPr>
          </a:p>
        </p:txBody>
      </p:sp>
      <p:sp>
        <p:nvSpPr>
          <p:cNvPr id="14384" name="Oval 59"/>
          <p:cNvSpPr>
            <a:spLocks noChangeArrowheads="1"/>
          </p:cNvSpPr>
          <p:nvPr/>
        </p:nvSpPr>
        <p:spPr bwMode="auto">
          <a:xfrm>
            <a:off x="4427538" y="5545138"/>
            <a:ext cx="122237" cy="1317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sz="800">
              <a:latin typeface="Arial" charset="0"/>
              <a:ea typeface="ＭＳ Ｐゴシック" charset="0"/>
              <a:cs typeface="ＭＳ Ｐゴシック" charset="0"/>
            </a:endParaRPr>
          </a:p>
        </p:txBody>
      </p:sp>
      <p:sp>
        <p:nvSpPr>
          <p:cNvPr id="14385" name="Oval 60"/>
          <p:cNvSpPr>
            <a:spLocks noChangeArrowheads="1"/>
          </p:cNvSpPr>
          <p:nvPr/>
        </p:nvSpPr>
        <p:spPr bwMode="auto">
          <a:xfrm>
            <a:off x="3530600" y="5797550"/>
            <a:ext cx="122238" cy="1317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sz="800">
              <a:latin typeface="Arial" charset="0"/>
              <a:ea typeface="ＭＳ Ｐゴシック" charset="0"/>
              <a:cs typeface="ＭＳ Ｐゴシック" charset="0"/>
            </a:endParaRPr>
          </a:p>
        </p:txBody>
      </p:sp>
      <p:sp>
        <p:nvSpPr>
          <p:cNvPr id="14386" name="Oval 61"/>
          <p:cNvSpPr>
            <a:spLocks noChangeArrowheads="1"/>
          </p:cNvSpPr>
          <p:nvPr/>
        </p:nvSpPr>
        <p:spPr bwMode="auto">
          <a:xfrm>
            <a:off x="3751263" y="5822950"/>
            <a:ext cx="122237" cy="1317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sz="800">
              <a:latin typeface="Arial" charset="0"/>
              <a:ea typeface="ＭＳ Ｐゴシック" charset="0"/>
              <a:cs typeface="ＭＳ Ｐゴシック" charset="0"/>
            </a:endParaRPr>
          </a:p>
        </p:txBody>
      </p:sp>
      <p:sp>
        <p:nvSpPr>
          <p:cNvPr id="14387" name="Line 62"/>
          <p:cNvSpPr>
            <a:spLocks noChangeShapeType="1"/>
          </p:cNvSpPr>
          <p:nvPr/>
        </p:nvSpPr>
        <p:spPr bwMode="auto">
          <a:xfrm flipH="1">
            <a:off x="3856038" y="5410200"/>
            <a:ext cx="327025" cy="152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88" name="Line 63"/>
          <p:cNvSpPr>
            <a:spLocks noChangeShapeType="1"/>
          </p:cNvSpPr>
          <p:nvPr/>
        </p:nvSpPr>
        <p:spPr bwMode="auto">
          <a:xfrm flipH="1">
            <a:off x="3613150" y="5667375"/>
            <a:ext cx="122238" cy="152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89" name="Line 64"/>
          <p:cNvSpPr>
            <a:spLocks noChangeShapeType="1"/>
          </p:cNvSpPr>
          <p:nvPr/>
        </p:nvSpPr>
        <p:spPr bwMode="auto">
          <a:xfrm>
            <a:off x="4222750" y="5410200"/>
            <a:ext cx="244475" cy="1349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90" name="Line 65"/>
          <p:cNvSpPr>
            <a:spLocks noChangeShapeType="1"/>
          </p:cNvSpPr>
          <p:nvPr/>
        </p:nvSpPr>
        <p:spPr bwMode="auto">
          <a:xfrm flipH="1">
            <a:off x="3794125" y="5667375"/>
            <a:ext cx="6350" cy="1555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91" name="Oval 67"/>
          <p:cNvSpPr>
            <a:spLocks noChangeArrowheads="1"/>
          </p:cNvSpPr>
          <p:nvPr/>
        </p:nvSpPr>
        <p:spPr bwMode="auto">
          <a:xfrm>
            <a:off x="3678238" y="6086475"/>
            <a:ext cx="122237" cy="1317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sz="800">
              <a:latin typeface="Arial" charset="0"/>
              <a:ea typeface="ＭＳ Ｐゴシック" charset="0"/>
              <a:cs typeface="ＭＳ Ｐゴシック" charset="0"/>
            </a:endParaRPr>
          </a:p>
        </p:txBody>
      </p:sp>
      <p:sp>
        <p:nvSpPr>
          <p:cNvPr id="14392" name="Line 68"/>
          <p:cNvSpPr>
            <a:spLocks noChangeShapeType="1"/>
          </p:cNvSpPr>
          <p:nvPr/>
        </p:nvSpPr>
        <p:spPr bwMode="auto">
          <a:xfrm flipH="1">
            <a:off x="3760788" y="5954713"/>
            <a:ext cx="39687" cy="1317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393" name="Line 80"/>
          <p:cNvSpPr>
            <a:spLocks noChangeShapeType="1"/>
          </p:cNvSpPr>
          <p:nvPr/>
        </p:nvSpPr>
        <p:spPr bwMode="auto">
          <a:xfrm flipH="1">
            <a:off x="4160838" y="5451475"/>
            <a:ext cx="0" cy="1428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nvGrpSpPr>
          <p:cNvPr id="27705" name="Group 88"/>
          <p:cNvGrpSpPr>
            <a:grpSpLocks/>
          </p:cNvGrpSpPr>
          <p:nvPr/>
        </p:nvGrpSpPr>
        <p:grpSpPr bwMode="auto">
          <a:xfrm>
            <a:off x="3132138" y="4508500"/>
            <a:ext cx="73025" cy="144463"/>
            <a:chOff x="2018" y="3339"/>
            <a:chExt cx="46" cy="91"/>
          </a:xfrm>
        </p:grpSpPr>
        <p:sp>
          <p:nvSpPr>
            <p:cNvPr id="14412" name="Line 86"/>
            <p:cNvSpPr>
              <a:spLocks noChangeShapeType="1"/>
            </p:cNvSpPr>
            <p:nvPr/>
          </p:nvSpPr>
          <p:spPr bwMode="auto">
            <a:xfrm flipV="1">
              <a:off x="2018" y="3339"/>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413" name="Line 87"/>
            <p:cNvSpPr>
              <a:spLocks noChangeShapeType="1"/>
            </p:cNvSpPr>
            <p:nvPr/>
          </p:nvSpPr>
          <p:spPr bwMode="auto">
            <a:xfrm>
              <a:off x="2018" y="3339"/>
              <a:ext cx="4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grpSp>
        <p:nvGrpSpPr>
          <p:cNvPr id="27706" name="Group 89"/>
          <p:cNvGrpSpPr>
            <a:grpSpLocks/>
          </p:cNvGrpSpPr>
          <p:nvPr/>
        </p:nvGrpSpPr>
        <p:grpSpPr bwMode="auto">
          <a:xfrm flipH="1">
            <a:off x="3490913" y="4508500"/>
            <a:ext cx="73025" cy="144463"/>
            <a:chOff x="2018" y="3339"/>
            <a:chExt cx="46" cy="91"/>
          </a:xfrm>
        </p:grpSpPr>
        <p:sp>
          <p:nvSpPr>
            <p:cNvPr id="14410" name="Line 90"/>
            <p:cNvSpPr>
              <a:spLocks noChangeShapeType="1"/>
            </p:cNvSpPr>
            <p:nvPr/>
          </p:nvSpPr>
          <p:spPr bwMode="auto">
            <a:xfrm flipV="1">
              <a:off x="2018" y="3339"/>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411" name="Line 91"/>
            <p:cNvSpPr>
              <a:spLocks noChangeShapeType="1"/>
            </p:cNvSpPr>
            <p:nvPr/>
          </p:nvSpPr>
          <p:spPr bwMode="auto">
            <a:xfrm>
              <a:off x="2018" y="3339"/>
              <a:ext cx="4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sp>
        <p:nvSpPr>
          <p:cNvPr id="14396" name="Oval 92"/>
          <p:cNvSpPr>
            <a:spLocks noChangeArrowheads="1"/>
          </p:cNvSpPr>
          <p:nvPr/>
        </p:nvSpPr>
        <p:spPr bwMode="auto">
          <a:xfrm>
            <a:off x="4089400" y="5535613"/>
            <a:ext cx="122238" cy="1317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sz="800">
              <a:latin typeface="Arial" charset="0"/>
              <a:ea typeface="ＭＳ Ｐゴシック" charset="0"/>
              <a:cs typeface="ＭＳ Ｐゴシック" charset="0"/>
            </a:endParaRPr>
          </a:p>
        </p:txBody>
      </p:sp>
      <p:grpSp>
        <p:nvGrpSpPr>
          <p:cNvPr id="27708" name="Group 95"/>
          <p:cNvGrpSpPr>
            <a:grpSpLocks/>
          </p:cNvGrpSpPr>
          <p:nvPr/>
        </p:nvGrpSpPr>
        <p:grpSpPr bwMode="auto">
          <a:xfrm flipH="1">
            <a:off x="3873500" y="5954713"/>
            <a:ext cx="122238" cy="263525"/>
            <a:chOff x="4617" y="3566"/>
            <a:chExt cx="77" cy="166"/>
          </a:xfrm>
        </p:grpSpPr>
        <p:sp>
          <p:nvSpPr>
            <p:cNvPr id="14408" name="Oval 93"/>
            <p:cNvSpPr>
              <a:spLocks noChangeArrowheads="1"/>
            </p:cNvSpPr>
            <p:nvPr/>
          </p:nvSpPr>
          <p:spPr bwMode="auto">
            <a:xfrm>
              <a:off x="4617" y="3649"/>
              <a:ext cx="77" cy="8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sz="800">
                <a:latin typeface="Arial" charset="0"/>
                <a:ea typeface="ＭＳ Ｐゴシック" charset="0"/>
                <a:cs typeface="ＭＳ Ｐゴシック" charset="0"/>
              </a:endParaRPr>
            </a:p>
          </p:txBody>
        </p:sp>
        <p:sp>
          <p:nvSpPr>
            <p:cNvPr id="14409" name="Line 94"/>
            <p:cNvSpPr>
              <a:spLocks noChangeShapeType="1"/>
            </p:cNvSpPr>
            <p:nvPr/>
          </p:nvSpPr>
          <p:spPr bwMode="auto">
            <a:xfrm flipH="1">
              <a:off x="4669" y="3566"/>
              <a:ext cx="25" cy="8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sp>
        <p:nvSpPr>
          <p:cNvPr id="14398" name="Oval 96"/>
          <p:cNvSpPr>
            <a:spLocks noChangeArrowheads="1"/>
          </p:cNvSpPr>
          <p:nvPr/>
        </p:nvSpPr>
        <p:spPr bwMode="auto">
          <a:xfrm>
            <a:off x="4437063" y="5810250"/>
            <a:ext cx="122237" cy="1317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sz="800">
              <a:latin typeface="Arial" charset="0"/>
              <a:ea typeface="ＭＳ Ｐゴシック" charset="0"/>
              <a:cs typeface="ＭＳ Ｐゴシック" charset="0"/>
            </a:endParaRPr>
          </a:p>
        </p:txBody>
      </p:sp>
      <p:sp>
        <p:nvSpPr>
          <p:cNvPr id="14399" name="Oval 97"/>
          <p:cNvSpPr>
            <a:spLocks noChangeArrowheads="1"/>
          </p:cNvSpPr>
          <p:nvPr/>
        </p:nvSpPr>
        <p:spPr bwMode="auto">
          <a:xfrm>
            <a:off x="4232275" y="6045200"/>
            <a:ext cx="122238" cy="1317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sz="800">
              <a:latin typeface="Arial" charset="0"/>
              <a:ea typeface="ＭＳ Ｐゴシック" charset="0"/>
              <a:cs typeface="ＭＳ Ｐゴシック" charset="0"/>
            </a:endParaRPr>
          </a:p>
        </p:txBody>
      </p:sp>
      <p:sp>
        <p:nvSpPr>
          <p:cNvPr id="14400" name="Oval 98"/>
          <p:cNvSpPr>
            <a:spLocks noChangeArrowheads="1"/>
          </p:cNvSpPr>
          <p:nvPr/>
        </p:nvSpPr>
        <p:spPr bwMode="auto">
          <a:xfrm>
            <a:off x="4452938" y="6070600"/>
            <a:ext cx="122237" cy="1317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sz="800">
              <a:latin typeface="Arial" charset="0"/>
              <a:ea typeface="ＭＳ Ｐゴシック" charset="0"/>
              <a:cs typeface="ＭＳ Ｐゴシック" charset="0"/>
            </a:endParaRPr>
          </a:p>
        </p:txBody>
      </p:sp>
      <p:sp>
        <p:nvSpPr>
          <p:cNvPr id="14401" name="Line 99"/>
          <p:cNvSpPr>
            <a:spLocks noChangeShapeType="1"/>
          </p:cNvSpPr>
          <p:nvPr/>
        </p:nvSpPr>
        <p:spPr bwMode="auto">
          <a:xfrm flipH="1">
            <a:off x="4314825" y="5915025"/>
            <a:ext cx="122238" cy="152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402" name="Line 100"/>
          <p:cNvSpPr>
            <a:spLocks noChangeShapeType="1"/>
          </p:cNvSpPr>
          <p:nvPr/>
        </p:nvSpPr>
        <p:spPr bwMode="auto">
          <a:xfrm flipH="1">
            <a:off x="4495800" y="5915025"/>
            <a:ext cx="6350" cy="1555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403" name="Oval 104"/>
          <p:cNvSpPr>
            <a:spLocks noChangeArrowheads="1"/>
          </p:cNvSpPr>
          <p:nvPr/>
        </p:nvSpPr>
        <p:spPr bwMode="auto">
          <a:xfrm flipH="1">
            <a:off x="4665663" y="6038850"/>
            <a:ext cx="122237" cy="1317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sz="800">
              <a:latin typeface="Arial" charset="0"/>
              <a:ea typeface="ＭＳ Ｐゴシック" charset="0"/>
              <a:cs typeface="ＭＳ Ｐゴシック" charset="0"/>
            </a:endParaRPr>
          </a:p>
        </p:txBody>
      </p:sp>
      <p:sp>
        <p:nvSpPr>
          <p:cNvPr id="14404" name="Line 105"/>
          <p:cNvSpPr>
            <a:spLocks noChangeShapeType="1"/>
          </p:cNvSpPr>
          <p:nvPr/>
        </p:nvSpPr>
        <p:spPr bwMode="auto">
          <a:xfrm>
            <a:off x="4521200" y="5883275"/>
            <a:ext cx="184150" cy="1555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405" name="Line 106"/>
          <p:cNvSpPr>
            <a:spLocks noChangeShapeType="1"/>
          </p:cNvSpPr>
          <p:nvPr/>
        </p:nvSpPr>
        <p:spPr bwMode="auto">
          <a:xfrm flipH="1">
            <a:off x="4514850" y="5667375"/>
            <a:ext cx="6350" cy="1555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4406" name="Oval 107"/>
          <p:cNvSpPr>
            <a:spLocks noChangeArrowheads="1"/>
          </p:cNvSpPr>
          <p:nvPr/>
        </p:nvSpPr>
        <p:spPr bwMode="auto">
          <a:xfrm>
            <a:off x="4222750" y="5745163"/>
            <a:ext cx="122238" cy="1317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sz="800">
              <a:latin typeface="Arial" charset="0"/>
              <a:ea typeface="ＭＳ Ｐゴシック" charset="0"/>
              <a:cs typeface="ＭＳ Ｐゴシック" charset="0"/>
            </a:endParaRPr>
          </a:p>
        </p:txBody>
      </p:sp>
      <p:sp>
        <p:nvSpPr>
          <p:cNvPr id="14407" name="Line 108"/>
          <p:cNvSpPr>
            <a:spLocks noChangeShapeType="1"/>
          </p:cNvSpPr>
          <p:nvPr/>
        </p:nvSpPr>
        <p:spPr bwMode="auto">
          <a:xfrm flipH="1">
            <a:off x="4305300" y="5614988"/>
            <a:ext cx="122238" cy="152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スライド番号プレースホルダー 5"/>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fld id="{FF8EE238-5965-4ADD-96F1-6DD90967151A}" type="slidenum">
              <a:rPr kumimoji="0" lang="en-US" altLang="ja-JP" sz="1200">
                <a:latin typeface="Arial Black" pitchFamily="34" charset="0"/>
              </a:rPr>
              <a:pPr/>
              <a:t>14</a:t>
            </a:fld>
            <a:endParaRPr kumimoji="0" lang="en-US" altLang="ja-JP" sz="1200">
              <a:latin typeface="Arial Black" pitchFamily="34" charset="0"/>
            </a:endParaRPr>
          </a:p>
        </p:txBody>
      </p:sp>
      <p:sp>
        <p:nvSpPr>
          <p:cNvPr id="15365" name="Rectangle 2"/>
          <p:cNvSpPr>
            <a:spLocks noGrp="1" noChangeArrowheads="1"/>
          </p:cNvSpPr>
          <p:nvPr>
            <p:ph type="title"/>
          </p:nvPr>
        </p:nvSpPr>
        <p:spPr>
          <a:xfrm>
            <a:off x="5343525" y="-246063"/>
            <a:ext cx="8229600" cy="1371601"/>
          </a:xfrm>
        </p:spPr>
        <p:txBody>
          <a:bodyPr/>
          <a:lstStyle/>
          <a:p>
            <a:pPr eaLnBrk="1" hangingPunct="1">
              <a:defRPr/>
            </a:pPr>
            <a:r>
              <a:rPr lang="en-US" altLang="ja-JP" sz="3200"/>
              <a:t>AVL</a:t>
            </a:r>
            <a:r>
              <a:rPr lang="ja-JP" altLang="en-US" sz="3200"/>
              <a:t>木における操作</a:t>
            </a:r>
          </a:p>
        </p:txBody>
      </p:sp>
      <p:sp>
        <p:nvSpPr>
          <p:cNvPr id="15366" name="Text Box 4"/>
          <p:cNvSpPr txBox="1">
            <a:spLocks noChangeArrowheads="1"/>
          </p:cNvSpPr>
          <p:nvPr/>
        </p:nvSpPr>
        <p:spPr bwMode="auto">
          <a:xfrm>
            <a:off x="333375" y="593725"/>
            <a:ext cx="5391150" cy="596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pPr>
              <a:lnSpc>
                <a:spcPct val="140000"/>
              </a:lnSpc>
            </a:pPr>
            <a:r>
              <a:rPr lang="en-US" altLang="ja-JP" sz="1800" b="1"/>
              <a:t>[AVL</a:t>
            </a:r>
            <a:r>
              <a:rPr lang="ja-JP" altLang="en-US" sz="1800" b="1"/>
              <a:t>木の</a:t>
            </a:r>
            <a:r>
              <a:rPr lang="en-US" altLang="ja-JP" sz="1800" b="1"/>
              <a:t>insert(x,S)</a:t>
            </a:r>
            <a:r>
              <a:rPr lang="ja-JP" altLang="en-US" sz="1800" b="1"/>
              <a:t>操作</a:t>
            </a:r>
            <a:r>
              <a:rPr lang="en-US" altLang="ja-JP" sz="1800" b="1"/>
              <a:t>]</a:t>
            </a:r>
          </a:p>
          <a:p>
            <a:pPr>
              <a:lnSpc>
                <a:spcPct val="140000"/>
              </a:lnSpc>
            </a:pPr>
            <a:r>
              <a:rPr lang="en-US" altLang="ja-JP" sz="1800"/>
              <a:t>T   :</a:t>
            </a:r>
            <a:r>
              <a:rPr lang="ja-JP" altLang="en-US" sz="1800"/>
              <a:t>節点</a:t>
            </a:r>
            <a:r>
              <a:rPr lang="en-US" altLang="ja-JP" sz="1800"/>
              <a:t>u</a:t>
            </a:r>
            <a:r>
              <a:rPr lang="ja-JP" altLang="en-US" sz="1800"/>
              <a:t>の左部分木</a:t>
            </a:r>
          </a:p>
          <a:p>
            <a:pPr>
              <a:lnSpc>
                <a:spcPct val="140000"/>
              </a:lnSpc>
            </a:pPr>
            <a:r>
              <a:rPr lang="en-US" altLang="ja-JP" sz="1800"/>
              <a:t>T   :</a:t>
            </a:r>
            <a:r>
              <a:rPr lang="ja-JP" altLang="en-US" sz="1800"/>
              <a:t>節点</a:t>
            </a:r>
            <a:r>
              <a:rPr lang="en-US" altLang="ja-JP" sz="1800"/>
              <a:t>u</a:t>
            </a:r>
            <a:r>
              <a:rPr lang="ja-JP" altLang="en-US" sz="1800"/>
              <a:t>の右部分木</a:t>
            </a:r>
          </a:p>
          <a:p>
            <a:pPr>
              <a:lnSpc>
                <a:spcPct val="140000"/>
              </a:lnSpc>
            </a:pPr>
            <a:r>
              <a:rPr lang="en-US" altLang="ja-JP" sz="1800"/>
              <a:t>s(u) : </a:t>
            </a:r>
            <a:r>
              <a:rPr lang="ja-JP" altLang="en-US" sz="1800"/>
              <a:t>節点</a:t>
            </a:r>
            <a:r>
              <a:rPr lang="en-US" altLang="ja-JP" sz="1800"/>
              <a:t>u</a:t>
            </a:r>
            <a:r>
              <a:rPr lang="ja-JP" altLang="en-US" sz="1800"/>
              <a:t>の状態。</a:t>
            </a:r>
          </a:p>
          <a:p>
            <a:pPr>
              <a:lnSpc>
                <a:spcPct val="140000"/>
              </a:lnSpc>
            </a:pPr>
            <a:r>
              <a:rPr lang="ja-JP" altLang="en-US" sz="1800"/>
              <a:t>挿入前には以下のように設定されている。</a:t>
            </a:r>
          </a:p>
          <a:p>
            <a:pPr>
              <a:lnSpc>
                <a:spcPct val="140000"/>
              </a:lnSpc>
            </a:pPr>
            <a:r>
              <a:rPr lang="ja-JP" altLang="en-US" sz="1800"/>
              <a:t>　　　　　　</a:t>
            </a:r>
            <a:r>
              <a:rPr lang="en-US" altLang="ja-JP" sz="1800"/>
              <a:t>L     if  T   </a:t>
            </a:r>
            <a:r>
              <a:rPr lang="ja-JP" altLang="en-US" sz="1800"/>
              <a:t>の高さ　</a:t>
            </a:r>
            <a:r>
              <a:rPr lang="en-US" altLang="ja-JP" sz="1800"/>
              <a:t>&gt;  T   </a:t>
            </a:r>
            <a:r>
              <a:rPr lang="ja-JP" altLang="en-US" sz="1800"/>
              <a:t>の高さ</a:t>
            </a:r>
          </a:p>
          <a:p>
            <a:r>
              <a:rPr lang="ja-JP" altLang="en-US" sz="1800"/>
              <a:t>　</a:t>
            </a:r>
            <a:r>
              <a:rPr lang="en-US" altLang="ja-JP" sz="1800"/>
              <a:t>s(u)=</a:t>
            </a:r>
            <a:r>
              <a:rPr lang="ja-JP" altLang="en-US" sz="1800"/>
              <a:t>　 </a:t>
            </a:r>
            <a:r>
              <a:rPr lang="en-US" altLang="ja-JP" sz="1800"/>
              <a:t>E     if T    </a:t>
            </a:r>
            <a:r>
              <a:rPr lang="ja-JP" altLang="en-US" sz="1800"/>
              <a:t>の高さ </a:t>
            </a:r>
            <a:r>
              <a:rPr lang="en-US" altLang="ja-JP" sz="1800"/>
              <a:t>=   T   </a:t>
            </a:r>
            <a:r>
              <a:rPr lang="ja-JP" altLang="en-US" sz="1800"/>
              <a:t>の高さ</a:t>
            </a:r>
          </a:p>
          <a:p>
            <a:pPr>
              <a:lnSpc>
                <a:spcPct val="140000"/>
              </a:lnSpc>
            </a:pPr>
            <a:r>
              <a:rPr lang="ja-JP" altLang="en-US" sz="1800"/>
              <a:t>　　　　　　</a:t>
            </a:r>
            <a:r>
              <a:rPr lang="en-US" altLang="ja-JP" sz="1800"/>
              <a:t>R     if  T   </a:t>
            </a:r>
            <a:r>
              <a:rPr lang="ja-JP" altLang="en-US" sz="1800"/>
              <a:t>の高さ </a:t>
            </a:r>
            <a:r>
              <a:rPr lang="en-US" altLang="ja-JP" sz="1800"/>
              <a:t>&lt;   T   </a:t>
            </a:r>
            <a:r>
              <a:rPr lang="ja-JP" altLang="en-US" sz="1800"/>
              <a:t>の高さ</a:t>
            </a:r>
          </a:p>
          <a:p>
            <a:pPr>
              <a:lnSpc>
                <a:spcPct val="140000"/>
              </a:lnSpc>
            </a:pPr>
            <a:r>
              <a:rPr lang="en-US" altLang="ja-JP" sz="1800" b="1"/>
              <a:t>Step 1</a:t>
            </a:r>
            <a:r>
              <a:rPr lang="en-US" altLang="ja-JP" sz="1800"/>
              <a:t>  </a:t>
            </a:r>
            <a:r>
              <a:rPr lang="ja-JP" altLang="en-US" sz="1800"/>
              <a:t>一般の２分木の同じように挿入を行う。</a:t>
            </a:r>
          </a:p>
          <a:p>
            <a:r>
              <a:rPr lang="ja-JP" altLang="en-US" sz="1800"/>
              <a:t>　　　　　挿入した節点の親節点を</a:t>
            </a:r>
            <a:r>
              <a:rPr lang="en-US" altLang="ja-JP" sz="1800"/>
              <a:t>u</a:t>
            </a:r>
            <a:r>
              <a:rPr lang="ja-JP" altLang="en-US" sz="1800"/>
              <a:t>とする。</a:t>
            </a:r>
          </a:p>
          <a:p>
            <a:pPr>
              <a:lnSpc>
                <a:spcPct val="140000"/>
              </a:lnSpc>
            </a:pPr>
            <a:r>
              <a:rPr lang="en-US" altLang="ja-JP" sz="1800" b="1"/>
              <a:t>Step 2</a:t>
            </a:r>
            <a:r>
              <a:rPr lang="en-US" altLang="ja-JP" sz="1800"/>
              <a:t>  s(u)≠E</a:t>
            </a:r>
            <a:r>
              <a:rPr lang="ja-JP" altLang="en-US" sz="1800"/>
              <a:t>となるまで次のことを繰り返す。</a:t>
            </a:r>
          </a:p>
          <a:p>
            <a:pPr>
              <a:lnSpc>
                <a:spcPct val="140000"/>
              </a:lnSpc>
            </a:pPr>
            <a:r>
              <a:rPr lang="ja-JP" altLang="en-US" sz="1800"/>
              <a:t>     </a:t>
            </a:r>
            <a:r>
              <a:rPr lang="en-US" altLang="ja-JP" sz="1800"/>
              <a:t>1. s(u)</a:t>
            </a:r>
            <a:r>
              <a:rPr lang="ja-JP" altLang="en-US" sz="1800"/>
              <a:t>の更新</a:t>
            </a:r>
            <a:r>
              <a:rPr lang="en-US" altLang="ja-JP" sz="1800"/>
              <a:t>(</a:t>
            </a:r>
            <a:r>
              <a:rPr lang="ja-JP" altLang="en-US" sz="1800"/>
              <a:t>挿入して高くなった方</a:t>
            </a:r>
            <a:r>
              <a:rPr lang="en-US" altLang="ja-JP" sz="1800"/>
              <a:t>(L or R)</a:t>
            </a:r>
            <a:r>
              <a:rPr lang="ja-JP" altLang="en-US" sz="1800"/>
              <a:t>に更新</a:t>
            </a:r>
          </a:p>
          <a:p>
            <a:r>
              <a:rPr lang="ja-JP" altLang="en-US" sz="1800"/>
              <a:t>     </a:t>
            </a:r>
            <a:r>
              <a:rPr lang="en-US" altLang="ja-JP" sz="1800"/>
              <a:t>2. u←u</a:t>
            </a:r>
            <a:r>
              <a:rPr lang="ja-JP" altLang="en-US" sz="1800"/>
              <a:t>の親</a:t>
            </a:r>
          </a:p>
          <a:p>
            <a:pPr>
              <a:lnSpc>
                <a:spcPct val="140000"/>
              </a:lnSpc>
            </a:pPr>
            <a:r>
              <a:rPr lang="en-US" altLang="ja-JP" sz="1800" b="1"/>
              <a:t>Step 3</a:t>
            </a:r>
            <a:r>
              <a:rPr lang="en-US" altLang="ja-JP" sz="1800"/>
              <a:t>  if  s(u)=R </a:t>
            </a:r>
            <a:r>
              <a:rPr lang="ja-JP" altLang="en-US" sz="1800"/>
              <a:t>かつ</a:t>
            </a:r>
            <a:r>
              <a:rPr lang="en-US" altLang="ja-JP" sz="1800"/>
              <a:t>T   </a:t>
            </a:r>
            <a:r>
              <a:rPr lang="ja-JP" altLang="en-US" sz="1800"/>
              <a:t>が高くなった　</a:t>
            </a:r>
            <a:r>
              <a:rPr lang="en-US" altLang="ja-JP" sz="1800"/>
              <a:t>or</a:t>
            </a:r>
          </a:p>
          <a:p>
            <a:r>
              <a:rPr lang="en-US" altLang="ja-JP" sz="1800"/>
              <a:t>                s(u)=L </a:t>
            </a:r>
            <a:r>
              <a:rPr lang="ja-JP" altLang="en-US" sz="1800"/>
              <a:t>かつ </a:t>
            </a:r>
            <a:r>
              <a:rPr lang="en-US" altLang="ja-JP" sz="1800"/>
              <a:t>T   </a:t>
            </a:r>
            <a:r>
              <a:rPr lang="ja-JP" altLang="en-US" sz="1800"/>
              <a:t>が高くなった　　　　</a:t>
            </a:r>
            <a:r>
              <a:rPr lang="en-US" altLang="ja-JP" sz="1800"/>
              <a:t>then</a:t>
            </a:r>
          </a:p>
          <a:p>
            <a:r>
              <a:rPr lang="ja-JP" altLang="en-US" sz="1800"/>
              <a:t>　　　　　　       </a:t>
            </a:r>
            <a:r>
              <a:rPr lang="en-US" altLang="ja-JP" sz="1800"/>
              <a:t>s(u)←E</a:t>
            </a:r>
            <a:r>
              <a:rPr lang="ja-JP" altLang="en-US" sz="1800"/>
              <a:t>として停止</a:t>
            </a:r>
          </a:p>
          <a:p>
            <a:r>
              <a:rPr lang="ja-JP" altLang="en-US" sz="1800"/>
              <a:t>             </a:t>
            </a:r>
            <a:r>
              <a:rPr lang="en-US" altLang="ja-JP" sz="1800"/>
              <a:t>else  </a:t>
            </a:r>
            <a:r>
              <a:rPr lang="ja-JP" altLang="en-US" sz="1800"/>
              <a:t>回転して停止</a:t>
            </a:r>
          </a:p>
        </p:txBody>
      </p:sp>
      <p:sp>
        <p:nvSpPr>
          <p:cNvPr id="15367" name="AutoShape 7"/>
          <p:cNvSpPr>
            <a:spLocks noChangeArrowheads="1"/>
          </p:cNvSpPr>
          <p:nvPr/>
        </p:nvSpPr>
        <p:spPr bwMode="auto">
          <a:xfrm>
            <a:off x="323850" y="3644900"/>
            <a:ext cx="5400675" cy="6477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368" name="Text Box 8"/>
          <p:cNvSpPr txBox="1">
            <a:spLocks noChangeArrowheads="1"/>
          </p:cNvSpPr>
          <p:nvPr/>
        </p:nvSpPr>
        <p:spPr bwMode="auto">
          <a:xfrm>
            <a:off x="466725" y="100012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200" smtClean="0"/>
              <a:t>u</a:t>
            </a:r>
          </a:p>
          <a:p>
            <a:pPr eaLnBrk="1" hangingPunct="1">
              <a:defRPr/>
            </a:pPr>
            <a:r>
              <a:rPr lang="en-US" altLang="ja-JP" sz="1200" smtClean="0"/>
              <a:t>L</a:t>
            </a:r>
          </a:p>
        </p:txBody>
      </p:sp>
      <p:sp>
        <p:nvSpPr>
          <p:cNvPr id="15369" name="Text Box 9"/>
          <p:cNvSpPr txBox="1">
            <a:spLocks noChangeArrowheads="1"/>
          </p:cNvSpPr>
          <p:nvPr/>
        </p:nvSpPr>
        <p:spPr bwMode="auto">
          <a:xfrm>
            <a:off x="466725" y="1385888"/>
            <a:ext cx="293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200" smtClean="0"/>
              <a:t>u</a:t>
            </a:r>
          </a:p>
          <a:p>
            <a:pPr eaLnBrk="1" hangingPunct="1">
              <a:defRPr/>
            </a:pPr>
            <a:r>
              <a:rPr lang="en-US" altLang="ja-JP" sz="1200" smtClean="0"/>
              <a:t>R</a:t>
            </a:r>
          </a:p>
        </p:txBody>
      </p:sp>
      <p:sp>
        <p:nvSpPr>
          <p:cNvPr id="15370" name="Text Box 10"/>
          <p:cNvSpPr txBox="1">
            <a:spLocks noChangeArrowheads="1"/>
          </p:cNvSpPr>
          <p:nvPr/>
        </p:nvSpPr>
        <p:spPr bwMode="auto">
          <a:xfrm>
            <a:off x="3486150" y="2536825"/>
            <a:ext cx="293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200" smtClean="0"/>
              <a:t>u</a:t>
            </a:r>
          </a:p>
          <a:p>
            <a:pPr eaLnBrk="1" hangingPunct="1">
              <a:defRPr/>
            </a:pPr>
            <a:r>
              <a:rPr lang="en-US" altLang="ja-JP" sz="1200" smtClean="0"/>
              <a:t>R</a:t>
            </a:r>
          </a:p>
        </p:txBody>
      </p:sp>
      <p:sp>
        <p:nvSpPr>
          <p:cNvPr id="15371" name="Text Box 11"/>
          <p:cNvSpPr txBox="1">
            <a:spLocks noChangeArrowheads="1"/>
          </p:cNvSpPr>
          <p:nvPr/>
        </p:nvSpPr>
        <p:spPr bwMode="auto">
          <a:xfrm>
            <a:off x="3486150" y="2852738"/>
            <a:ext cx="293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200" smtClean="0"/>
              <a:t>u</a:t>
            </a:r>
          </a:p>
          <a:p>
            <a:pPr eaLnBrk="1" hangingPunct="1">
              <a:defRPr/>
            </a:pPr>
            <a:r>
              <a:rPr lang="en-US" altLang="ja-JP" sz="1200" smtClean="0"/>
              <a:t>R</a:t>
            </a:r>
          </a:p>
        </p:txBody>
      </p:sp>
      <p:sp>
        <p:nvSpPr>
          <p:cNvPr id="15372" name="Text Box 12"/>
          <p:cNvSpPr txBox="1">
            <a:spLocks noChangeArrowheads="1"/>
          </p:cNvSpPr>
          <p:nvPr/>
        </p:nvSpPr>
        <p:spPr bwMode="auto">
          <a:xfrm>
            <a:off x="3486150" y="3141663"/>
            <a:ext cx="293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200" smtClean="0"/>
              <a:t>u</a:t>
            </a:r>
          </a:p>
          <a:p>
            <a:pPr eaLnBrk="1" hangingPunct="1">
              <a:defRPr/>
            </a:pPr>
            <a:r>
              <a:rPr lang="en-US" altLang="ja-JP" sz="1200" smtClean="0"/>
              <a:t>R</a:t>
            </a:r>
          </a:p>
        </p:txBody>
      </p:sp>
      <p:sp>
        <p:nvSpPr>
          <p:cNvPr id="15373" name="Text Box 13"/>
          <p:cNvSpPr txBox="1">
            <a:spLocks noChangeArrowheads="1"/>
          </p:cNvSpPr>
          <p:nvPr/>
        </p:nvSpPr>
        <p:spPr bwMode="auto">
          <a:xfrm>
            <a:off x="2070100" y="253682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200" smtClean="0"/>
              <a:t>u</a:t>
            </a:r>
          </a:p>
          <a:p>
            <a:pPr eaLnBrk="1" hangingPunct="1">
              <a:defRPr/>
            </a:pPr>
            <a:r>
              <a:rPr lang="en-US" altLang="ja-JP" sz="1200" smtClean="0"/>
              <a:t>L</a:t>
            </a:r>
          </a:p>
        </p:txBody>
      </p:sp>
      <p:sp>
        <p:nvSpPr>
          <p:cNvPr id="15374" name="Text Box 14"/>
          <p:cNvSpPr txBox="1">
            <a:spLocks noChangeArrowheads="1"/>
          </p:cNvSpPr>
          <p:nvPr/>
        </p:nvSpPr>
        <p:spPr bwMode="auto">
          <a:xfrm>
            <a:off x="2051050" y="285273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200" smtClean="0"/>
              <a:t>u</a:t>
            </a:r>
          </a:p>
          <a:p>
            <a:pPr eaLnBrk="1" hangingPunct="1">
              <a:defRPr/>
            </a:pPr>
            <a:r>
              <a:rPr lang="en-US" altLang="ja-JP" sz="1200" smtClean="0"/>
              <a:t>L</a:t>
            </a:r>
          </a:p>
        </p:txBody>
      </p:sp>
      <p:sp>
        <p:nvSpPr>
          <p:cNvPr id="15375" name="Text Box 15"/>
          <p:cNvSpPr txBox="1">
            <a:spLocks noChangeArrowheads="1"/>
          </p:cNvSpPr>
          <p:nvPr/>
        </p:nvSpPr>
        <p:spPr bwMode="auto">
          <a:xfrm>
            <a:off x="2124075" y="3141663"/>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200" smtClean="0"/>
              <a:t>u</a:t>
            </a:r>
          </a:p>
          <a:p>
            <a:pPr eaLnBrk="1" hangingPunct="1">
              <a:defRPr/>
            </a:pPr>
            <a:r>
              <a:rPr lang="en-US" altLang="ja-JP" sz="1200" smtClean="0"/>
              <a:t>L</a:t>
            </a:r>
          </a:p>
        </p:txBody>
      </p:sp>
      <p:sp>
        <p:nvSpPr>
          <p:cNvPr id="15376" name="AutoShape 16"/>
          <p:cNvSpPr>
            <a:spLocks/>
          </p:cNvSpPr>
          <p:nvPr/>
        </p:nvSpPr>
        <p:spPr bwMode="auto">
          <a:xfrm>
            <a:off x="1185863" y="2705100"/>
            <a:ext cx="71437" cy="723900"/>
          </a:xfrm>
          <a:prstGeom prst="leftBrace">
            <a:avLst>
              <a:gd name="adj1" fmla="val 84445"/>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377" name="Text Box 17"/>
          <p:cNvSpPr txBox="1">
            <a:spLocks noChangeArrowheads="1"/>
          </p:cNvSpPr>
          <p:nvPr/>
        </p:nvSpPr>
        <p:spPr bwMode="auto">
          <a:xfrm>
            <a:off x="2719388" y="52752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200" smtClean="0"/>
              <a:t>u</a:t>
            </a:r>
          </a:p>
          <a:p>
            <a:pPr eaLnBrk="1" hangingPunct="1">
              <a:defRPr/>
            </a:pPr>
            <a:r>
              <a:rPr lang="en-US" altLang="ja-JP" sz="1200" smtClean="0"/>
              <a:t>L</a:t>
            </a:r>
          </a:p>
        </p:txBody>
      </p:sp>
      <p:sp>
        <p:nvSpPr>
          <p:cNvPr id="15378" name="Text Box 18"/>
          <p:cNvSpPr txBox="1">
            <a:spLocks noChangeArrowheads="1"/>
          </p:cNvSpPr>
          <p:nvPr/>
        </p:nvSpPr>
        <p:spPr bwMode="auto">
          <a:xfrm>
            <a:off x="2700338" y="5589588"/>
            <a:ext cx="293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200" smtClean="0"/>
              <a:t>u</a:t>
            </a:r>
          </a:p>
          <a:p>
            <a:pPr eaLnBrk="1" hangingPunct="1">
              <a:defRPr/>
            </a:pPr>
            <a:r>
              <a:rPr lang="en-US" altLang="ja-JP" sz="1200" smtClean="0"/>
              <a:t>R</a:t>
            </a:r>
          </a:p>
        </p:txBody>
      </p:sp>
      <p:sp>
        <p:nvSpPr>
          <p:cNvPr id="15379" name="AutoShape 19"/>
          <p:cNvSpPr>
            <a:spLocks noChangeArrowheads="1"/>
          </p:cNvSpPr>
          <p:nvPr/>
        </p:nvSpPr>
        <p:spPr bwMode="auto">
          <a:xfrm>
            <a:off x="323850" y="4365625"/>
            <a:ext cx="5400675" cy="935038"/>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380" name="AutoShape 20"/>
          <p:cNvSpPr>
            <a:spLocks noChangeArrowheads="1"/>
          </p:cNvSpPr>
          <p:nvPr/>
        </p:nvSpPr>
        <p:spPr bwMode="auto">
          <a:xfrm>
            <a:off x="323850" y="5373688"/>
            <a:ext cx="5400675" cy="12954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381" name="Text Box 21"/>
          <p:cNvSpPr txBox="1">
            <a:spLocks noChangeArrowheads="1"/>
          </p:cNvSpPr>
          <p:nvPr/>
        </p:nvSpPr>
        <p:spPr bwMode="auto">
          <a:xfrm>
            <a:off x="6027738" y="765175"/>
            <a:ext cx="22891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r>
              <a:rPr lang="en-US" altLang="ja-JP" sz="1800"/>
              <a:t>[</a:t>
            </a:r>
            <a:r>
              <a:rPr lang="ja-JP" altLang="en-US" sz="1800"/>
              <a:t>挿入に伴う回転操作</a:t>
            </a:r>
            <a:r>
              <a:rPr lang="en-US" altLang="ja-JP" sz="1800"/>
              <a:t>]</a:t>
            </a:r>
          </a:p>
        </p:txBody>
      </p:sp>
      <p:sp>
        <p:nvSpPr>
          <p:cNvPr id="15382" name="Oval 22"/>
          <p:cNvSpPr>
            <a:spLocks noChangeArrowheads="1"/>
          </p:cNvSpPr>
          <p:nvPr/>
        </p:nvSpPr>
        <p:spPr bwMode="auto">
          <a:xfrm>
            <a:off x="6227763" y="124936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u</a:t>
            </a:r>
          </a:p>
        </p:txBody>
      </p:sp>
      <p:sp>
        <p:nvSpPr>
          <p:cNvPr id="15383" name="Oval 23"/>
          <p:cNvSpPr>
            <a:spLocks noChangeArrowheads="1"/>
          </p:cNvSpPr>
          <p:nvPr/>
        </p:nvSpPr>
        <p:spPr bwMode="auto">
          <a:xfrm>
            <a:off x="5792788" y="148431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v</a:t>
            </a:r>
          </a:p>
        </p:txBody>
      </p:sp>
      <p:sp>
        <p:nvSpPr>
          <p:cNvPr id="15384" name="AutoShape 26"/>
          <p:cNvSpPr>
            <a:spLocks noChangeArrowheads="1"/>
          </p:cNvSpPr>
          <p:nvPr/>
        </p:nvSpPr>
        <p:spPr bwMode="auto">
          <a:xfrm>
            <a:off x="5432425" y="1916113"/>
            <a:ext cx="292100" cy="1009650"/>
          </a:xfrm>
          <a:prstGeom prst="triangle">
            <a:avLst>
              <a:gd name="adj" fmla="val 50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385" name="AutoShape 27"/>
          <p:cNvSpPr>
            <a:spLocks noChangeArrowheads="1"/>
          </p:cNvSpPr>
          <p:nvPr/>
        </p:nvSpPr>
        <p:spPr bwMode="auto">
          <a:xfrm>
            <a:off x="6008688" y="1916113"/>
            <a:ext cx="287337" cy="936625"/>
          </a:xfrm>
          <a:prstGeom prst="triangle">
            <a:avLst>
              <a:gd name="adj" fmla="val 50000"/>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386" name="Line 29"/>
          <p:cNvSpPr>
            <a:spLocks noChangeShapeType="1"/>
          </p:cNvSpPr>
          <p:nvPr/>
        </p:nvSpPr>
        <p:spPr bwMode="auto">
          <a:xfrm flipH="1">
            <a:off x="5576888" y="1628775"/>
            <a:ext cx="21590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387" name="Line 30"/>
          <p:cNvSpPr>
            <a:spLocks noChangeShapeType="1"/>
          </p:cNvSpPr>
          <p:nvPr/>
        </p:nvSpPr>
        <p:spPr bwMode="auto">
          <a:xfrm>
            <a:off x="5937250" y="1700213"/>
            <a:ext cx="21590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388" name="Line 31"/>
          <p:cNvSpPr>
            <a:spLocks noChangeShapeType="1"/>
          </p:cNvSpPr>
          <p:nvPr/>
        </p:nvSpPr>
        <p:spPr bwMode="auto">
          <a:xfrm>
            <a:off x="6443663" y="1412875"/>
            <a:ext cx="214312" cy="3794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389" name="AutoShape 32"/>
          <p:cNvSpPr>
            <a:spLocks noChangeArrowheads="1"/>
          </p:cNvSpPr>
          <p:nvPr/>
        </p:nvSpPr>
        <p:spPr bwMode="auto">
          <a:xfrm>
            <a:off x="5432425" y="1987550"/>
            <a:ext cx="292100" cy="865188"/>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390" name="Line 33"/>
          <p:cNvSpPr>
            <a:spLocks noChangeShapeType="1"/>
          </p:cNvSpPr>
          <p:nvPr/>
        </p:nvSpPr>
        <p:spPr bwMode="auto">
          <a:xfrm flipH="1">
            <a:off x="5937250" y="1341438"/>
            <a:ext cx="290513"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391" name="Text Box 34"/>
          <p:cNvSpPr txBox="1">
            <a:spLocks noChangeArrowheads="1"/>
          </p:cNvSpPr>
          <p:nvPr/>
        </p:nvSpPr>
        <p:spPr bwMode="auto">
          <a:xfrm>
            <a:off x="5145088" y="1406525"/>
            <a:ext cx="692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r>
              <a:rPr lang="en-US" altLang="ja-JP" sz="1800"/>
              <a:t>E→L</a:t>
            </a:r>
          </a:p>
        </p:txBody>
      </p:sp>
      <p:sp>
        <p:nvSpPr>
          <p:cNvPr id="15392" name="Text Box 35"/>
          <p:cNvSpPr txBox="1">
            <a:spLocks noChangeArrowheads="1"/>
          </p:cNvSpPr>
          <p:nvPr/>
        </p:nvSpPr>
        <p:spPr bwMode="auto">
          <a:xfrm>
            <a:off x="6424613" y="98107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L</a:t>
            </a:r>
          </a:p>
        </p:txBody>
      </p:sp>
      <p:sp>
        <p:nvSpPr>
          <p:cNvPr id="15393" name="Oval 36"/>
          <p:cNvSpPr>
            <a:spLocks noChangeArrowheads="1"/>
          </p:cNvSpPr>
          <p:nvPr/>
        </p:nvSpPr>
        <p:spPr bwMode="auto">
          <a:xfrm>
            <a:off x="8340725" y="162718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u</a:t>
            </a:r>
          </a:p>
        </p:txBody>
      </p:sp>
      <p:sp>
        <p:nvSpPr>
          <p:cNvPr id="15394" name="Oval 37"/>
          <p:cNvSpPr>
            <a:spLocks noChangeArrowheads="1"/>
          </p:cNvSpPr>
          <p:nvPr/>
        </p:nvSpPr>
        <p:spPr bwMode="auto">
          <a:xfrm>
            <a:off x="8051800" y="1266825"/>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v</a:t>
            </a:r>
          </a:p>
        </p:txBody>
      </p:sp>
      <p:sp>
        <p:nvSpPr>
          <p:cNvPr id="15395" name="AutoShape 39"/>
          <p:cNvSpPr>
            <a:spLocks noChangeArrowheads="1"/>
          </p:cNvSpPr>
          <p:nvPr/>
        </p:nvSpPr>
        <p:spPr bwMode="auto">
          <a:xfrm>
            <a:off x="8124825" y="1914525"/>
            <a:ext cx="287338" cy="936625"/>
          </a:xfrm>
          <a:prstGeom prst="triangle">
            <a:avLst>
              <a:gd name="adj" fmla="val 50000"/>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396" name="Line 41"/>
          <p:cNvSpPr>
            <a:spLocks noChangeShapeType="1"/>
          </p:cNvSpPr>
          <p:nvPr/>
        </p:nvSpPr>
        <p:spPr bwMode="auto">
          <a:xfrm flipH="1">
            <a:off x="7812088" y="1482725"/>
            <a:ext cx="239712" cy="361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397" name="Line 42"/>
          <p:cNvSpPr>
            <a:spLocks noChangeShapeType="1"/>
          </p:cNvSpPr>
          <p:nvPr/>
        </p:nvSpPr>
        <p:spPr bwMode="auto">
          <a:xfrm flipH="1">
            <a:off x="8267700" y="1771650"/>
            <a:ext cx="74613"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398" name="Line 43"/>
          <p:cNvSpPr>
            <a:spLocks noChangeShapeType="1"/>
          </p:cNvSpPr>
          <p:nvPr/>
        </p:nvSpPr>
        <p:spPr bwMode="auto">
          <a:xfrm>
            <a:off x="8556625" y="1771650"/>
            <a:ext cx="144463"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399" name="Line 45"/>
          <p:cNvSpPr>
            <a:spLocks noChangeShapeType="1"/>
          </p:cNvSpPr>
          <p:nvPr/>
        </p:nvSpPr>
        <p:spPr bwMode="auto">
          <a:xfrm flipH="1" flipV="1">
            <a:off x="8196263" y="1482725"/>
            <a:ext cx="21590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00" name="Text Box 46"/>
          <p:cNvSpPr txBox="1">
            <a:spLocks noChangeArrowheads="1"/>
          </p:cNvSpPr>
          <p:nvPr/>
        </p:nvSpPr>
        <p:spPr bwMode="auto">
          <a:xfrm>
            <a:off x="7715250" y="1123950"/>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E</a:t>
            </a:r>
          </a:p>
        </p:txBody>
      </p:sp>
      <p:sp>
        <p:nvSpPr>
          <p:cNvPr id="15401" name="Text Box 47"/>
          <p:cNvSpPr txBox="1">
            <a:spLocks noChangeArrowheads="1"/>
          </p:cNvSpPr>
          <p:nvPr/>
        </p:nvSpPr>
        <p:spPr bwMode="auto">
          <a:xfrm>
            <a:off x="8556625" y="1476375"/>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E</a:t>
            </a:r>
          </a:p>
        </p:txBody>
      </p:sp>
      <p:sp>
        <p:nvSpPr>
          <p:cNvPr id="15402" name="AutoShape 48"/>
          <p:cNvSpPr>
            <a:spLocks noChangeArrowheads="1"/>
          </p:cNvSpPr>
          <p:nvPr/>
        </p:nvSpPr>
        <p:spPr bwMode="auto">
          <a:xfrm>
            <a:off x="6513513" y="1792288"/>
            <a:ext cx="287337" cy="936625"/>
          </a:xfrm>
          <a:prstGeom prst="triangle">
            <a:avLst>
              <a:gd name="adj" fmla="val 50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403" name="AutoShape 50"/>
          <p:cNvSpPr>
            <a:spLocks noChangeArrowheads="1"/>
          </p:cNvSpPr>
          <p:nvPr/>
        </p:nvSpPr>
        <p:spPr bwMode="auto">
          <a:xfrm>
            <a:off x="8556625" y="1916113"/>
            <a:ext cx="287338" cy="936625"/>
          </a:xfrm>
          <a:prstGeom prst="triangle">
            <a:avLst>
              <a:gd name="adj" fmla="val 50000"/>
            </a:avLst>
          </a:prstGeom>
          <a:solidFill>
            <a:srgbClr val="FF3300"/>
          </a:solidFill>
          <a:ln w="9525">
            <a:solidFill>
              <a:srgbClr val="FF33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404" name="AutoShape 51"/>
          <p:cNvSpPr>
            <a:spLocks noChangeArrowheads="1"/>
          </p:cNvSpPr>
          <p:nvPr/>
        </p:nvSpPr>
        <p:spPr bwMode="auto">
          <a:xfrm>
            <a:off x="7664450" y="1844675"/>
            <a:ext cx="292100" cy="1009650"/>
          </a:xfrm>
          <a:prstGeom prst="triangle">
            <a:avLst>
              <a:gd name="adj" fmla="val 50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405" name="AutoShape 52"/>
          <p:cNvSpPr>
            <a:spLocks noChangeArrowheads="1"/>
          </p:cNvSpPr>
          <p:nvPr/>
        </p:nvSpPr>
        <p:spPr bwMode="auto">
          <a:xfrm>
            <a:off x="7664450" y="1916113"/>
            <a:ext cx="292100" cy="865187"/>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406" name="AutoShape 53"/>
          <p:cNvSpPr>
            <a:spLocks noChangeArrowheads="1"/>
          </p:cNvSpPr>
          <p:nvPr/>
        </p:nvSpPr>
        <p:spPr bwMode="auto">
          <a:xfrm>
            <a:off x="7019925" y="1773238"/>
            <a:ext cx="431800" cy="503237"/>
          </a:xfrm>
          <a:prstGeom prst="right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ja-JP" altLang="en-US" sz="1600">
                <a:latin typeface="Arial" charset="0"/>
                <a:ea typeface="ＭＳ Ｐゴシック" charset="0"/>
                <a:cs typeface="ＭＳ Ｐゴシック" charset="0"/>
              </a:rPr>
              <a:t>回転</a:t>
            </a:r>
          </a:p>
        </p:txBody>
      </p:sp>
      <p:sp>
        <p:nvSpPr>
          <p:cNvPr id="15407" name="Oval 55"/>
          <p:cNvSpPr>
            <a:spLocks noChangeArrowheads="1"/>
          </p:cNvSpPr>
          <p:nvPr/>
        </p:nvSpPr>
        <p:spPr bwMode="auto">
          <a:xfrm>
            <a:off x="7197725" y="299720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u</a:t>
            </a:r>
          </a:p>
        </p:txBody>
      </p:sp>
      <p:sp>
        <p:nvSpPr>
          <p:cNvPr id="15408" name="Oval 56"/>
          <p:cNvSpPr>
            <a:spLocks noChangeArrowheads="1"/>
          </p:cNvSpPr>
          <p:nvPr/>
        </p:nvSpPr>
        <p:spPr bwMode="auto">
          <a:xfrm>
            <a:off x="7165975" y="3375025"/>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w</a:t>
            </a:r>
          </a:p>
        </p:txBody>
      </p:sp>
      <p:sp>
        <p:nvSpPr>
          <p:cNvPr id="15409" name="AutoShape 57"/>
          <p:cNvSpPr>
            <a:spLocks noChangeArrowheads="1"/>
          </p:cNvSpPr>
          <p:nvPr/>
        </p:nvSpPr>
        <p:spPr bwMode="auto">
          <a:xfrm>
            <a:off x="6805613" y="3806825"/>
            <a:ext cx="292100" cy="1009650"/>
          </a:xfrm>
          <a:prstGeom prst="triangle">
            <a:avLst>
              <a:gd name="adj" fmla="val 50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410" name="AutoShape 58"/>
          <p:cNvSpPr>
            <a:spLocks noChangeArrowheads="1"/>
          </p:cNvSpPr>
          <p:nvPr/>
        </p:nvSpPr>
        <p:spPr bwMode="auto">
          <a:xfrm>
            <a:off x="7381875" y="3806825"/>
            <a:ext cx="287338" cy="936625"/>
          </a:xfrm>
          <a:prstGeom prst="triangle">
            <a:avLst>
              <a:gd name="adj" fmla="val 50000"/>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411" name="Line 59"/>
          <p:cNvSpPr>
            <a:spLocks noChangeShapeType="1"/>
          </p:cNvSpPr>
          <p:nvPr/>
        </p:nvSpPr>
        <p:spPr bwMode="auto">
          <a:xfrm flipH="1">
            <a:off x="6950075" y="3519488"/>
            <a:ext cx="215900" cy="2873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12" name="Line 60"/>
          <p:cNvSpPr>
            <a:spLocks noChangeShapeType="1"/>
          </p:cNvSpPr>
          <p:nvPr/>
        </p:nvSpPr>
        <p:spPr bwMode="auto">
          <a:xfrm>
            <a:off x="7310438" y="3590925"/>
            <a:ext cx="21590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13" name="Line 61"/>
          <p:cNvSpPr>
            <a:spLocks noChangeShapeType="1"/>
          </p:cNvSpPr>
          <p:nvPr/>
        </p:nvSpPr>
        <p:spPr bwMode="auto">
          <a:xfrm>
            <a:off x="7381875" y="3160713"/>
            <a:ext cx="792163" cy="5032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14" name="AutoShape 62"/>
          <p:cNvSpPr>
            <a:spLocks noChangeArrowheads="1"/>
          </p:cNvSpPr>
          <p:nvPr/>
        </p:nvSpPr>
        <p:spPr bwMode="auto">
          <a:xfrm>
            <a:off x="6805613" y="3878263"/>
            <a:ext cx="292100" cy="865187"/>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415" name="Line 63"/>
          <p:cNvSpPr>
            <a:spLocks noChangeShapeType="1"/>
          </p:cNvSpPr>
          <p:nvPr/>
        </p:nvSpPr>
        <p:spPr bwMode="auto">
          <a:xfrm flipH="1">
            <a:off x="6907213" y="3089275"/>
            <a:ext cx="290512"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16" name="Text Box 64"/>
          <p:cNvSpPr txBox="1">
            <a:spLocks noChangeArrowheads="1"/>
          </p:cNvSpPr>
          <p:nvPr/>
        </p:nvSpPr>
        <p:spPr bwMode="auto">
          <a:xfrm>
            <a:off x="7337425" y="3297238"/>
            <a:ext cx="692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r>
              <a:rPr lang="en-US" altLang="ja-JP" sz="1800"/>
              <a:t>E→L</a:t>
            </a:r>
          </a:p>
        </p:txBody>
      </p:sp>
      <p:sp>
        <p:nvSpPr>
          <p:cNvPr id="15417" name="Text Box 65"/>
          <p:cNvSpPr txBox="1">
            <a:spLocks noChangeArrowheads="1"/>
          </p:cNvSpPr>
          <p:nvPr/>
        </p:nvSpPr>
        <p:spPr bwMode="auto">
          <a:xfrm>
            <a:off x="7380288" y="291782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L</a:t>
            </a:r>
          </a:p>
        </p:txBody>
      </p:sp>
      <p:sp>
        <p:nvSpPr>
          <p:cNvPr id="15418" name="AutoShape 66"/>
          <p:cNvSpPr>
            <a:spLocks noChangeArrowheads="1"/>
          </p:cNvSpPr>
          <p:nvPr/>
        </p:nvSpPr>
        <p:spPr bwMode="auto">
          <a:xfrm>
            <a:off x="6445250" y="3735388"/>
            <a:ext cx="288925" cy="1009650"/>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419" name="Oval 67"/>
          <p:cNvSpPr>
            <a:spLocks noChangeArrowheads="1"/>
          </p:cNvSpPr>
          <p:nvPr/>
        </p:nvSpPr>
        <p:spPr bwMode="auto">
          <a:xfrm>
            <a:off x="6734175" y="323215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v</a:t>
            </a:r>
          </a:p>
        </p:txBody>
      </p:sp>
      <p:sp>
        <p:nvSpPr>
          <p:cNvPr id="15420" name="Line 68"/>
          <p:cNvSpPr>
            <a:spLocks noChangeShapeType="1"/>
          </p:cNvSpPr>
          <p:nvPr/>
        </p:nvSpPr>
        <p:spPr bwMode="auto">
          <a:xfrm flipH="1">
            <a:off x="6589713" y="3448050"/>
            <a:ext cx="215900" cy="288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21" name="AutoShape 70"/>
          <p:cNvSpPr>
            <a:spLocks noChangeArrowheads="1"/>
          </p:cNvSpPr>
          <p:nvPr/>
        </p:nvSpPr>
        <p:spPr bwMode="auto">
          <a:xfrm>
            <a:off x="8027988" y="3644900"/>
            <a:ext cx="288925" cy="1009650"/>
          </a:xfrm>
          <a:prstGeom prst="triangle">
            <a:avLst>
              <a:gd name="adj" fmla="val 50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422" name="Text Box 71"/>
          <p:cNvSpPr txBox="1">
            <a:spLocks noChangeArrowheads="1"/>
          </p:cNvSpPr>
          <p:nvPr/>
        </p:nvSpPr>
        <p:spPr bwMode="auto">
          <a:xfrm>
            <a:off x="6084888" y="3160713"/>
            <a:ext cx="730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r>
              <a:rPr lang="en-US" altLang="ja-JP" sz="1800"/>
              <a:t>E→R</a:t>
            </a:r>
          </a:p>
        </p:txBody>
      </p:sp>
      <p:sp>
        <p:nvSpPr>
          <p:cNvPr id="15423" name="Line 72"/>
          <p:cNvSpPr>
            <a:spLocks noChangeShapeType="1"/>
          </p:cNvSpPr>
          <p:nvPr/>
        </p:nvSpPr>
        <p:spPr bwMode="auto">
          <a:xfrm>
            <a:off x="6950075" y="3376613"/>
            <a:ext cx="215900" cy="714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24" name="Oval 89"/>
          <p:cNvSpPr>
            <a:spLocks noChangeArrowheads="1"/>
          </p:cNvSpPr>
          <p:nvPr/>
        </p:nvSpPr>
        <p:spPr bwMode="auto">
          <a:xfrm>
            <a:off x="7740650" y="515778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u</a:t>
            </a:r>
          </a:p>
        </p:txBody>
      </p:sp>
      <p:sp>
        <p:nvSpPr>
          <p:cNvPr id="15425" name="Oval 90"/>
          <p:cNvSpPr>
            <a:spLocks noChangeArrowheads="1"/>
          </p:cNvSpPr>
          <p:nvPr/>
        </p:nvSpPr>
        <p:spPr bwMode="auto">
          <a:xfrm>
            <a:off x="7308850" y="486886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w</a:t>
            </a:r>
          </a:p>
        </p:txBody>
      </p:sp>
      <p:sp>
        <p:nvSpPr>
          <p:cNvPr id="15426" name="AutoShape 91"/>
          <p:cNvSpPr>
            <a:spLocks noChangeArrowheads="1"/>
          </p:cNvSpPr>
          <p:nvPr/>
        </p:nvSpPr>
        <p:spPr bwMode="auto">
          <a:xfrm>
            <a:off x="6877050" y="5661025"/>
            <a:ext cx="292100" cy="1009650"/>
          </a:xfrm>
          <a:prstGeom prst="triangle">
            <a:avLst>
              <a:gd name="adj" fmla="val 50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427" name="AutoShape 92"/>
          <p:cNvSpPr>
            <a:spLocks noChangeArrowheads="1"/>
          </p:cNvSpPr>
          <p:nvPr/>
        </p:nvSpPr>
        <p:spPr bwMode="auto">
          <a:xfrm>
            <a:off x="7453313" y="5661025"/>
            <a:ext cx="287337" cy="936625"/>
          </a:xfrm>
          <a:prstGeom prst="triangle">
            <a:avLst>
              <a:gd name="adj" fmla="val 50000"/>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428" name="Line 93"/>
          <p:cNvSpPr>
            <a:spLocks noChangeShapeType="1"/>
          </p:cNvSpPr>
          <p:nvPr/>
        </p:nvSpPr>
        <p:spPr bwMode="auto">
          <a:xfrm flipH="1" flipV="1">
            <a:off x="7524750" y="5013325"/>
            <a:ext cx="21590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29" name="Line 94"/>
          <p:cNvSpPr>
            <a:spLocks noChangeShapeType="1"/>
          </p:cNvSpPr>
          <p:nvPr/>
        </p:nvSpPr>
        <p:spPr bwMode="auto">
          <a:xfrm flipH="1">
            <a:off x="7596188" y="5373688"/>
            <a:ext cx="215900" cy="2873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30" name="Line 95"/>
          <p:cNvSpPr>
            <a:spLocks noChangeShapeType="1"/>
          </p:cNvSpPr>
          <p:nvPr/>
        </p:nvSpPr>
        <p:spPr bwMode="auto">
          <a:xfrm>
            <a:off x="7885113" y="5373688"/>
            <a:ext cx="142875"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31" name="AutoShape 96"/>
          <p:cNvSpPr>
            <a:spLocks noChangeArrowheads="1"/>
          </p:cNvSpPr>
          <p:nvPr/>
        </p:nvSpPr>
        <p:spPr bwMode="auto">
          <a:xfrm>
            <a:off x="6877050" y="5732463"/>
            <a:ext cx="292100" cy="865187"/>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432" name="Line 97"/>
          <p:cNvSpPr>
            <a:spLocks noChangeShapeType="1"/>
          </p:cNvSpPr>
          <p:nvPr/>
        </p:nvSpPr>
        <p:spPr bwMode="auto">
          <a:xfrm flipH="1">
            <a:off x="6978650" y="5014913"/>
            <a:ext cx="290513"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33" name="Text Box 98"/>
          <p:cNvSpPr txBox="1">
            <a:spLocks noChangeArrowheads="1"/>
          </p:cNvSpPr>
          <p:nvPr/>
        </p:nvSpPr>
        <p:spPr bwMode="auto">
          <a:xfrm>
            <a:off x="8027988" y="5084763"/>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R</a:t>
            </a:r>
          </a:p>
        </p:txBody>
      </p:sp>
      <p:sp>
        <p:nvSpPr>
          <p:cNvPr id="15434" name="Text Box 99"/>
          <p:cNvSpPr txBox="1">
            <a:spLocks noChangeArrowheads="1"/>
          </p:cNvSpPr>
          <p:nvPr/>
        </p:nvSpPr>
        <p:spPr bwMode="auto">
          <a:xfrm>
            <a:off x="7524750" y="4791075"/>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E</a:t>
            </a:r>
          </a:p>
        </p:txBody>
      </p:sp>
      <p:sp>
        <p:nvSpPr>
          <p:cNvPr id="15435" name="AutoShape 100"/>
          <p:cNvSpPr>
            <a:spLocks noChangeArrowheads="1"/>
          </p:cNvSpPr>
          <p:nvPr/>
        </p:nvSpPr>
        <p:spPr bwMode="auto">
          <a:xfrm>
            <a:off x="6516688" y="5661025"/>
            <a:ext cx="288925" cy="1009650"/>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436" name="Oval 101"/>
          <p:cNvSpPr>
            <a:spLocks noChangeArrowheads="1"/>
          </p:cNvSpPr>
          <p:nvPr/>
        </p:nvSpPr>
        <p:spPr bwMode="auto">
          <a:xfrm>
            <a:off x="6805613" y="515778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v</a:t>
            </a:r>
          </a:p>
        </p:txBody>
      </p:sp>
      <p:sp>
        <p:nvSpPr>
          <p:cNvPr id="15437" name="Line 102"/>
          <p:cNvSpPr>
            <a:spLocks noChangeShapeType="1"/>
          </p:cNvSpPr>
          <p:nvPr/>
        </p:nvSpPr>
        <p:spPr bwMode="auto">
          <a:xfrm flipH="1">
            <a:off x="6661150" y="5373688"/>
            <a:ext cx="215900" cy="288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38" name="AutoShape 103"/>
          <p:cNvSpPr>
            <a:spLocks noChangeArrowheads="1"/>
          </p:cNvSpPr>
          <p:nvPr/>
        </p:nvSpPr>
        <p:spPr bwMode="auto">
          <a:xfrm>
            <a:off x="7885113" y="5659438"/>
            <a:ext cx="288925" cy="1009650"/>
          </a:xfrm>
          <a:prstGeom prst="triangle">
            <a:avLst>
              <a:gd name="adj" fmla="val 50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5439" name="Text Box 104"/>
          <p:cNvSpPr txBox="1">
            <a:spLocks noChangeArrowheads="1"/>
          </p:cNvSpPr>
          <p:nvPr/>
        </p:nvSpPr>
        <p:spPr bwMode="auto">
          <a:xfrm>
            <a:off x="6396038" y="5086350"/>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E</a:t>
            </a:r>
          </a:p>
        </p:txBody>
      </p:sp>
      <p:sp>
        <p:nvSpPr>
          <p:cNvPr id="15440" name="Line 105"/>
          <p:cNvSpPr>
            <a:spLocks noChangeShapeType="1"/>
          </p:cNvSpPr>
          <p:nvPr/>
        </p:nvSpPr>
        <p:spPr bwMode="auto">
          <a:xfrm>
            <a:off x="6948488" y="5300663"/>
            <a:ext cx="71437"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41" name="Line 106"/>
          <p:cNvSpPr>
            <a:spLocks noChangeShapeType="1"/>
          </p:cNvSpPr>
          <p:nvPr/>
        </p:nvSpPr>
        <p:spPr bwMode="auto">
          <a:xfrm>
            <a:off x="5724525" y="2924175"/>
            <a:ext cx="1152525" cy="0"/>
          </a:xfrm>
          <a:prstGeom prst="line">
            <a:avLst/>
          </a:prstGeom>
          <a:noFill/>
          <a:ln w="95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42" name="Line 107"/>
          <p:cNvSpPr>
            <a:spLocks noChangeShapeType="1"/>
          </p:cNvSpPr>
          <p:nvPr/>
        </p:nvSpPr>
        <p:spPr bwMode="auto">
          <a:xfrm>
            <a:off x="6011863" y="2852738"/>
            <a:ext cx="865187" cy="0"/>
          </a:xfrm>
          <a:prstGeom prst="line">
            <a:avLst/>
          </a:prstGeom>
          <a:noFill/>
          <a:ln w="95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43" name="Line 108"/>
          <p:cNvSpPr>
            <a:spLocks noChangeShapeType="1"/>
          </p:cNvSpPr>
          <p:nvPr/>
        </p:nvSpPr>
        <p:spPr bwMode="auto">
          <a:xfrm>
            <a:off x="7524750" y="2852738"/>
            <a:ext cx="1474788" cy="0"/>
          </a:xfrm>
          <a:prstGeom prst="line">
            <a:avLst/>
          </a:prstGeom>
          <a:noFill/>
          <a:ln w="95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44" name="Line 109"/>
          <p:cNvSpPr>
            <a:spLocks noChangeShapeType="1"/>
          </p:cNvSpPr>
          <p:nvPr/>
        </p:nvSpPr>
        <p:spPr bwMode="auto">
          <a:xfrm>
            <a:off x="6443663" y="4745038"/>
            <a:ext cx="1944687" cy="0"/>
          </a:xfrm>
          <a:prstGeom prst="line">
            <a:avLst/>
          </a:prstGeom>
          <a:noFill/>
          <a:ln w="95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45" name="Line 110"/>
          <p:cNvSpPr>
            <a:spLocks noChangeShapeType="1"/>
          </p:cNvSpPr>
          <p:nvPr/>
        </p:nvSpPr>
        <p:spPr bwMode="auto">
          <a:xfrm>
            <a:off x="6443663" y="4816475"/>
            <a:ext cx="1944687" cy="0"/>
          </a:xfrm>
          <a:prstGeom prst="line">
            <a:avLst/>
          </a:prstGeom>
          <a:noFill/>
          <a:ln w="95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46" name="Line 111"/>
          <p:cNvSpPr>
            <a:spLocks noChangeShapeType="1"/>
          </p:cNvSpPr>
          <p:nvPr/>
        </p:nvSpPr>
        <p:spPr bwMode="auto">
          <a:xfrm flipH="1">
            <a:off x="7667625" y="4652963"/>
            <a:ext cx="649288" cy="0"/>
          </a:xfrm>
          <a:prstGeom prst="line">
            <a:avLst/>
          </a:prstGeom>
          <a:noFill/>
          <a:ln w="95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47" name="Line 112"/>
          <p:cNvSpPr>
            <a:spLocks noChangeShapeType="1"/>
          </p:cNvSpPr>
          <p:nvPr/>
        </p:nvSpPr>
        <p:spPr bwMode="auto">
          <a:xfrm>
            <a:off x="6443663" y="6669088"/>
            <a:ext cx="1800225" cy="0"/>
          </a:xfrm>
          <a:prstGeom prst="line">
            <a:avLst/>
          </a:prstGeom>
          <a:noFill/>
          <a:ln w="95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48" name="Line 113"/>
          <p:cNvSpPr>
            <a:spLocks noChangeShapeType="1"/>
          </p:cNvSpPr>
          <p:nvPr/>
        </p:nvSpPr>
        <p:spPr bwMode="auto">
          <a:xfrm>
            <a:off x="7164388" y="6597650"/>
            <a:ext cx="720725" cy="0"/>
          </a:xfrm>
          <a:prstGeom prst="line">
            <a:avLst/>
          </a:prstGeom>
          <a:noFill/>
          <a:ln w="95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5449" name="AutoShape 114"/>
          <p:cNvSpPr>
            <a:spLocks noChangeArrowheads="1"/>
          </p:cNvSpPr>
          <p:nvPr/>
        </p:nvSpPr>
        <p:spPr bwMode="auto">
          <a:xfrm>
            <a:off x="8604250" y="4221163"/>
            <a:ext cx="360363" cy="1295400"/>
          </a:xfrm>
          <a:prstGeom prst="curvedLeftArrow">
            <a:avLst>
              <a:gd name="adj1" fmla="val 71894"/>
              <a:gd name="adj2" fmla="val 143788"/>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ja-JP" altLang="en-US">
                <a:latin typeface="Arial" charset="0"/>
                <a:ea typeface="ＭＳ Ｐゴシック" charset="0"/>
                <a:cs typeface="ＭＳ Ｐゴシック" charset="0"/>
              </a:rPr>
              <a:t>回</a:t>
            </a:r>
          </a:p>
          <a:p>
            <a:pPr algn="ctr">
              <a:defRPr/>
            </a:pPr>
            <a:r>
              <a:rPr lang="ja-JP" altLang="en-US">
                <a:latin typeface="Arial" charset="0"/>
                <a:ea typeface="ＭＳ Ｐゴシック" charset="0"/>
                <a:cs typeface="ＭＳ Ｐゴシック" charset="0"/>
              </a:rPr>
              <a:t>転</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スライド番号プレースホルダー 5"/>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fld id="{EBE9DA28-02CC-43B2-8C70-09A56142490B}" type="slidenum">
              <a:rPr kumimoji="0" lang="en-US" altLang="ja-JP" sz="1200">
                <a:latin typeface="Arial Black" pitchFamily="34" charset="0"/>
              </a:rPr>
              <a:pPr/>
              <a:t>15</a:t>
            </a:fld>
            <a:endParaRPr kumimoji="0" lang="en-US" altLang="ja-JP" sz="1200">
              <a:latin typeface="Arial Black" pitchFamily="34" charset="0"/>
            </a:endParaRPr>
          </a:p>
        </p:txBody>
      </p:sp>
      <p:sp>
        <p:nvSpPr>
          <p:cNvPr id="16389" name="Line 117"/>
          <p:cNvSpPr>
            <a:spLocks noChangeShapeType="1"/>
          </p:cNvSpPr>
          <p:nvPr/>
        </p:nvSpPr>
        <p:spPr bwMode="auto">
          <a:xfrm>
            <a:off x="250825" y="6530975"/>
            <a:ext cx="1944688" cy="0"/>
          </a:xfrm>
          <a:prstGeom prst="line">
            <a:avLst/>
          </a:prstGeom>
          <a:noFill/>
          <a:ln w="95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390" name="Line 63"/>
          <p:cNvSpPr>
            <a:spLocks noChangeShapeType="1"/>
          </p:cNvSpPr>
          <p:nvPr/>
        </p:nvSpPr>
        <p:spPr bwMode="auto">
          <a:xfrm>
            <a:off x="7620000" y="2998788"/>
            <a:ext cx="1273175" cy="0"/>
          </a:xfrm>
          <a:prstGeom prst="line">
            <a:avLst/>
          </a:prstGeom>
          <a:noFill/>
          <a:ln w="95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391" name="Rectangle 2"/>
          <p:cNvSpPr>
            <a:spLocks noGrp="1" noChangeArrowheads="1"/>
          </p:cNvSpPr>
          <p:nvPr>
            <p:ph type="title"/>
          </p:nvPr>
        </p:nvSpPr>
        <p:spPr>
          <a:xfrm>
            <a:off x="5076825" y="-246063"/>
            <a:ext cx="8229600" cy="1371601"/>
          </a:xfrm>
        </p:spPr>
        <p:txBody>
          <a:bodyPr/>
          <a:lstStyle/>
          <a:p>
            <a:pPr eaLnBrk="1" hangingPunct="1">
              <a:defRPr/>
            </a:pPr>
            <a:r>
              <a:rPr lang="en-US" altLang="ja-JP" sz="3200"/>
              <a:t>AVL</a:t>
            </a:r>
            <a:r>
              <a:rPr lang="ja-JP" altLang="en-US" sz="3200"/>
              <a:t>木における操作</a:t>
            </a:r>
            <a:r>
              <a:rPr lang="en-US" altLang="ja-JP" sz="3200"/>
              <a:t>(2)</a:t>
            </a:r>
          </a:p>
        </p:txBody>
      </p:sp>
      <p:sp>
        <p:nvSpPr>
          <p:cNvPr id="16392" name="Text Box 3"/>
          <p:cNvSpPr txBox="1">
            <a:spLocks noChangeArrowheads="1"/>
          </p:cNvSpPr>
          <p:nvPr/>
        </p:nvSpPr>
        <p:spPr bwMode="auto">
          <a:xfrm>
            <a:off x="44450" y="333375"/>
            <a:ext cx="5365750" cy="421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pPr>
              <a:lnSpc>
                <a:spcPct val="140000"/>
              </a:lnSpc>
            </a:pPr>
            <a:r>
              <a:rPr lang="en-US" altLang="ja-JP" sz="1800" b="1"/>
              <a:t>[AVL</a:t>
            </a:r>
            <a:r>
              <a:rPr lang="ja-JP" altLang="en-US" sz="1800" b="1"/>
              <a:t>木の</a:t>
            </a:r>
            <a:r>
              <a:rPr lang="en-US" altLang="ja-JP" sz="1800" b="1"/>
              <a:t>delete(x,S)</a:t>
            </a:r>
            <a:r>
              <a:rPr lang="ja-JP" altLang="en-US" sz="1800" b="1"/>
              <a:t>操作</a:t>
            </a:r>
            <a:r>
              <a:rPr lang="en-US" altLang="ja-JP" sz="1800" b="1"/>
              <a:t>]</a:t>
            </a:r>
          </a:p>
          <a:p>
            <a:pPr>
              <a:lnSpc>
                <a:spcPct val="140000"/>
              </a:lnSpc>
            </a:pPr>
            <a:r>
              <a:rPr lang="en-US" altLang="ja-JP" sz="1800" b="1"/>
              <a:t>Step 1</a:t>
            </a:r>
            <a:r>
              <a:rPr lang="en-US" altLang="ja-JP" sz="1800"/>
              <a:t>  </a:t>
            </a:r>
            <a:r>
              <a:rPr lang="ja-JP" altLang="en-US" sz="1800"/>
              <a:t>一般の２分木の同じように削除を行う。</a:t>
            </a:r>
          </a:p>
          <a:p>
            <a:r>
              <a:rPr lang="ja-JP" altLang="en-US" sz="1800"/>
              <a:t>　　　　　削除した最も下の節点の親節点を</a:t>
            </a:r>
            <a:r>
              <a:rPr lang="en-US" altLang="ja-JP" sz="1800"/>
              <a:t>u</a:t>
            </a:r>
            <a:r>
              <a:rPr lang="ja-JP" altLang="en-US" sz="1800"/>
              <a:t>とする。</a:t>
            </a:r>
          </a:p>
          <a:p>
            <a:pPr>
              <a:lnSpc>
                <a:spcPct val="140000"/>
              </a:lnSpc>
            </a:pPr>
            <a:r>
              <a:rPr lang="en-US" altLang="ja-JP" sz="1800" b="1"/>
              <a:t>Step 2</a:t>
            </a:r>
            <a:r>
              <a:rPr lang="en-US" altLang="ja-JP" sz="1800"/>
              <a:t>  s(u)=E</a:t>
            </a:r>
            <a:r>
              <a:rPr lang="ja-JP" altLang="en-US" sz="1800"/>
              <a:t>となるまで次のことを繰り返す。</a:t>
            </a:r>
          </a:p>
          <a:p>
            <a:pPr>
              <a:lnSpc>
                <a:spcPct val="140000"/>
              </a:lnSpc>
            </a:pPr>
            <a:r>
              <a:rPr lang="ja-JP" altLang="en-US" sz="1800"/>
              <a:t>     </a:t>
            </a:r>
            <a:r>
              <a:rPr lang="en-US" altLang="ja-JP" sz="1800"/>
              <a:t>1. if  s(u)=L</a:t>
            </a:r>
            <a:r>
              <a:rPr lang="ja-JP" altLang="en-US" sz="1800"/>
              <a:t>かつ</a:t>
            </a:r>
            <a:r>
              <a:rPr lang="en-US" altLang="ja-JP" sz="1800"/>
              <a:t>T   </a:t>
            </a:r>
            <a:r>
              <a:rPr lang="ja-JP" altLang="en-US" sz="1800"/>
              <a:t>が低くなった   </a:t>
            </a:r>
            <a:r>
              <a:rPr lang="en-US" altLang="ja-JP" sz="1800"/>
              <a:t>or</a:t>
            </a:r>
          </a:p>
          <a:p>
            <a:r>
              <a:rPr lang="en-US" altLang="ja-JP" sz="1800"/>
              <a:t>             s(u)=R</a:t>
            </a:r>
            <a:r>
              <a:rPr lang="ja-JP" altLang="en-US" sz="1800"/>
              <a:t>かつ</a:t>
            </a:r>
            <a:r>
              <a:rPr lang="en-US" altLang="ja-JP" sz="1800"/>
              <a:t>T   </a:t>
            </a:r>
            <a:r>
              <a:rPr lang="ja-JP" altLang="en-US" sz="1800"/>
              <a:t>が低くなった        </a:t>
            </a:r>
            <a:r>
              <a:rPr lang="en-US" altLang="ja-JP" sz="1800"/>
              <a:t>then</a:t>
            </a:r>
          </a:p>
          <a:p>
            <a:r>
              <a:rPr lang="en-US" altLang="ja-JP" sz="1800"/>
              <a:t>                       s(u)←E</a:t>
            </a:r>
          </a:p>
          <a:p>
            <a:r>
              <a:rPr lang="en-US" altLang="ja-JP" sz="1800"/>
              <a:t>          else if  s(u)=R</a:t>
            </a:r>
            <a:r>
              <a:rPr lang="ja-JP" altLang="en-US" sz="1800"/>
              <a:t>かつ</a:t>
            </a:r>
            <a:r>
              <a:rPr lang="en-US" altLang="ja-JP" sz="1800"/>
              <a:t>T   </a:t>
            </a:r>
            <a:r>
              <a:rPr lang="ja-JP" altLang="en-US" sz="1800"/>
              <a:t>が低くなった </a:t>
            </a:r>
            <a:r>
              <a:rPr lang="en-US" altLang="ja-JP" sz="1800"/>
              <a:t>or</a:t>
            </a:r>
          </a:p>
          <a:p>
            <a:r>
              <a:rPr lang="en-US" altLang="ja-JP" sz="1800"/>
              <a:t>                      s(u)=L</a:t>
            </a:r>
            <a:r>
              <a:rPr lang="ja-JP" altLang="en-US" sz="1800"/>
              <a:t>かつ</a:t>
            </a:r>
            <a:r>
              <a:rPr lang="en-US" altLang="ja-JP" sz="1800"/>
              <a:t>T   </a:t>
            </a:r>
            <a:r>
              <a:rPr lang="ja-JP" altLang="en-US" sz="1800"/>
              <a:t>が低くなった      </a:t>
            </a:r>
            <a:r>
              <a:rPr lang="en-US" altLang="ja-JP" sz="1800"/>
              <a:t>then</a:t>
            </a:r>
          </a:p>
          <a:p>
            <a:r>
              <a:rPr lang="ja-JP" altLang="en-US" sz="1800"/>
              <a:t>　　　　　　　　　　　　</a:t>
            </a:r>
            <a:r>
              <a:rPr lang="en-US" altLang="ja-JP" sz="1800"/>
              <a:t>(1)  </a:t>
            </a:r>
            <a:r>
              <a:rPr lang="ja-JP" altLang="en-US" sz="1800"/>
              <a:t>回転</a:t>
            </a:r>
          </a:p>
          <a:p>
            <a:r>
              <a:rPr lang="ja-JP" altLang="en-US" sz="1800"/>
              <a:t>　　　　　　　　　　　　</a:t>
            </a:r>
            <a:r>
              <a:rPr lang="en-US" altLang="ja-JP" sz="1800"/>
              <a:t>(2)  s(u)≠E</a:t>
            </a:r>
            <a:r>
              <a:rPr lang="ja-JP" altLang="en-US" sz="1800"/>
              <a:t>ならば停止</a:t>
            </a:r>
          </a:p>
          <a:p>
            <a:r>
              <a:rPr lang="ja-JP" altLang="en-US" sz="1800"/>
              <a:t>     </a:t>
            </a:r>
            <a:r>
              <a:rPr lang="en-US" altLang="ja-JP" sz="1800"/>
              <a:t>2. u←u</a:t>
            </a:r>
            <a:r>
              <a:rPr lang="ja-JP" altLang="en-US" sz="1800"/>
              <a:t>の親</a:t>
            </a:r>
          </a:p>
          <a:p>
            <a:pPr>
              <a:lnSpc>
                <a:spcPct val="140000"/>
              </a:lnSpc>
            </a:pPr>
            <a:r>
              <a:rPr lang="en-US" altLang="ja-JP" sz="1800" b="1"/>
              <a:t>Step 3</a:t>
            </a:r>
            <a:r>
              <a:rPr lang="en-US" altLang="ja-JP" sz="1800"/>
              <a:t>  s(u)</a:t>
            </a:r>
            <a:r>
              <a:rPr lang="ja-JP" altLang="en-US" sz="1800"/>
              <a:t>の更新（低くなった方の逆</a:t>
            </a:r>
            <a:r>
              <a:rPr lang="en-US" altLang="ja-JP" sz="1800"/>
              <a:t>(L or R)</a:t>
            </a:r>
            <a:r>
              <a:rPr lang="ja-JP" altLang="en-US" sz="1800"/>
              <a:t>に更新</a:t>
            </a:r>
            <a:r>
              <a:rPr lang="en-US" altLang="ja-JP" sz="1800"/>
              <a:t>)</a:t>
            </a:r>
          </a:p>
        </p:txBody>
      </p:sp>
      <p:sp>
        <p:nvSpPr>
          <p:cNvPr id="16393" name="AutoShape 4"/>
          <p:cNvSpPr>
            <a:spLocks noChangeArrowheads="1"/>
          </p:cNvSpPr>
          <p:nvPr/>
        </p:nvSpPr>
        <p:spPr bwMode="auto">
          <a:xfrm>
            <a:off x="34925" y="865188"/>
            <a:ext cx="5327650" cy="574675"/>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394" name="Text Box 14"/>
          <p:cNvSpPr txBox="1">
            <a:spLocks noChangeArrowheads="1"/>
          </p:cNvSpPr>
          <p:nvPr/>
        </p:nvSpPr>
        <p:spPr bwMode="auto">
          <a:xfrm>
            <a:off x="2122488" y="180022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200" smtClean="0"/>
              <a:t>u</a:t>
            </a:r>
          </a:p>
          <a:p>
            <a:pPr eaLnBrk="1" hangingPunct="1">
              <a:defRPr/>
            </a:pPr>
            <a:r>
              <a:rPr lang="en-US" altLang="ja-JP" sz="1200" smtClean="0"/>
              <a:t>L</a:t>
            </a:r>
          </a:p>
        </p:txBody>
      </p:sp>
      <p:sp>
        <p:nvSpPr>
          <p:cNvPr id="16395" name="Text Box 15"/>
          <p:cNvSpPr txBox="1">
            <a:spLocks noChangeArrowheads="1"/>
          </p:cNvSpPr>
          <p:nvPr/>
        </p:nvSpPr>
        <p:spPr bwMode="auto">
          <a:xfrm>
            <a:off x="2189163" y="2089150"/>
            <a:ext cx="293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200" smtClean="0"/>
              <a:t>u</a:t>
            </a:r>
          </a:p>
          <a:p>
            <a:pPr eaLnBrk="1" hangingPunct="1">
              <a:defRPr/>
            </a:pPr>
            <a:r>
              <a:rPr lang="en-US" altLang="ja-JP" sz="1200" smtClean="0"/>
              <a:t>R</a:t>
            </a:r>
          </a:p>
        </p:txBody>
      </p:sp>
      <p:sp>
        <p:nvSpPr>
          <p:cNvPr id="16396" name="AutoShape 16"/>
          <p:cNvSpPr>
            <a:spLocks noChangeArrowheads="1"/>
          </p:cNvSpPr>
          <p:nvPr/>
        </p:nvSpPr>
        <p:spPr bwMode="auto">
          <a:xfrm>
            <a:off x="34925" y="4176713"/>
            <a:ext cx="5400675" cy="360362"/>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397" name="Text Box 18"/>
          <p:cNvSpPr txBox="1">
            <a:spLocks noChangeArrowheads="1"/>
          </p:cNvSpPr>
          <p:nvPr/>
        </p:nvSpPr>
        <p:spPr bwMode="auto">
          <a:xfrm>
            <a:off x="2719388" y="26400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200" smtClean="0"/>
              <a:t>u</a:t>
            </a:r>
          </a:p>
          <a:p>
            <a:pPr eaLnBrk="1" hangingPunct="1">
              <a:defRPr/>
            </a:pPr>
            <a:r>
              <a:rPr lang="en-US" altLang="ja-JP" sz="1200" smtClean="0"/>
              <a:t>L</a:t>
            </a:r>
          </a:p>
        </p:txBody>
      </p:sp>
      <p:sp>
        <p:nvSpPr>
          <p:cNvPr id="16398" name="Text Box 19"/>
          <p:cNvSpPr txBox="1">
            <a:spLocks noChangeArrowheads="1"/>
          </p:cNvSpPr>
          <p:nvPr/>
        </p:nvSpPr>
        <p:spPr bwMode="auto">
          <a:xfrm>
            <a:off x="2693988" y="2927350"/>
            <a:ext cx="293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1200" smtClean="0"/>
              <a:t>u</a:t>
            </a:r>
          </a:p>
          <a:p>
            <a:pPr eaLnBrk="1" hangingPunct="1">
              <a:defRPr/>
            </a:pPr>
            <a:r>
              <a:rPr lang="en-US" altLang="ja-JP" sz="1200" smtClean="0"/>
              <a:t>R</a:t>
            </a:r>
          </a:p>
        </p:txBody>
      </p:sp>
      <p:sp>
        <p:nvSpPr>
          <p:cNvPr id="16399" name="AutoShape 20"/>
          <p:cNvSpPr>
            <a:spLocks noChangeArrowheads="1"/>
          </p:cNvSpPr>
          <p:nvPr/>
        </p:nvSpPr>
        <p:spPr bwMode="auto">
          <a:xfrm>
            <a:off x="34925" y="1512888"/>
            <a:ext cx="5327650" cy="2592387"/>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00" name="Text Box 21"/>
          <p:cNvSpPr txBox="1">
            <a:spLocks noChangeArrowheads="1"/>
          </p:cNvSpPr>
          <p:nvPr/>
        </p:nvSpPr>
        <p:spPr bwMode="auto">
          <a:xfrm>
            <a:off x="6102350" y="765175"/>
            <a:ext cx="22891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r>
              <a:rPr lang="en-US" altLang="ja-JP" sz="1800"/>
              <a:t>[</a:t>
            </a:r>
            <a:r>
              <a:rPr lang="ja-JP" altLang="en-US" sz="1800"/>
              <a:t>削除に伴う回転操作</a:t>
            </a:r>
            <a:r>
              <a:rPr lang="en-US" altLang="ja-JP" sz="1800"/>
              <a:t>]</a:t>
            </a:r>
          </a:p>
        </p:txBody>
      </p:sp>
      <p:sp>
        <p:nvSpPr>
          <p:cNvPr id="16401" name="Oval 22"/>
          <p:cNvSpPr>
            <a:spLocks noChangeArrowheads="1"/>
          </p:cNvSpPr>
          <p:nvPr/>
        </p:nvSpPr>
        <p:spPr bwMode="auto">
          <a:xfrm>
            <a:off x="6011863" y="148431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u</a:t>
            </a:r>
          </a:p>
        </p:txBody>
      </p:sp>
      <p:sp>
        <p:nvSpPr>
          <p:cNvPr id="16402" name="Oval 23"/>
          <p:cNvSpPr>
            <a:spLocks noChangeArrowheads="1"/>
          </p:cNvSpPr>
          <p:nvPr/>
        </p:nvSpPr>
        <p:spPr bwMode="auto">
          <a:xfrm>
            <a:off x="6372225" y="170021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v</a:t>
            </a:r>
          </a:p>
        </p:txBody>
      </p:sp>
      <p:sp>
        <p:nvSpPr>
          <p:cNvPr id="16403" name="AutoShape 25"/>
          <p:cNvSpPr>
            <a:spLocks noChangeArrowheads="1"/>
          </p:cNvSpPr>
          <p:nvPr/>
        </p:nvSpPr>
        <p:spPr bwMode="auto">
          <a:xfrm>
            <a:off x="6083300" y="2132013"/>
            <a:ext cx="287338" cy="936625"/>
          </a:xfrm>
          <a:prstGeom prst="triangle">
            <a:avLst>
              <a:gd name="adj" fmla="val 50000"/>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04" name="Line 26"/>
          <p:cNvSpPr>
            <a:spLocks noChangeShapeType="1"/>
          </p:cNvSpPr>
          <p:nvPr/>
        </p:nvSpPr>
        <p:spPr bwMode="auto">
          <a:xfrm flipH="1">
            <a:off x="6227763" y="1916113"/>
            <a:ext cx="21590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05" name="Line 27"/>
          <p:cNvSpPr>
            <a:spLocks noChangeShapeType="1"/>
          </p:cNvSpPr>
          <p:nvPr/>
        </p:nvSpPr>
        <p:spPr bwMode="auto">
          <a:xfrm>
            <a:off x="6516688" y="1916113"/>
            <a:ext cx="21590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06" name="Line 28"/>
          <p:cNvSpPr>
            <a:spLocks noChangeShapeType="1"/>
          </p:cNvSpPr>
          <p:nvPr/>
        </p:nvSpPr>
        <p:spPr bwMode="auto">
          <a:xfrm>
            <a:off x="6229350" y="1627188"/>
            <a:ext cx="142875"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07" name="Line 30"/>
          <p:cNvSpPr>
            <a:spLocks noChangeShapeType="1"/>
          </p:cNvSpPr>
          <p:nvPr/>
        </p:nvSpPr>
        <p:spPr bwMode="auto">
          <a:xfrm flipH="1">
            <a:off x="5795963" y="1628775"/>
            <a:ext cx="217487"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08" name="Text Box 31"/>
          <p:cNvSpPr txBox="1">
            <a:spLocks noChangeArrowheads="1"/>
          </p:cNvSpPr>
          <p:nvPr/>
        </p:nvSpPr>
        <p:spPr bwMode="auto">
          <a:xfrm>
            <a:off x="6165850" y="1268413"/>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R</a:t>
            </a:r>
          </a:p>
        </p:txBody>
      </p:sp>
      <p:sp>
        <p:nvSpPr>
          <p:cNvPr id="16409" name="Text Box 32"/>
          <p:cNvSpPr txBox="1">
            <a:spLocks noChangeArrowheads="1"/>
          </p:cNvSpPr>
          <p:nvPr/>
        </p:nvSpPr>
        <p:spPr bwMode="auto">
          <a:xfrm>
            <a:off x="6588125" y="1555750"/>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E</a:t>
            </a:r>
          </a:p>
        </p:txBody>
      </p:sp>
      <p:sp>
        <p:nvSpPr>
          <p:cNvPr id="16410" name="AutoShape 42"/>
          <p:cNvSpPr>
            <a:spLocks noChangeArrowheads="1"/>
          </p:cNvSpPr>
          <p:nvPr/>
        </p:nvSpPr>
        <p:spPr bwMode="auto">
          <a:xfrm>
            <a:off x="6588125" y="2132013"/>
            <a:ext cx="287338" cy="936625"/>
          </a:xfrm>
          <a:prstGeom prst="triangle">
            <a:avLst>
              <a:gd name="adj" fmla="val 50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11" name="AutoShape 46"/>
          <p:cNvSpPr>
            <a:spLocks noChangeArrowheads="1"/>
          </p:cNvSpPr>
          <p:nvPr/>
        </p:nvSpPr>
        <p:spPr bwMode="auto">
          <a:xfrm>
            <a:off x="7019925" y="1773238"/>
            <a:ext cx="431800" cy="503237"/>
          </a:xfrm>
          <a:prstGeom prst="right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ja-JP" altLang="en-US" sz="1600">
                <a:latin typeface="Arial" charset="0"/>
                <a:ea typeface="ＭＳ Ｐゴシック" charset="0"/>
                <a:cs typeface="ＭＳ Ｐゴシック" charset="0"/>
              </a:rPr>
              <a:t>回転</a:t>
            </a:r>
          </a:p>
        </p:txBody>
      </p:sp>
      <p:sp>
        <p:nvSpPr>
          <p:cNvPr id="16412" name="Line 47"/>
          <p:cNvSpPr>
            <a:spLocks noChangeShapeType="1"/>
          </p:cNvSpPr>
          <p:nvPr/>
        </p:nvSpPr>
        <p:spPr bwMode="auto">
          <a:xfrm>
            <a:off x="5651500" y="3068638"/>
            <a:ext cx="1223963" cy="0"/>
          </a:xfrm>
          <a:prstGeom prst="line">
            <a:avLst/>
          </a:prstGeom>
          <a:noFill/>
          <a:ln w="95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13" name="Line 48"/>
          <p:cNvSpPr>
            <a:spLocks noChangeShapeType="1"/>
          </p:cNvSpPr>
          <p:nvPr/>
        </p:nvSpPr>
        <p:spPr bwMode="auto">
          <a:xfrm>
            <a:off x="5651500" y="2924175"/>
            <a:ext cx="433388" cy="0"/>
          </a:xfrm>
          <a:prstGeom prst="line">
            <a:avLst/>
          </a:prstGeom>
          <a:noFill/>
          <a:ln w="95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14" name="AutoShape 50"/>
          <p:cNvSpPr>
            <a:spLocks noChangeArrowheads="1"/>
          </p:cNvSpPr>
          <p:nvPr/>
        </p:nvSpPr>
        <p:spPr bwMode="auto">
          <a:xfrm>
            <a:off x="5651500" y="2058988"/>
            <a:ext cx="287338" cy="865187"/>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15" name="AutoShape 51"/>
          <p:cNvSpPr>
            <a:spLocks noChangeArrowheads="1"/>
          </p:cNvSpPr>
          <p:nvPr/>
        </p:nvSpPr>
        <p:spPr bwMode="auto">
          <a:xfrm>
            <a:off x="5651500" y="2058988"/>
            <a:ext cx="287338" cy="936625"/>
          </a:xfrm>
          <a:prstGeom prst="triangle">
            <a:avLst>
              <a:gd name="adj" fmla="val 50000"/>
            </a:avLst>
          </a:prstGeom>
          <a:noFill/>
          <a:ln w="9525">
            <a:solidFill>
              <a:schemeClr val="tx1"/>
            </a:solidFill>
            <a:prstDash val="sysDot"/>
            <a:miter lim="800000"/>
            <a:headEnd/>
            <a:tailEnd/>
          </a:ln>
          <a:effectLst/>
          <a:extLst>
            <a:ext uri="{909E8E84-426E-40DD-AFC4-6F175D3DCCD1}">
              <a14:hiddenFill xmlns:a14="http://schemas.microsoft.com/office/drawing/2010/main">
                <a:solidFill>
                  <a:srgbClr val="008000"/>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16" name="Oval 52"/>
          <p:cNvSpPr>
            <a:spLocks noChangeArrowheads="1"/>
          </p:cNvSpPr>
          <p:nvPr/>
        </p:nvSpPr>
        <p:spPr bwMode="auto">
          <a:xfrm>
            <a:off x="7885113" y="170021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u</a:t>
            </a:r>
          </a:p>
        </p:txBody>
      </p:sp>
      <p:sp>
        <p:nvSpPr>
          <p:cNvPr id="16417" name="Oval 53"/>
          <p:cNvSpPr>
            <a:spLocks noChangeArrowheads="1"/>
          </p:cNvSpPr>
          <p:nvPr/>
        </p:nvSpPr>
        <p:spPr bwMode="auto">
          <a:xfrm>
            <a:off x="8316913" y="1412875"/>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v</a:t>
            </a:r>
          </a:p>
        </p:txBody>
      </p:sp>
      <p:sp>
        <p:nvSpPr>
          <p:cNvPr id="16418" name="AutoShape 54"/>
          <p:cNvSpPr>
            <a:spLocks noChangeArrowheads="1"/>
          </p:cNvSpPr>
          <p:nvPr/>
        </p:nvSpPr>
        <p:spPr bwMode="auto">
          <a:xfrm>
            <a:off x="8051800" y="2133600"/>
            <a:ext cx="287338" cy="936625"/>
          </a:xfrm>
          <a:prstGeom prst="triangle">
            <a:avLst>
              <a:gd name="adj" fmla="val 50000"/>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19" name="Line 55"/>
          <p:cNvSpPr>
            <a:spLocks noChangeShapeType="1"/>
          </p:cNvSpPr>
          <p:nvPr/>
        </p:nvSpPr>
        <p:spPr bwMode="auto">
          <a:xfrm flipH="1">
            <a:off x="8101013" y="1557338"/>
            <a:ext cx="21590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20" name="Line 56"/>
          <p:cNvSpPr>
            <a:spLocks noChangeShapeType="1"/>
          </p:cNvSpPr>
          <p:nvPr/>
        </p:nvSpPr>
        <p:spPr bwMode="auto">
          <a:xfrm>
            <a:off x="8459788" y="1628775"/>
            <a:ext cx="217487" cy="4333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21" name="Line 57"/>
          <p:cNvSpPr>
            <a:spLocks noChangeShapeType="1"/>
          </p:cNvSpPr>
          <p:nvPr/>
        </p:nvSpPr>
        <p:spPr bwMode="auto">
          <a:xfrm>
            <a:off x="8027988" y="1916113"/>
            <a:ext cx="144462" cy="2174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22" name="Line 58"/>
          <p:cNvSpPr>
            <a:spLocks noChangeShapeType="1"/>
          </p:cNvSpPr>
          <p:nvPr/>
        </p:nvSpPr>
        <p:spPr bwMode="auto">
          <a:xfrm flipH="1">
            <a:off x="7764463" y="1916113"/>
            <a:ext cx="192087" cy="2174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23" name="Text Box 59"/>
          <p:cNvSpPr txBox="1">
            <a:spLocks noChangeArrowheads="1"/>
          </p:cNvSpPr>
          <p:nvPr/>
        </p:nvSpPr>
        <p:spPr bwMode="auto">
          <a:xfrm>
            <a:off x="7524750" y="15509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R</a:t>
            </a:r>
          </a:p>
        </p:txBody>
      </p:sp>
      <p:sp>
        <p:nvSpPr>
          <p:cNvPr id="16424" name="Text Box 60"/>
          <p:cNvSpPr txBox="1">
            <a:spLocks noChangeArrowheads="1"/>
          </p:cNvSpPr>
          <p:nvPr/>
        </p:nvSpPr>
        <p:spPr bwMode="auto">
          <a:xfrm>
            <a:off x="8556625" y="1125538"/>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L</a:t>
            </a:r>
          </a:p>
        </p:txBody>
      </p:sp>
      <p:sp>
        <p:nvSpPr>
          <p:cNvPr id="16425" name="AutoShape 61"/>
          <p:cNvSpPr>
            <a:spLocks noChangeArrowheads="1"/>
          </p:cNvSpPr>
          <p:nvPr/>
        </p:nvSpPr>
        <p:spPr bwMode="auto">
          <a:xfrm>
            <a:off x="8556625" y="2062163"/>
            <a:ext cx="287338" cy="936625"/>
          </a:xfrm>
          <a:prstGeom prst="triangle">
            <a:avLst>
              <a:gd name="adj" fmla="val 50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26" name="Line 62"/>
          <p:cNvSpPr>
            <a:spLocks noChangeShapeType="1"/>
          </p:cNvSpPr>
          <p:nvPr/>
        </p:nvSpPr>
        <p:spPr bwMode="auto">
          <a:xfrm>
            <a:off x="7620000" y="3070225"/>
            <a:ext cx="1223963" cy="0"/>
          </a:xfrm>
          <a:prstGeom prst="line">
            <a:avLst/>
          </a:prstGeom>
          <a:noFill/>
          <a:ln w="95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27" name="AutoShape 64"/>
          <p:cNvSpPr>
            <a:spLocks noChangeArrowheads="1"/>
          </p:cNvSpPr>
          <p:nvPr/>
        </p:nvSpPr>
        <p:spPr bwMode="auto">
          <a:xfrm>
            <a:off x="7620000" y="2133600"/>
            <a:ext cx="287338" cy="865188"/>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28" name="AutoShape 65"/>
          <p:cNvSpPr>
            <a:spLocks noChangeArrowheads="1"/>
          </p:cNvSpPr>
          <p:nvPr/>
        </p:nvSpPr>
        <p:spPr bwMode="auto">
          <a:xfrm>
            <a:off x="7620000" y="2133600"/>
            <a:ext cx="287338" cy="936625"/>
          </a:xfrm>
          <a:prstGeom prst="triangle">
            <a:avLst>
              <a:gd name="adj" fmla="val 50000"/>
            </a:avLst>
          </a:prstGeom>
          <a:noFill/>
          <a:ln w="9525">
            <a:solidFill>
              <a:schemeClr val="tx1"/>
            </a:solidFill>
            <a:prstDash val="sysDot"/>
            <a:miter lim="800000"/>
            <a:headEnd/>
            <a:tailEnd/>
          </a:ln>
          <a:effectLst/>
          <a:extLst>
            <a:ext uri="{909E8E84-426E-40DD-AFC4-6F175D3DCCD1}">
              <a14:hiddenFill xmlns:a14="http://schemas.microsoft.com/office/drawing/2010/main">
                <a:solidFill>
                  <a:srgbClr val="008000"/>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29" name="Line 66"/>
          <p:cNvSpPr>
            <a:spLocks noChangeShapeType="1"/>
          </p:cNvSpPr>
          <p:nvPr/>
        </p:nvSpPr>
        <p:spPr bwMode="auto">
          <a:xfrm>
            <a:off x="7620000" y="5157788"/>
            <a:ext cx="1273175" cy="0"/>
          </a:xfrm>
          <a:prstGeom prst="line">
            <a:avLst/>
          </a:prstGeom>
          <a:noFill/>
          <a:ln w="95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30" name="Oval 67"/>
          <p:cNvSpPr>
            <a:spLocks noChangeArrowheads="1"/>
          </p:cNvSpPr>
          <p:nvPr/>
        </p:nvSpPr>
        <p:spPr bwMode="auto">
          <a:xfrm>
            <a:off x="6011863" y="364331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u</a:t>
            </a:r>
          </a:p>
        </p:txBody>
      </p:sp>
      <p:sp>
        <p:nvSpPr>
          <p:cNvPr id="16431" name="Oval 68"/>
          <p:cNvSpPr>
            <a:spLocks noChangeArrowheads="1"/>
          </p:cNvSpPr>
          <p:nvPr/>
        </p:nvSpPr>
        <p:spPr bwMode="auto">
          <a:xfrm>
            <a:off x="6372225" y="385921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v</a:t>
            </a:r>
          </a:p>
        </p:txBody>
      </p:sp>
      <p:sp>
        <p:nvSpPr>
          <p:cNvPr id="16432" name="Line 70"/>
          <p:cNvSpPr>
            <a:spLocks noChangeShapeType="1"/>
          </p:cNvSpPr>
          <p:nvPr/>
        </p:nvSpPr>
        <p:spPr bwMode="auto">
          <a:xfrm flipH="1">
            <a:off x="6227763" y="4075113"/>
            <a:ext cx="21590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33" name="Line 71"/>
          <p:cNvSpPr>
            <a:spLocks noChangeShapeType="1"/>
          </p:cNvSpPr>
          <p:nvPr/>
        </p:nvSpPr>
        <p:spPr bwMode="auto">
          <a:xfrm>
            <a:off x="6516688" y="4075113"/>
            <a:ext cx="21590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34" name="Line 72"/>
          <p:cNvSpPr>
            <a:spLocks noChangeShapeType="1"/>
          </p:cNvSpPr>
          <p:nvPr/>
        </p:nvSpPr>
        <p:spPr bwMode="auto">
          <a:xfrm>
            <a:off x="6229350" y="3786188"/>
            <a:ext cx="142875"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35" name="Line 73"/>
          <p:cNvSpPr>
            <a:spLocks noChangeShapeType="1"/>
          </p:cNvSpPr>
          <p:nvPr/>
        </p:nvSpPr>
        <p:spPr bwMode="auto">
          <a:xfrm flipH="1">
            <a:off x="5795963" y="3787775"/>
            <a:ext cx="217487"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36" name="Text Box 74"/>
          <p:cNvSpPr txBox="1">
            <a:spLocks noChangeArrowheads="1"/>
          </p:cNvSpPr>
          <p:nvPr/>
        </p:nvSpPr>
        <p:spPr bwMode="auto">
          <a:xfrm>
            <a:off x="6165850" y="3427413"/>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R</a:t>
            </a:r>
          </a:p>
        </p:txBody>
      </p:sp>
      <p:sp>
        <p:nvSpPr>
          <p:cNvPr id="16437" name="Text Box 75"/>
          <p:cNvSpPr txBox="1">
            <a:spLocks noChangeArrowheads="1"/>
          </p:cNvSpPr>
          <p:nvPr/>
        </p:nvSpPr>
        <p:spPr bwMode="auto">
          <a:xfrm>
            <a:off x="6588125" y="3714750"/>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R</a:t>
            </a:r>
          </a:p>
        </p:txBody>
      </p:sp>
      <p:sp>
        <p:nvSpPr>
          <p:cNvPr id="16438" name="AutoShape 76"/>
          <p:cNvSpPr>
            <a:spLocks noChangeArrowheads="1"/>
          </p:cNvSpPr>
          <p:nvPr/>
        </p:nvSpPr>
        <p:spPr bwMode="auto">
          <a:xfrm>
            <a:off x="6588125" y="4291013"/>
            <a:ext cx="287338" cy="936625"/>
          </a:xfrm>
          <a:prstGeom prst="triangle">
            <a:avLst>
              <a:gd name="adj" fmla="val 50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39" name="AutoShape 77"/>
          <p:cNvSpPr>
            <a:spLocks noChangeArrowheads="1"/>
          </p:cNvSpPr>
          <p:nvPr/>
        </p:nvSpPr>
        <p:spPr bwMode="auto">
          <a:xfrm>
            <a:off x="7019925" y="3932238"/>
            <a:ext cx="431800" cy="503237"/>
          </a:xfrm>
          <a:prstGeom prst="right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ja-JP" altLang="en-US" sz="1600">
                <a:latin typeface="Arial" charset="0"/>
                <a:ea typeface="ＭＳ Ｐゴシック" charset="0"/>
                <a:cs typeface="ＭＳ Ｐゴシック" charset="0"/>
              </a:rPr>
              <a:t>回転</a:t>
            </a:r>
          </a:p>
        </p:txBody>
      </p:sp>
      <p:sp>
        <p:nvSpPr>
          <p:cNvPr id="16440" name="Line 78"/>
          <p:cNvSpPr>
            <a:spLocks noChangeShapeType="1"/>
          </p:cNvSpPr>
          <p:nvPr/>
        </p:nvSpPr>
        <p:spPr bwMode="auto">
          <a:xfrm>
            <a:off x="5651500" y="5227638"/>
            <a:ext cx="1223963" cy="0"/>
          </a:xfrm>
          <a:prstGeom prst="line">
            <a:avLst/>
          </a:prstGeom>
          <a:noFill/>
          <a:ln w="95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41" name="Line 79"/>
          <p:cNvSpPr>
            <a:spLocks noChangeShapeType="1"/>
          </p:cNvSpPr>
          <p:nvPr/>
        </p:nvSpPr>
        <p:spPr bwMode="auto">
          <a:xfrm>
            <a:off x="5651500" y="5157788"/>
            <a:ext cx="720725" cy="0"/>
          </a:xfrm>
          <a:prstGeom prst="line">
            <a:avLst/>
          </a:prstGeom>
          <a:noFill/>
          <a:ln w="95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42" name="AutoShape 80"/>
          <p:cNvSpPr>
            <a:spLocks noChangeArrowheads="1"/>
          </p:cNvSpPr>
          <p:nvPr/>
        </p:nvSpPr>
        <p:spPr bwMode="auto">
          <a:xfrm>
            <a:off x="5651500" y="4217988"/>
            <a:ext cx="287338" cy="865187"/>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43" name="AutoShape 81"/>
          <p:cNvSpPr>
            <a:spLocks noChangeArrowheads="1"/>
          </p:cNvSpPr>
          <p:nvPr/>
        </p:nvSpPr>
        <p:spPr bwMode="auto">
          <a:xfrm>
            <a:off x="5651500" y="4217988"/>
            <a:ext cx="287338" cy="936625"/>
          </a:xfrm>
          <a:prstGeom prst="triangle">
            <a:avLst>
              <a:gd name="adj" fmla="val 50000"/>
            </a:avLst>
          </a:prstGeom>
          <a:noFill/>
          <a:ln w="9525">
            <a:solidFill>
              <a:schemeClr val="tx1"/>
            </a:solidFill>
            <a:prstDash val="sysDot"/>
            <a:miter lim="800000"/>
            <a:headEnd/>
            <a:tailEnd/>
          </a:ln>
          <a:effectLst/>
          <a:extLst>
            <a:ext uri="{909E8E84-426E-40DD-AFC4-6F175D3DCCD1}">
              <a14:hiddenFill xmlns:a14="http://schemas.microsoft.com/office/drawing/2010/main">
                <a:solidFill>
                  <a:srgbClr val="008000"/>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44" name="Oval 82"/>
          <p:cNvSpPr>
            <a:spLocks noChangeArrowheads="1"/>
          </p:cNvSpPr>
          <p:nvPr/>
        </p:nvSpPr>
        <p:spPr bwMode="auto">
          <a:xfrm>
            <a:off x="7885113" y="3859213"/>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u</a:t>
            </a:r>
          </a:p>
        </p:txBody>
      </p:sp>
      <p:sp>
        <p:nvSpPr>
          <p:cNvPr id="16445" name="Oval 83"/>
          <p:cNvSpPr>
            <a:spLocks noChangeArrowheads="1"/>
          </p:cNvSpPr>
          <p:nvPr/>
        </p:nvSpPr>
        <p:spPr bwMode="auto">
          <a:xfrm>
            <a:off x="8316913" y="3571875"/>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v</a:t>
            </a:r>
          </a:p>
        </p:txBody>
      </p:sp>
      <p:sp>
        <p:nvSpPr>
          <p:cNvPr id="16446" name="Line 85"/>
          <p:cNvSpPr>
            <a:spLocks noChangeShapeType="1"/>
          </p:cNvSpPr>
          <p:nvPr/>
        </p:nvSpPr>
        <p:spPr bwMode="auto">
          <a:xfrm flipH="1">
            <a:off x="8101013" y="3716338"/>
            <a:ext cx="21590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47" name="Line 86"/>
          <p:cNvSpPr>
            <a:spLocks noChangeShapeType="1"/>
          </p:cNvSpPr>
          <p:nvPr/>
        </p:nvSpPr>
        <p:spPr bwMode="auto">
          <a:xfrm>
            <a:off x="8459788" y="3787775"/>
            <a:ext cx="217487" cy="4333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48" name="Line 87"/>
          <p:cNvSpPr>
            <a:spLocks noChangeShapeType="1"/>
          </p:cNvSpPr>
          <p:nvPr/>
        </p:nvSpPr>
        <p:spPr bwMode="auto">
          <a:xfrm>
            <a:off x="8027988" y="4075113"/>
            <a:ext cx="144462" cy="2174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49" name="Line 88"/>
          <p:cNvSpPr>
            <a:spLocks noChangeShapeType="1"/>
          </p:cNvSpPr>
          <p:nvPr/>
        </p:nvSpPr>
        <p:spPr bwMode="auto">
          <a:xfrm flipH="1">
            <a:off x="7764463" y="4075113"/>
            <a:ext cx="192087" cy="2174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50" name="Text Box 89"/>
          <p:cNvSpPr txBox="1">
            <a:spLocks noChangeArrowheads="1"/>
          </p:cNvSpPr>
          <p:nvPr/>
        </p:nvSpPr>
        <p:spPr bwMode="auto">
          <a:xfrm>
            <a:off x="7524750" y="3709988"/>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E</a:t>
            </a:r>
          </a:p>
        </p:txBody>
      </p:sp>
      <p:sp>
        <p:nvSpPr>
          <p:cNvPr id="16451" name="Text Box 90"/>
          <p:cNvSpPr txBox="1">
            <a:spLocks noChangeArrowheads="1"/>
          </p:cNvSpPr>
          <p:nvPr/>
        </p:nvSpPr>
        <p:spPr bwMode="auto">
          <a:xfrm>
            <a:off x="8556625" y="3284538"/>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E</a:t>
            </a:r>
          </a:p>
        </p:txBody>
      </p:sp>
      <p:sp>
        <p:nvSpPr>
          <p:cNvPr id="16452" name="AutoShape 91"/>
          <p:cNvSpPr>
            <a:spLocks noChangeArrowheads="1"/>
          </p:cNvSpPr>
          <p:nvPr/>
        </p:nvSpPr>
        <p:spPr bwMode="auto">
          <a:xfrm>
            <a:off x="8556625" y="4221163"/>
            <a:ext cx="287338" cy="936625"/>
          </a:xfrm>
          <a:prstGeom prst="triangle">
            <a:avLst>
              <a:gd name="adj" fmla="val 50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53" name="Line 92"/>
          <p:cNvSpPr>
            <a:spLocks noChangeShapeType="1"/>
          </p:cNvSpPr>
          <p:nvPr/>
        </p:nvSpPr>
        <p:spPr bwMode="auto">
          <a:xfrm>
            <a:off x="7620000" y="5229225"/>
            <a:ext cx="1223963" cy="0"/>
          </a:xfrm>
          <a:prstGeom prst="line">
            <a:avLst/>
          </a:prstGeom>
          <a:noFill/>
          <a:ln w="95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54" name="AutoShape 93"/>
          <p:cNvSpPr>
            <a:spLocks noChangeArrowheads="1"/>
          </p:cNvSpPr>
          <p:nvPr/>
        </p:nvSpPr>
        <p:spPr bwMode="auto">
          <a:xfrm>
            <a:off x="7620000" y="4292600"/>
            <a:ext cx="287338" cy="865188"/>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55" name="AutoShape 94"/>
          <p:cNvSpPr>
            <a:spLocks noChangeArrowheads="1"/>
          </p:cNvSpPr>
          <p:nvPr/>
        </p:nvSpPr>
        <p:spPr bwMode="auto">
          <a:xfrm>
            <a:off x="7620000" y="4292600"/>
            <a:ext cx="287338" cy="936625"/>
          </a:xfrm>
          <a:prstGeom prst="triangle">
            <a:avLst>
              <a:gd name="adj" fmla="val 50000"/>
            </a:avLst>
          </a:prstGeom>
          <a:noFill/>
          <a:ln w="9525">
            <a:solidFill>
              <a:schemeClr val="tx1"/>
            </a:solidFill>
            <a:prstDash val="sysDot"/>
            <a:miter lim="800000"/>
            <a:headEnd/>
            <a:tailEnd/>
          </a:ln>
          <a:effectLst/>
          <a:extLst>
            <a:ext uri="{909E8E84-426E-40DD-AFC4-6F175D3DCCD1}">
              <a14:hiddenFill xmlns:a14="http://schemas.microsoft.com/office/drawing/2010/main">
                <a:solidFill>
                  <a:srgbClr val="008000"/>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56" name="AutoShape 96"/>
          <p:cNvSpPr>
            <a:spLocks noChangeArrowheads="1"/>
          </p:cNvSpPr>
          <p:nvPr/>
        </p:nvSpPr>
        <p:spPr bwMode="auto">
          <a:xfrm>
            <a:off x="6084888" y="4292600"/>
            <a:ext cx="287337" cy="865188"/>
          </a:xfrm>
          <a:prstGeom prst="triangle">
            <a:avLst>
              <a:gd name="adj" fmla="val 50000"/>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57" name="AutoShape 97"/>
          <p:cNvSpPr>
            <a:spLocks noChangeArrowheads="1"/>
          </p:cNvSpPr>
          <p:nvPr/>
        </p:nvSpPr>
        <p:spPr bwMode="auto">
          <a:xfrm>
            <a:off x="8029575" y="4292600"/>
            <a:ext cx="287338" cy="865188"/>
          </a:xfrm>
          <a:prstGeom prst="triangle">
            <a:avLst>
              <a:gd name="adj" fmla="val 50000"/>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58" name="Oval 98"/>
          <p:cNvSpPr>
            <a:spLocks noChangeArrowheads="1"/>
          </p:cNvSpPr>
          <p:nvPr/>
        </p:nvSpPr>
        <p:spPr bwMode="auto">
          <a:xfrm>
            <a:off x="1149350" y="472440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u</a:t>
            </a:r>
          </a:p>
        </p:txBody>
      </p:sp>
      <p:sp>
        <p:nvSpPr>
          <p:cNvPr id="16459" name="Oval 99"/>
          <p:cNvSpPr>
            <a:spLocks noChangeArrowheads="1"/>
          </p:cNvSpPr>
          <p:nvPr/>
        </p:nvSpPr>
        <p:spPr bwMode="auto">
          <a:xfrm>
            <a:off x="1117600" y="518160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w</a:t>
            </a:r>
          </a:p>
        </p:txBody>
      </p:sp>
      <p:sp>
        <p:nvSpPr>
          <p:cNvPr id="16460" name="AutoShape 100"/>
          <p:cNvSpPr>
            <a:spLocks noChangeArrowheads="1"/>
          </p:cNvSpPr>
          <p:nvPr/>
        </p:nvSpPr>
        <p:spPr bwMode="auto">
          <a:xfrm>
            <a:off x="392113" y="5443538"/>
            <a:ext cx="292100" cy="1081087"/>
          </a:xfrm>
          <a:prstGeom prst="triangle">
            <a:avLst>
              <a:gd name="adj" fmla="val 50000"/>
            </a:avLst>
          </a:prstGeom>
          <a:noFill/>
          <a:ln w="9525">
            <a:solidFill>
              <a:schemeClr val="tx1"/>
            </a:solidFill>
            <a:prstDash val="sysDot"/>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61" name="Line 102"/>
          <p:cNvSpPr>
            <a:spLocks noChangeShapeType="1"/>
          </p:cNvSpPr>
          <p:nvPr/>
        </p:nvSpPr>
        <p:spPr bwMode="auto">
          <a:xfrm flipH="1">
            <a:off x="1042988" y="5373688"/>
            <a:ext cx="144462" cy="239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62" name="Line 103"/>
          <p:cNvSpPr>
            <a:spLocks noChangeShapeType="1"/>
          </p:cNvSpPr>
          <p:nvPr/>
        </p:nvSpPr>
        <p:spPr bwMode="auto">
          <a:xfrm>
            <a:off x="1262063" y="5397500"/>
            <a:ext cx="141287" cy="1920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63" name="Line 104"/>
          <p:cNvSpPr>
            <a:spLocks noChangeShapeType="1"/>
          </p:cNvSpPr>
          <p:nvPr/>
        </p:nvSpPr>
        <p:spPr bwMode="auto">
          <a:xfrm>
            <a:off x="1763713" y="5157788"/>
            <a:ext cx="144462"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64" name="AutoShape 105"/>
          <p:cNvSpPr>
            <a:spLocks noChangeArrowheads="1"/>
          </p:cNvSpPr>
          <p:nvPr/>
        </p:nvSpPr>
        <p:spPr bwMode="auto">
          <a:xfrm>
            <a:off x="392113" y="5514975"/>
            <a:ext cx="292100" cy="936625"/>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65" name="Line 106"/>
          <p:cNvSpPr>
            <a:spLocks noChangeShapeType="1"/>
          </p:cNvSpPr>
          <p:nvPr/>
        </p:nvSpPr>
        <p:spPr bwMode="auto">
          <a:xfrm flipH="1" flipV="1">
            <a:off x="1331913" y="4867275"/>
            <a:ext cx="287337" cy="1460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66" name="Text Box 107"/>
          <p:cNvSpPr txBox="1">
            <a:spLocks noChangeArrowheads="1"/>
          </p:cNvSpPr>
          <p:nvPr/>
        </p:nvSpPr>
        <p:spPr bwMode="auto">
          <a:xfrm>
            <a:off x="850900" y="5084763"/>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E</a:t>
            </a:r>
          </a:p>
        </p:txBody>
      </p:sp>
      <p:sp>
        <p:nvSpPr>
          <p:cNvPr id="16467" name="Text Box 108"/>
          <p:cNvSpPr txBox="1">
            <a:spLocks noChangeArrowheads="1"/>
          </p:cNvSpPr>
          <p:nvPr/>
        </p:nvSpPr>
        <p:spPr bwMode="auto">
          <a:xfrm>
            <a:off x="1884363" y="486251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L</a:t>
            </a:r>
          </a:p>
        </p:txBody>
      </p:sp>
      <p:sp>
        <p:nvSpPr>
          <p:cNvPr id="16468" name="AutoShape 109"/>
          <p:cNvSpPr>
            <a:spLocks noChangeArrowheads="1"/>
          </p:cNvSpPr>
          <p:nvPr/>
        </p:nvSpPr>
        <p:spPr bwMode="auto">
          <a:xfrm>
            <a:off x="898525" y="5588000"/>
            <a:ext cx="288925" cy="1009650"/>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69" name="Oval 110"/>
          <p:cNvSpPr>
            <a:spLocks noChangeArrowheads="1"/>
          </p:cNvSpPr>
          <p:nvPr/>
        </p:nvSpPr>
        <p:spPr bwMode="auto">
          <a:xfrm>
            <a:off x="1619250" y="494188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v</a:t>
            </a:r>
          </a:p>
        </p:txBody>
      </p:sp>
      <p:sp>
        <p:nvSpPr>
          <p:cNvPr id="16470" name="Line 111"/>
          <p:cNvSpPr>
            <a:spLocks noChangeShapeType="1"/>
          </p:cNvSpPr>
          <p:nvPr/>
        </p:nvSpPr>
        <p:spPr bwMode="auto">
          <a:xfrm flipH="1">
            <a:off x="539750" y="4868863"/>
            <a:ext cx="647700" cy="5762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71" name="AutoShape 112"/>
          <p:cNvSpPr>
            <a:spLocks noChangeArrowheads="1"/>
          </p:cNvSpPr>
          <p:nvPr/>
        </p:nvSpPr>
        <p:spPr bwMode="auto">
          <a:xfrm>
            <a:off x="1762125" y="5514975"/>
            <a:ext cx="288925" cy="1009650"/>
          </a:xfrm>
          <a:prstGeom prst="triangle">
            <a:avLst>
              <a:gd name="adj" fmla="val 50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72" name="Text Box 113"/>
          <p:cNvSpPr txBox="1">
            <a:spLocks noChangeArrowheads="1"/>
          </p:cNvSpPr>
          <p:nvPr/>
        </p:nvSpPr>
        <p:spPr bwMode="auto">
          <a:xfrm>
            <a:off x="766763" y="4652963"/>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R</a:t>
            </a:r>
          </a:p>
        </p:txBody>
      </p:sp>
      <p:sp>
        <p:nvSpPr>
          <p:cNvPr id="16473" name="Line 114"/>
          <p:cNvSpPr>
            <a:spLocks noChangeShapeType="1"/>
          </p:cNvSpPr>
          <p:nvPr/>
        </p:nvSpPr>
        <p:spPr bwMode="auto">
          <a:xfrm flipH="1">
            <a:off x="1331913" y="5084763"/>
            <a:ext cx="287337"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74" name="Line 118"/>
          <p:cNvSpPr>
            <a:spLocks noChangeShapeType="1"/>
          </p:cNvSpPr>
          <p:nvPr/>
        </p:nvSpPr>
        <p:spPr bwMode="auto">
          <a:xfrm>
            <a:off x="323850" y="6604000"/>
            <a:ext cx="1944688" cy="0"/>
          </a:xfrm>
          <a:prstGeom prst="line">
            <a:avLst/>
          </a:prstGeom>
          <a:noFill/>
          <a:ln w="95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75" name="AutoShape 120"/>
          <p:cNvSpPr>
            <a:spLocks noChangeArrowheads="1"/>
          </p:cNvSpPr>
          <p:nvPr/>
        </p:nvSpPr>
        <p:spPr bwMode="auto">
          <a:xfrm>
            <a:off x="1258888" y="5589588"/>
            <a:ext cx="288925" cy="1009650"/>
          </a:xfrm>
          <a:prstGeom prst="triangle">
            <a:avLst>
              <a:gd name="adj" fmla="val 50000"/>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76" name="Line 121"/>
          <p:cNvSpPr>
            <a:spLocks noChangeShapeType="1"/>
          </p:cNvSpPr>
          <p:nvPr/>
        </p:nvSpPr>
        <p:spPr bwMode="auto">
          <a:xfrm>
            <a:off x="2698750" y="6530975"/>
            <a:ext cx="1944688" cy="0"/>
          </a:xfrm>
          <a:prstGeom prst="line">
            <a:avLst/>
          </a:prstGeom>
          <a:noFill/>
          <a:ln w="95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77" name="Oval 122"/>
          <p:cNvSpPr>
            <a:spLocks noChangeArrowheads="1"/>
          </p:cNvSpPr>
          <p:nvPr/>
        </p:nvSpPr>
        <p:spPr bwMode="auto">
          <a:xfrm>
            <a:off x="3132138" y="5157788"/>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u</a:t>
            </a:r>
          </a:p>
        </p:txBody>
      </p:sp>
      <p:sp>
        <p:nvSpPr>
          <p:cNvPr id="16478" name="Oval 123"/>
          <p:cNvSpPr>
            <a:spLocks noChangeArrowheads="1"/>
          </p:cNvSpPr>
          <p:nvPr/>
        </p:nvSpPr>
        <p:spPr bwMode="auto">
          <a:xfrm>
            <a:off x="3995738" y="5181600"/>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ja-JP">
                <a:latin typeface="Arial" charset="0"/>
                <a:ea typeface="ＭＳ Ｐゴシック" charset="0"/>
                <a:cs typeface="ＭＳ Ｐゴシック" charset="0"/>
              </a:rPr>
              <a:t>v</a:t>
            </a:r>
          </a:p>
        </p:txBody>
      </p:sp>
      <p:sp>
        <p:nvSpPr>
          <p:cNvPr id="16479" name="Line 125"/>
          <p:cNvSpPr>
            <a:spLocks noChangeShapeType="1"/>
          </p:cNvSpPr>
          <p:nvPr/>
        </p:nvSpPr>
        <p:spPr bwMode="auto">
          <a:xfrm flipH="1">
            <a:off x="3348038" y="4941888"/>
            <a:ext cx="287337" cy="239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80" name="Line 126"/>
          <p:cNvSpPr>
            <a:spLocks noChangeShapeType="1"/>
          </p:cNvSpPr>
          <p:nvPr/>
        </p:nvSpPr>
        <p:spPr bwMode="auto">
          <a:xfrm flipH="1">
            <a:off x="3851275" y="5373688"/>
            <a:ext cx="21590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81" name="Line 127"/>
          <p:cNvSpPr>
            <a:spLocks noChangeShapeType="1"/>
          </p:cNvSpPr>
          <p:nvPr/>
        </p:nvSpPr>
        <p:spPr bwMode="auto">
          <a:xfrm>
            <a:off x="4140200" y="5373688"/>
            <a:ext cx="21590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82" name="Line 129"/>
          <p:cNvSpPr>
            <a:spLocks noChangeShapeType="1"/>
          </p:cNvSpPr>
          <p:nvPr/>
        </p:nvSpPr>
        <p:spPr bwMode="auto">
          <a:xfrm flipH="1" flipV="1">
            <a:off x="3779838" y="4941888"/>
            <a:ext cx="287337"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83" name="Text Box 130"/>
          <p:cNvSpPr txBox="1">
            <a:spLocks noChangeArrowheads="1"/>
          </p:cNvSpPr>
          <p:nvPr/>
        </p:nvSpPr>
        <p:spPr bwMode="auto">
          <a:xfrm>
            <a:off x="2843213" y="5084763"/>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E</a:t>
            </a:r>
          </a:p>
        </p:txBody>
      </p:sp>
      <p:sp>
        <p:nvSpPr>
          <p:cNvPr id="16484" name="Text Box 131"/>
          <p:cNvSpPr txBox="1">
            <a:spLocks noChangeArrowheads="1"/>
          </p:cNvSpPr>
          <p:nvPr/>
        </p:nvSpPr>
        <p:spPr bwMode="auto">
          <a:xfrm>
            <a:off x="4260850" y="5149850"/>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E</a:t>
            </a:r>
          </a:p>
        </p:txBody>
      </p:sp>
      <p:sp>
        <p:nvSpPr>
          <p:cNvPr id="16485" name="AutoShape 132"/>
          <p:cNvSpPr>
            <a:spLocks noChangeArrowheads="1"/>
          </p:cNvSpPr>
          <p:nvPr/>
        </p:nvSpPr>
        <p:spPr bwMode="auto">
          <a:xfrm>
            <a:off x="3348038" y="5516563"/>
            <a:ext cx="288925" cy="1009650"/>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86" name="Oval 133"/>
          <p:cNvSpPr>
            <a:spLocks noChangeArrowheads="1"/>
          </p:cNvSpPr>
          <p:nvPr/>
        </p:nvSpPr>
        <p:spPr bwMode="auto">
          <a:xfrm>
            <a:off x="3635375" y="4797425"/>
            <a:ext cx="215900" cy="215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ja-JP">
              <a:latin typeface="Arial" charset="0"/>
              <a:ea typeface="ＭＳ Ｐゴシック" charset="0"/>
              <a:cs typeface="ＭＳ Ｐゴシック" charset="0"/>
            </a:endParaRPr>
          </a:p>
        </p:txBody>
      </p:sp>
      <p:sp>
        <p:nvSpPr>
          <p:cNvPr id="16487" name="Line 134"/>
          <p:cNvSpPr>
            <a:spLocks noChangeShapeType="1"/>
          </p:cNvSpPr>
          <p:nvPr/>
        </p:nvSpPr>
        <p:spPr bwMode="auto">
          <a:xfrm flipH="1">
            <a:off x="2987675" y="5373688"/>
            <a:ext cx="21590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88" name="AutoShape 135"/>
          <p:cNvSpPr>
            <a:spLocks noChangeArrowheads="1"/>
          </p:cNvSpPr>
          <p:nvPr/>
        </p:nvSpPr>
        <p:spPr bwMode="auto">
          <a:xfrm>
            <a:off x="4210050" y="5514975"/>
            <a:ext cx="288925" cy="1009650"/>
          </a:xfrm>
          <a:prstGeom prst="triangle">
            <a:avLst>
              <a:gd name="adj" fmla="val 50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89" name="Text Box 136"/>
          <p:cNvSpPr txBox="1">
            <a:spLocks noChangeArrowheads="1"/>
          </p:cNvSpPr>
          <p:nvPr/>
        </p:nvSpPr>
        <p:spPr bwMode="auto">
          <a:xfrm>
            <a:off x="3298825" y="4718050"/>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E</a:t>
            </a:r>
          </a:p>
        </p:txBody>
      </p:sp>
      <p:sp>
        <p:nvSpPr>
          <p:cNvPr id="16490" name="Line 138"/>
          <p:cNvSpPr>
            <a:spLocks noChangeShapeType="1"/>
          </p:cNvSpPr>
          <p:nvPr/>
        </p:nvSpPr>
        <p:spPr bwMode="auto">
          <a:xfrm>
            <a:off x="2771775" y="6604000"/>
            <a:ext cx="1944688" cy="0"/>
          </a:xfrm>
          <a:prstGeom prst="line">
            <a:avLst/>
          </a:prstGeom>
          <a:noFill/>
          <a:ln w="95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91" name="AutoShape 139"/>
          <p:cNvSpPr>
            <a:spLocks noChangeArrowheads="1"/>
          </p:cNvSpPr>
          <p:nvPr/>
        </p:nvSpPr>
        <p:spPr bwMode="auto">
          <a:xfrm>
            <a:off x="3706813" y="5516563"/>
            <a:ext cx="288925" cy="1009650"/>
          </a:xfrm>
          <a:prstGeom prst="triangle">
            <a:avLst>
              <a:gd name="adj" fmla="val 50000"/>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92" name="Line 140"/>
          <p:cNvSpPr>
            <a:spLocks noChangeShapeType="1"/>
          </p:cNvSpPr>
          <p:nvPr/>
        </p:nvSpPr>
        <p:spPr bwMode="auto">
          <a:xfrm>
            <a:off x="3278188" y="5373688"/>
            <a:ext cx="214312"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6493" name="AutoShape 141"/>
          <p:cNvSpPr>
            <a:spLocks noChangeArrowheads="1"/>
          </p:cNvSpPr>
          <p:nvPr/>
        </p:nvSpPr>
        <p:spPr bwMode="auto">
          <a:xfrm>
            <a:off x="2843213" y="5588000"/>
            <a:ext cx="292100" cy="936625"/>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94" name="AutoShape 142"/>
          <p:cNvSpPr>
            <a:spLocks noChangeArrowheads="1"/>
          </p:cNvSpPr>
          <p:nvPr/>
        </p:nvSpPr>
        <p:spPr bwMode="auto">
          <a:xfrm>
            <a:off x="2840038" y="5516563"/>
            <a:ext cx="292100" cy="1081087"/>
          </a:xfrm>
          <a:prstGeom prst="triangle">
            <a:avLst>
              <a:gd name="adj" fmla="val 50000"/>
            </a:avLst>
          </a:prstGeom>
          <a:noFill/>
          <a:ln w="9525">
            <a:solidFill>
              <a:schemeClr val="tx1"/>
            </a:solidFill>
            <a:prstDash val="sysDot"/>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6495" name="AutoShape 143"/>
          <p:cNvSpPr>
            <a:spLocks noChangeArrowheads="1"/>
          </p:cNvSpPr>
          <p:nvPr/>
        </p:nvSpPr>
        <p:spPr bwMode="auto">
          <a:xfrm>
            <a:off x="2268538" y="5446713"/>
            <a:ext cx="431800" cy="503237"/>
          </a:xfrm>
          <a:prstGeom prst="right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ja-JP" altLang="en-US" sz="1600">
                <a:latin typeface="Arial" charset="0"/>
                <a:ea typeface="ＭＳ Ｐゴシック" charset="0"/>
                <a:cs typeface="ＭＳ Ｐゴシック" charset="0"/>
              </a:rPr>
              <a:t>回転</a:t>
            </a:r>
          </a:p>
        </p:txBody>
      </p:sp>
      <p:sp>
        <p:nvSpPr>
          <p:cNvPr id="16496" name="Text Box 146"/>
          <p:cNvSpPr txBox="1">
            <a:spLocks noChangeArrowheads="1"/>
          </p:cNvSpPr>
          <p:nvPr/>
        </p:nvSpPr>
        <p:spPr bwMode="auto">
          <a:xfrm>
            <a:off x="3575050" y="4724400"/>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w</a:t>
            </a:r>
          </a:p>
        </p:txBody>
      </p:sp>
      <p:sp>
        <p:nvSpPr>
          <p:cNvPr id="16497" name="Text Box 147"/>
          <p:cNvSpPr txBox="1">
            <a:spLocks noChangeArrowheads="1"/>
          </p:cNvSpPr>
          <p:nvPr/>
        </p:nvSpPr>
        <p:spPr bwMode="auto">
          <a:xfrm>
            <a:off x="7540625" y="3021013"/>
            <a:ext cx="1352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z="1600" smtClean="0"/>
              <a:t>高さ変化せず</a:t>
            </a:r>
          </a:p>
        </p:txBody>
      </p:sp>
      <p:sp>
        <p:nvSpPr>
          <p:cNvPr id="16498" name="Text Box 148"/>
          <p:cNvSpPr txBox="1">
            <a:spLocks noChangeArrowheads="1"/>
          </p:cNvSpPr>
          <p:nvPr/>
        </p:nvSpPr>
        <p:spPr bwMode="auto">
          <a:xfrm>
            <a:off x="7596188" y="5253038"/>
            <a:ext cx="10890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z="1600" smtClean="0"/>
              <a:t>高さ１減少</a:t>
            </a:r>
          </a:p>
        </p:txBody>
      </p:sp>
      <p:sp>
        <p:nvSpPr>
          <p:cNvPr id="16499" name="Text Box 149"/>
          <p:cNvSpPr txBox="1">
            <a:spLocks noChangeArrowheads="1"/>
          </p:cNvSpPr>
          <p:nvPr/>
        </p:nvSpPr>
        <p:spPr bwMode="auto">
          <a:xfrm>
            <a:off x="4643438" y="5949950"/>
            <a:ext cx="10890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z="1600" smtClean="0"/>
              <a:t>高さ１減少</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スライド番号プレースホルダー 4"/>
          <p:cNvSpPr>
            <a:spLocks noGrp="1"/>
          </p:cNvSpPr>
          <p:nvPr>
            <p:ph type="sldNum" sz="quarter" idx="12"/>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fld id="{6F1B2A31-535E-4D2B-9CC8-35981E5A0460}" type="slidenum">
              <a:rPr kumimoji="0" lang="en-US" altLang="ja-JP" sz="1200">
                <a:latin typeface="Arial Black" pitchFamily="34" charset="0"/>
              </a:rPr>
              <a:pPr/>
              <a:t>16</a:t>
            </a:fld>
            <a:endParaRPr kumimoji="0" lang="en-US" altLang="ja-JP" sz="1200">
              <a:latin typeface="Arial Black" pitchFamily="34" charset="0"/>
            </a:endParaRPr>
          </a:p>
        </p:txBody>
      </p:sp>
      <p:sp>
        <p:nvSpPr>
          <p:cNvPr id="17413" name="Rectangle 2"/>
          <p:cNvSpPr>
            <a:spLocks noGrp="1" noChangeArrowheads="1"/>
          </p:cNvSpPr>
          <p:nvPr>
            <p:ph type="title"/>
          </p:nvPr>
        </p:nvSpPr>
        <p:spPr>
          <a:xfrm>
            <a:off x="2447925" y="-17463"/>
            <a:ext cx="8604250" cy="1143001"/>
          </a:xfrm>
        </p:spPr>
        <p:txBody>
          <a:bodyPr/>
          <a:lstStyle/>
          <a:p>
            <a:pPr eaLnBrk="1" hangingPunct="1">
              <a:defRPr/>
            </a:pPr>
            <a:r>
              <a:rPr lang="en-US" altLang="ja-JP" sz="2800"/>
              <a:t>n</a:t>
            </a:r>
            <a:r>
              <a:rPr lang="ja-JP" altLang="en-US" sz="2800"/>
              <a:t>要素の</a:t>
            </a:r>
            <a:r>
              <a:rPr lang="en-US" altLang="ja-JP" sz="2800"/>
              <a:t>AVL</a:t>
            </a:r>
            <a:r>
              <a:rPr lang="ja-JP" altLang="en-US" sz="2800"/>
              <a:t>木に対する操作の時間計算量</a:t>
            </a:r>
          </a:p>
        </p:txBody>
      </p:sp>
      <p:sp>
        <p:nvSpPr>
          <p:cNvPr id="17414" name="Text Box 3"/>
          <p:cNvSpPr txBox="1">
            <a:spLocks noChangeArrowheads="1"/>
          </p:cNvSpPr>
          <p:nvPr/>
        </p:nvSpPr>
        <p:spPr bwMode="auto">
          <a:xfrm>
            <a:off x="250825" y="765175"/>
            <a:ext cx="7669213"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z="2000" smtClean="0"/>
              <a:t>n</a:t>
            </a:r>
            <a:r>
              <a:rPr lang="ja-JP" altLang="en-US" sz="2000" smtClean="0"/>
              <a:t>要素の</a:t>
            </a:r>
            <a:r>
              <a:rPr lang="en-US" altLang="ja-JP" sz="2000" smtClean="0"/>
              <a:t>AVL</a:t>
            </a:r>
            <a:r>
              <a:rPr lang="ja-JP" altLang="en-US" sz="2000" smtClean="0"/>
              <a:t>木に対する</a:t>
            </a:r>
            <a:r>
              <a:rPr lang="en-US" altLang="ja-JP" sz="2000" smtClean="0"/>
              <a:t>member(x,S), insert(x,S), delete(x,S)</a:t>
            </a:r>
            <a:r>
              <a:rPr lang="ja-JP" altLang="en-US" sz="2000" smtClean="0"/>
              <a:t>操作の</a:t>
            </a:r>
          </a:p>
          <a:p>
            <a:pPr eaLnBrk="1" hangingPunct="1">
              <a:defRPr/>
            </a:pPr>
            <a:r>
              <a:rPr lang="ja-JP" altLang="en-US" sz="2000" smtClean="0"/>
              <a:t>計算時間は、</a:t>
            </a:r>
          </a:p>
          <a:p>
            <a:pPr eaLnBrk="1" hangingPunct="1">
              <a:defRPr/>
            </a:pPr>
            <a:r>
              <a:rPr lang="ja-JP" altLang="en-US" sz="2000" smtClean="0"/>
              <a:t>　　  </a:t>
            </a:r>
          </a:p>
        </p:txBody>
      </p:sp>
      <p:sp>
        <p:nvSpPr>
          <p:cNvPr id="17415" name="Text Box 8"/>
          <p:cNvSpPr txBox="1">
            <a:spLocks noChangeArrowheads="1"/>
          </p:cNvSpPr>
          <p:nvPr/>
        </p:nvSpPr>
        <p:spPr bwMode="auto">
          <a:xfrm>
            <a:off x="841375" y="1482725"/>
            <a:ext cx="3114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z="2000" b="1" smtClean="0">
                <a:solidFill>
                  <a:srgbClr val="FF3300"/>
                </a:solidFill>
              </a:rPr>
              <a:t>最悪時間計算量　</a:t>
            </a:r>
            <a:r>
              <a:rPr lang="en-US" altLang="ja-JP" sz="2000" b="1" smtClean="0">
                <a:solidFill>
                  <a:srgbClr val="FF3300"/>
                </a:solidFill>
              </a:rPr>
              <a:t>O(log n)</a:t>
            </a:r>
          </a:p>
        </p:txBody>
      </p:sp>
      <p:sp>
        <p:nvSpPr>
          <p:cNvPr id="17416" name="Text Box 32"/>
          <p:cNvSpPr txBox="1">
            <a:spLocks noChangeArrowheads="1"/>
          </p:cNvSpPr>
          <p:nvPr/>
        </p:nvSpPr>
        <p:spPr bwMode="auto">
          <a:xfrm>
            <a:off x="865188" y="1843088"/>
            <a:ext cx="19732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z="2000" b="1" smtClean="0"/>
              <a:t>平均時間計算量</a:t>
            </a:r>
          </a:p>
        </p:txBody>
      </p:sp>
      <p:sp>
        <p:nvSpPr>
          <p:cNvPr id="17417" name="Text Box 33"/>
          <p:cNvSpPr txBox="1">
            <a:spLocks noChangeArrowheads="1"/>
          </p:cNvSpPr>
          <p:nvPr/>
        </p:nvSpPr>
        <p:spPr bwMode="auto">
          <a:xfrm>
            <a:off x="2863850" y="1855788"/>
            <a:ext cx="1060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b="1" smtClean="0"/>
              <a:t>O(log n)</a:t>
            </a:r>
          </a:p>
        </p:txBody>
      </p:sp>
      <p:sp>
        <p:nvSpPr>
          <p:cNvPr id="17418" name="Line 35"/>
          <p:cNvSpPr>
            <a:spLocks noChangeShapeType="1"/>
          </p:cNvSpPr>
          <p:nvPr/>
        </p:nvSpPr>
        <p:spPr bwMode="auto">
          <a:xfrm flipH="1">
            <a:off x="3924300" y="1698625"/>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7419" name="Text Box 36"/>
          <p:cNvSpPr txBox="1">
            <a:spLocks noChangeArrowheads="1"/>
          </p:cNvSpPr>
          <p:nvPr/>
        </p:nvSpPr>
        <p:spPr bwMode="auto">
          <a:xfrm>
            <a:off x="4335463" y="1503363"/>
            <a:ext cx="33432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solidFill>
                  <a:schemeClr val="bg2"/>
                </a:solidFill>
              </a:rPr>
              <a:t>n</a:t>
            </a:r>
            <a:r>
              <a:rPr lang="ja-JP" altLang="en-US" smtClean="0">
                <a:solidFill>
                  <a:schemeClr val="bg2"/>
                </a:solidFill>
              </a:rPr>
              <a:t>節点の</a:t>
            </a:r>
            <a:r>
              <a:rPr lang="en-US" altLang="ja-JP" smtClean="0">
                <a:solidFill>
                  <a:schemeClr val="bg2"/>
                </a:solidFill>
              </a:rPr>
              <a:t>AVL</a:t>
            </a:r>
            <a:r>
              <a:rPr lang="ja-JP" altLang="en-US" smtClean="0">
                <a:solidFill>
                  <a:schemeClr val="bg2"/>
                </a:solidFill>
              </a:rPr>
              <a:t>木の高さは</a:t>
            </a:r>
            <a:r>
              <a:rPr lang="en-US" altLang="ja-JP" smtClean="0">
                <a:solidFill>
                  <a:schemeClr val="bg2"/>
                </a:solidFill>
              </a:rPr>
              <a:t>O(log n)</a:t>
            </a:r>
          </a:p>
        </p:txBody>
      </p:sp>
      <p:sp>
        <p:nvSpPr>
          <p:cNvPr id="17420" name="Text Box 37"/>
          <p:cNvSpPr txBox="1">
            <a:spLocks noChangeArrowheads="1"/>
          </p:cNvSpPr>
          <p:nvPr/>
        </p:nvSpPr>
        <p:spPr bwMode="auto">
          <a:xfrm>
            <a:off x="376238" y="2366963"/>
            <a:ext cx="4579937" cy="418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r>
              <a:rPr lang="en-US" altLang="ja-JP" sz="1800" b="1">
                <a:solidFill>
                  <a:srgbClr val="FF3300"/>
                </a:solidFill>
              </a:rPr>
              <a:t>[n</a:t>
            </a:r>
            <a:r>
              <a:rPr lang="ja-JP" altLang="en-US" sz="1800" b="1">
                <a:solidFill>
                  <a:srgbClr val="FF3300"/>
                </a:solidFill>
              </a:rPr>
              <a:t>節点の</a:t>
            </a:r>
            <a:r>
              <a:rPr lang="en-US" altLang="ja-JP" sz="1800" b="1">
                <a:solidFill>
                  <a:srgbClr val="FF3300"/>
                </a:solidFill>
              </a:rPr>
              <a:t>AVL</a:t>
            </a:r>
            <a:r>
              <a:rPr lang="ja-JP" altLang="en-US" sz="1800" b="1">
                <a:solidFill>
                  <a:srgbClr val="FF3300"/>
                </a:solidFill>
              </a:rPr>
              <a:t>木の高さは</a:t>
            </a:r>
            <a:r>
              <a:rPr lang="en-US" altLang="ja-JP" sz="1800" b="1">
                <a:solidFill>
                  <a:srgbClr val="FF3300"/>
                </a:solidFill>
              </a:rPr>
              <a:t>O(log n)</a:t>
            </a:r>
            <a:r>
              <a:rPr lang="ja-JP" altLang="en-US" sz="1800" b="1">
                <a:solidFill>
                  <a:srgbClr val="FF3300"/>
                </a:solidFill>
              </a:rPr>
              <a:t>の証明</a:t>
            </a:r>
            <a:r>
              <a:rPr lang="en-US" altLang="ja-JP" sz="1800" b="1">
                <a:solidFill>
                  <a:srgbClr val="FF3300"/>
                </a:solidFill>
              </a:rPr>
              <a:t>]</a:t>
            </a:r>
          </a:p>
          <a:p>
            <a:r>
              <a:rPr lang="en-US" altLang="ja-JP" sz="1800"/>
              <a:t> f(h)</a:t>
            </a:r>
            <a:r>
              <a:rPr lang="ja-JP" altLang="en-US" sz="1800"/>
              <a:t>を高さ</a:t>
            </a:r>
            <a:r>
              <a:rPr lang="en-US" altLang="ja-JP" sz="1800"/>
              <a:t>h</a:t>
            </a:r>
            <a:r>
              <a:rPr lang="ja-JP" altLang="en-US" sz="1800"/>
              <a:t>の</a:t>
            </a:r>
            <a:r>
              <a:rPr lang="en-US" altLang="ja-JP" sz="1800"/>
              <a:t>AVL</a:t>
            </a:r>
            <a:r>
              <a:rPr lang="ja-JP" altLang="en-US" sz="1800"/>
              <a:t>木の最小節点数とすれば、</a:t>
            </a:r>
          </a:p>
          <a:p>
            <a:r>
              <a:rPr lang="ja-JP" altLang="en-US" sz="1800"/>
              <a:t> 以下の漸化式が成り立つ。</a:t>
            </a:r>
          </a:p>
          <a:p>
            <a:endParaRPr lang="ja-JP" altLang="en-US" sz="800"/>
          </a:p>
          <a:p>
            <a:r>
              <a:rPr lang="ja-JP" altLang="en-US" sz="1800"/>
              <a:t>　　　</a:t>
            </a:r>
            <a:r>
              <a:rPr lang="en-US" altLang="ja-JP" sz="1800"/>
              <a:t>f(h)=f(h-1)+f(h-2)+1,  f(0)=1, f(1)=2</a:t>
            </a:r>
          </a:p>
          <a:p>
            <a:endParaRPr lang="en-US" altLang="ja-JP" sz="800"/>
          </a:p>
          <a:p>
            <a:r>
              <a:rPr lang="en-US" altLang="ja-JP" sz="1800"/>
              <a:t>  F(h)=f(h)+1</a:t>
            </a:r>
            <a:r>
              <a:rPr lang="ja-JP" altLang="en-US" sz="1800"/>
              <a:t>とすれば</a:t>
            </a:r>
          </a:p>
          <a:p>
            <a:endParaRPr lang="ja-JP" altLang="en-US" sz="800"/>
          </a:p>
          <a:p>
            <a:r>
              <a:rPr lang="ja-JP" altLang="en-US" sz="1800"/>
              <a:t>　　　</a:t>
            </a:r>
            <a:r>
              <a:rPr lang="en-US" altLang="ja-JP" sz="1800"/>
              <a:t>F(h)=F(h-1)+F(h-2),  F(0)=2,  F(1)=3</a:t>
            </a:r>
          </a:p>
          <a:p>
            <a:endParaRPr lang="en-US" altLang="ja-JP" sz="800"/>
          </a:p>
          <a:p>
            <a:r>
              <a:rPr lang="en-US" altLang="ja-JP" sz="1800"/>
              <a:t>  F(h)</a:t>
            </a:r>
            <a:r>
              <a:rPr lang="ja-JP" altLang="en-US" sz="1800"/>
              <a:t>はフィボナッチ数列だから</a:t>
            </a:r>
          </a:p>
          <a:p>
            <a:endParaRPr lang="ja-JP" altLang="en-US" sz="800"/>
          </a:p>
          <a:p>
            <a:r>
              <a:rPr lang="ja-JP" altLang="en-US" sz="1800"/>
              <a:t>　　　　　　</a:t>
            </a:r>
            <a:r>
              <a:rPr lang="en-US" altLang="ja-JP" sz="1800"/>
              <a:t>F(h)=(φ</a:t>
            </a:r>
            <a:r>
              <a:rPr lang="en-US" altLang="ja-JP" sz="1800" baseline="-25000"/>
              <a:t>1</a:t>
            </a:r>
            <a:r>
              <a:rPr lang="en-US" altLang="ja-JP" sz="1800" baseline="30000"/>
              <a:t>h+3</a:t>
            </a:r>
            <a:r>
              <a:rPr lang="en-US" altLang="ja-JP" sz="1800"/>
              <a:t> – φ</a:t>
            </a:r>
            <a:r>
              <a:rPr lang="en-US" altLang="ja-JP" sz="1800" baseline="-25000"/>
              <a:t>2</a:t>
            </a:r>
            <a:r>
              <a:rPr lang="en-US" altLang="ja-JP" sz="1800" baseline="30000"/>
              <a:t>h+3</a:t>
            </a:r>
            <a:r>
              <a:rPr lang="en-US" altLang="ja-JP" sz="1800"/>
              <a:t>)/   5</a:t>
            </a:r>
          </a:p>
          <a:p>
            <a:endParaRPr lang="en-US" altLang="ja-JP" sz="800"/>
          </a:p>
          <a:p>
            <a:pPr>
              <a:lnSpc>
                <a:spcPct val="140000"/>
              </a:lnSpc>
            </a:pPr>
            <a:r>
              <a:rPr lang="en-US" altLang="ja-JP" sz="1800"/>
              <a:t>  </a:t>
            </a:r>
            <a:r>
              <a:rPr lang="ja-JP" altLang="en-US" sz="1800"/>
              <a:t>ただし、　</a:t>
            </a:r>
            <a:r>
              <a:rPr lang="en-US" altLang="ja-JP" sz="1800"/>
              <a:t>φ</a:t>
            </a:r>
            <a:r>
              <a:rPr lang="en-US" altLang="ja-JP" sz="1800" baseline="-25000"/>
              <a:t>1</a:t>
            </a:r>
            <a:r>
              <a:rPr lang="en-US" altLang="ja-JP" sz="1800"/>
              <a:t>=(1+    5)/2, φ</a:t>
            </a:r>
            <a:r>
              <a:rPr lang="en-US" altLang="ja-JP" sz="1800" baseline="-25000"/>
              <a:t>2</a:t>
            </a:r>
            <a:r>
              <a:rPr lang="en-US" altLang="ja-JP" sz="1800"/>
              <a:t>=(1-   5)/2</a:t>
            </a:r>
          </a:p>
          <a:p>
            <a:pPr>
              <a:lnSpc>
                <a:spcPct val="140000"/>
              </a:lnSpc>
            </a:pPr>
            <a:r>
              <a:rPr lang="en-US" altLang="ja-JP" sz="1800"/>
              <a:t>  </a:t>
            </a:r>
            <a:r>
              <a:rPr lang="ja-JP" altLang="en-US" sz="1800"/>
              <a:t>高さ</a:t>
            </a:r>
            <a:r>
              <a:rPr lang="en-US" altLang="ja-JP" sz="1800"/>
              <a:t>h</a:t>
            </a:r>
            <a:r>
              <a:rPr lang="ja-JP" altLang="en-US" sz="1800"/>
              <a:t>の</a:t>
            </a:r>
            <a:r>
              <a:rPr lang="en-US" altLang="ja-JP" sz="1800"/>
              <a:t>AVL</a:t>
            </a:r>
            <a:r>
              <a:rPr lang="ja-JP" altLang="en-US" sz="1800"/>
              <a:t>木の節点数を</a:t>
            </a:r>
            <a:r>
              <a:rPr lang="en-US" altLang="ja-JP" sz="1800"/>
              <a:t>n</a:t>
            </a:r>
            <a:r>
              <a:rPr lang="ja-JP" altLang="en-US" sz="1800"/>
              <a:t>とすれば、</a:t>
            </a:r>
          </a:p>
          <a:p>
            <a:endParaRPr lang="ja-JP" altLang="en-US" sz="800"/>
          </a:p>
          <a:p>
            <a:r>
              <a:rPr lang="ja-JP" altLang="en-US" sz="1800"/>
              <a:t>　　　　       </a:t>
            </a:r>
            <a:r>
              <a:rPr lang="en-US" altLang="ja-JP" sz="1800"/>
              <a:t>f(h)  ≦</a:t>
            </a:r>
            <a:r>
              <a:rPr lang="ja-JP" altLang="en-US" sz="1800"/>
              <a:t>　</a:t>
            </a:r>
            <a:r>
              <a:rPr lang="en-US" altLang="ja-JP" sz="1800"/>
              <a:t>n</a:t>
            </a:r>
          </a:p>
        </p:txBody>
      </p:sp>
      <p:grpSp>
        <p:nvGrpSpPr>
          <p:cNvPr id="30732" name="Group 41"/>
          <p:cNvGrpSpPr>
            <a:grpSpLocks/>
          </p:cNvGrpSpPr>
          <p:nvPr/>
        </p:nvGrpSpPr>
        <p:grpSpPr bwMode="auto">
          <a:xfrm>
            <a:off x="3419475" y="4941888"/>
            <a:ext cx="358775" cy="215900"/>
            <a:chOff x="3969" y="3249"/>
            <a:chExt cx="317" cy="226"/>
          </a:xfrm>
        </p:grpSpPr>
        <p:sp>
          <p:nvSpPr>
            <p:cNvPr id="17455" name="Line 38"/>
            <p:cNvSpPr>
              <a:spLocks noChangeShapeType="1"/>
            </p:cNvSpPr>
            <p:nvPr/>
          </p:nvSpPr>
          <p:spPr bwMode="auto">
            <a:xfrm>
              <a:off x="3969" y="3430"/>
              <a:ext cx="90"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7456" name="Line 39"/>
            <p:cNvSpPr>
              <a:spLocks noChangeShapeType="1"/>
            </p:cNvSpPr>
            <p:nvPr/>
          </p:nvSpPr>
          <p:spPr bwMode="auto">
            <a:xfrm flipV="1">
              <a:off x="4059" y="3249"/>
              <a:ext cx="46"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7457" name="Line 40"/>
            <p:cNvSpPr>
              <a:spLocks noChangeShapeType="1"/>
            </p:cNvSpPr>
            <p:nvPr/>
          </p:nvSpPr>
          <p:spPr bwMode="auto">
            <a:xfrm>
              <a:off x="4104" y="3249"/>
              <a:ext cx="18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grpSp>
        <p:nvGrpSpPr>
          <p:cNvPr id="30733" name="Group 42"/>
          <p:cNvGrpSpPr>
            <a:grpSpLocks/>
          </p:cNvGrpSpPr>
          <p:nvPr/>
        </p:nvGrpSpPr>
        <p:grpSpPr bwMode="auto">
          <a:xfrm>
            <a:off x="2268538" y="5445125"/>
            <a:ext cx="358775" cy="215900"/>
            <a:chOff x="3969" y="3249"/>
            <a:chExt cx="317" cy="226"/>
          </a:xfrm>
        </p:grpSpPr>
        <p:sp>
          <p:nvSpPr>
            <p:cNvPr id="17452" name="Line 43"/>
            <p:cNvSpPr>
              <a:spLocks noChangeShapeType="1"/>
            </p:cNvSpPr>
            <p:nvPr/>
          </p:nvSpPr>
          <p:spPr bwMode="auto">
            <a:xfrm>
              <a:off x="3969" y="3430"/>
              <a:ext cx="90"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7453" name="Line 44"/>
            <p:cNvSpPr>
              <a:spLocks noChangeShapeType="1"/>
            </p:cNvSpPr>
            <p:nvPr/>
          </p:nvSpPr>
          <p:spPr bwMode="auto">
            <a:xfrm flipV="1">
              <a:off x="4059" y="3249"/>
              <a:ext cx="46"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7454" name="Line 45"/>
            <p:cNvSpPr>
              <a:spLocks noChangeShapeType="1"/>
            </p:cNvSpPr>
            <p:nvPr/>
          </p:nvSpPr>
          <p:spPr bwMode="auto">
            <a:xfrm>
              <a:off x="4104" y="3249"/>
              <a:ext cx="18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grpSp>
        <p:nvGrpSpPr>
          <p:cNvPr id="30734" name="Group 46"/>
          <p:cNvGrpSpPr>
            <a:grpSpLocks/>
          </p:cNvGrpSpPr>
          <p:nvPr/>
        </p:nvGrpSpPr>
        <p:grpSpPr bwMode="auto">
          <a:xfrm>
            <a:off x="3635375" y="5445125"/>
            <a:ext cx="358775" cy="215900"/>
            <a:chOff x="3969" y="3249"/>
            <a:chExt cx="317" cy="226"/>
          </a:xfrm>
        </p:grpSpPr>
        <p:sp>
          <p:nvSpPr>
            <p:cNvPr id="17449" name="Line 47"/>
            <p:cNvSpPr>
              <a:spLocks noChangeShapeType="1"/>
            </p:cNvSpPr>
            <p:nvPr/>
          </p:nvSpPr>
          <p:spPr bwMode="auto">
            <a:xfrm>
              <a:off x="3969" y="3430"/>
              <a:ext cx="90"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7450" name="Line 48"/>
            <p:cNvSpPr>
              <a:spLocks noChangeShapeType="1"/>
            </p:cNvSpPr>
            <p:nvPr/>
          </p:nvSpPr>
          <p:spPr bwMode="auto">
            <a:xfrm flipV="1">
              <a:off x="4059" y="3249"/>
              <a:ext cx="46"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7451" name="Line 49"/>
            <p:cNvSpPr>
              <a:spLocks noChangeShapeType="1"/>
            </p:cNvSpPr>
            <p:nvPr/>
          </p:nvSpPr>
          <p:spPr bwMode="auto">
            <a:xfrm>
              <a:off x="4104" y="3249"/>
              <a:ext cx="18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sp>
        <p:nvSpPr>
          <p:cNvPr id="17424" name="Text Box 50"/>
          <p:cNvSpPr txBox="1">
            <a:spLocks noChangeArrowheads="1"/>
          </p:cNvSpPr>
          <p:nvPr/>
        </p:nvSpPr>
        <p:spPr bwMode="auto">
          <a:xfrm>
            <a:off x="5256213" y="4368800"/>
            <a:ext cx="2994025"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Arial" pitchFamily="34" charset="0"/>
                <a:ea typeface="ＭＳ Ｐゴシック" pitchFamily="50" charset="-128"/>
              </a:defRPr>
            </a:lvl1pPr>
            <a:lvl2pPr marL="742950" indent="-285750">
              <a:defRPr kumimoji="1" sz="2400">
                <a:solidFill>
                  <a:schemeClr val="tx1"/>
                </a:solidFill>
                <a:latin typeface="Arial" pitchFamily="34" charset="0"/>
                <a:ea typeface="ＭＳ Ｐゴシック" pitchFamily="50" charset="-128"/>
              </a:defRPr>
            </a:lvl2pPr>
            <a:lvl3pPr marL="1143000" indent="-228600">
              <a:defRPr kumimoji="1" sz="2400">
                <a:solidFill>
                  <a:schemeClr val="tx1"/>
                </a:solidFill>
                <a:latin typeface="Arial" pitchFamily="34" charset="0"/>
                <a:ea typeface="ＭＳ Ｐゴシック" pitchFamily="50" charset="-128"/>
              </a:defRPr>
            </a:lvl3pPr>
            <a:lvl4pPr marL="1600200" indent="-228600">
              <a:defRPr kumimoji="1" sz="2400">
                <a:solidFill>
                  <a:schemeClr val="tx1"/>
                </a:solidFill>
                <a:latin typeface="Arial" pitchFamily="34" charset="0"/>
                <a:ea typeface="ＭＳ Ｐゴシック" pitchFamily="50" charset="-128"/>
              </a:defRPr>
            </a:lvl4pPr>
            <a:lvl5pPr marL="2057400" indent="-228600">
              <a:defRPr kumimoji="1" sz="2400">
                <a:solidFill>
                  <a:schemeClr val="tx1"/>
                </a:solidFill>
                <a:latin typeface="Arial" pitchFamily="34" charset="0"/>
                <a:ea typeface="ＭＳ Ｐゴシック" pitchFamily="50" charset="-128"/>
              </a:defRPr>
            </a:lvl5pPr>
            <a:lvl6pPr marL="2514600" indent="-228600" fontAlgn="base">
              <a:spcBef>
                <a:spcPct val="0"/>
              </a:spcBef>
              <a:spcAft>
                <a:spcPct val="0"/>
              </a:spcAft>
              <a:defRPr kumimoji="1" sz="2400">
                <a:solidFill>
                  <a:schemeClr val="tx1"/>
                </a:solidFill>
                <a:latin typeface="Arial" pitchFamily="34" charset="0"/>
                <a:ea typeface="ＭＳ Ｐゴシック" pitchFamily="50" charset="-128"/>
              </a:defRPr>
            </a:lvl6pPr>
            <a:lvl7pPr marL="2971800" indent="-228600" fontAlgn="base">
              <a:spcBef>
                <a:spcPct val="0"/>
              </a:spcBef>
              <a:spcAft>
                <a:spcPct val="0"/>
              </a:spcAft>
              <a:defRPr kumimoji="1" sz="2400">
                <a:solidFill>
                  <a:schemeClr val="tx1"/>
                </a:solidFill>
                <a:latin typeface="Arial" pitchFamily="34" charset="0"/>
                <a:ea typeface="ＭＳ Ｐゴシック" pitchFamily="50" charset="-128"/>
              </a:defRPr>
            </a:lvl7pPr>
            <a:lvl8pPr marL="3429000" indent="-228600" fontAlgn="base">
              <a:spcBef>
                <a:spcPct val="0"/>
              </a:spcBef>
              <a:spcAft>
                <a:spcPct val="0"/>
              </a:spcAft>
              <a:defRPr kumimoji="1" sz="2400">
                <a:solidFill>
                  <a:schemeClr val="tx1"/>
                </a:solidFill>
                <a:latin typeface="Arial" pitchFamily="34" charset="0"/>
                <a:ea typeface="ＭＳ Ｐゴシック" pitchFamily="50" charset="-128"/>
              </a:defRPr>
            </a:lvl8pPr>
            <a:lvl9pPr marL="3886200" indent="-228600" fontAlgn="base">
              <a:spcBef>
                <a:spcPct val="0"/>
              </a:spcBef>
              <a:spcAft>
                <a:spcPct val="0"/>
              </a:spcAft>
              <a:defRPr kumimoji="1" sz="2400">
                <a:solidFill>
                  <a:schemeClr val="tx1"/>
                </a:solidFill>
                <a:latin typeface="Arial" pitchFamily="34" charset="0"/>
                <a:ea typeface="ＭＳ Ｐゴシック" pitchFamily="50" charset="-128"/>
              </a:defRPr>
            </a:lvl9pPr>
          </a:lstStyle>
          <a:p>
            <a:r>
              <a:rPr lang="en-US" altLang="ja-JP" sz="1800"/>
              <a:t>φ</a:t>
            </a:r>
            <a:r>
              <a:rPr lang="en-US" altLang="ja-JP" sz="1800" baseline="-25000"/>
              <a:t>1</a:t>
            </a:r>
            <a:r>
              <a:rPr lang="en-US" altLang="ja-JP" sz="1800" baseline="30000"/>
              <a:t>h+3</a:t>
            </a:r>
            <a:r>
              <a:rPr lang="en-US" altLang="ja-JP" sz="1800"/>
              <a:t> – φ</a:t>
            </a:r>
            <a:r>
              <a:rPr lang="en-US" altLang="ja-JP" sz="1800" baseline="-25000"/>
              <a:t>2</a:t>
            </a:r>
            <a:r>
              <a:rPr lang="en-US" altLang="ja-JP" sz="1800" baseline="30000"/>
              <a:t>h+3</a:t>
            </a:r>
            <a:r>
              <a:rPr lang="ja-JP" altLang="en-US" sz="1800"/>
              <a:t>　≦　　</a:t>
            </a:r>
            <a:r>
              <a:rPr lang="en-US" altLang="ja-JP" sz="1800"/>
              <a:t>5 (n+1)</a:t>
            </a:r>
          </a:p>
          <a:p>
            <a:endParaRPr lang="en-US" altLang="ja-JP" sz="800"/>
          </a:p>
          <a:p>
            <a:r>
              <a:rPr lang="en-US" altLang="ja-JP" sz="1800"/>
              <a:t>|φ</a:t>
            </a:r>
            <a:r>
              <a:rPr lang="en-US" altLang="ja-JP" sz="1800" baseline="-25000"/>
              <a:t>2</a:t>
            </a:r>
            <a:r>
              <a:rPr lang="en-US" altLang="ja-JP" sz="1800"/>
              <a:t>|&lt;1</a:t>
            </a:r>
            <a:r>
              <a:rPr lang="ja-JP" altLang="en-US" sz="1800"/>
              <a:t>だから</a:t>
            </a:r>
          </a:p>
          <a:p>
            <a:endParaRPr lang="ja-JP" altLang="en-US" sz="800"/>
          </a:p>
          <a:p>
            <a:r>
              <a:rPr lang="en-US" altLang="ja-JP" sz="1800"/>
              <a:t>φ</a:t>
            </a:r>
            <a:r>
              <a:rPr lang="en-US" altLang="ja-JP" sz="1800" baseline="-25000"/>
              <a:t>1</a:t>
            </a:r>
            <a:r>
              <a:rPr lang="en-US" altLang="ja-JP" sz="1800" baseline="30000"/>
              <a:t>h+3</a:t>
            </a:r>
            <a:r>
              <a:rPr lang="en-US" altLang="ja-JP" sz="1800"/>
              <a:t> – 1</a:t>
            </a:r>
            <a:r>
              <a:rPr lang="ja-JP" altLang="en-US" sz="1800"/>
              <a:t>　≦　　</a:t>
            </a:r>
            <a:r>
              <a:rPr lang="en-US" altLang="ja-JP" sz="1800"/>
              <a:t>5 (n+1)</a:t>
            </a:r>
          </a:p>
          <a:p>
            <a:endParaRPr lang="en-US" altLang="ja-JP" sz="800"/>
          </a:p>
          <a:p>
            <a:r>
              <a:rPr lang="ja-JP" altLang="en-US" sz="1800"/>
              <a:t>　　　　　</a:t>
            </a:r>
            <a:r>
              <a:rPr lang="en-US" altLang="ja-JP" sz="1800"/>
              <a:t>log(  5 (n+1)+1)</a:t>
            </a:r>
          </a:p>
          <a:p>
            <a:r>
              <a:rPr lang="en-US" altLang="ja-JP" sz="1800"/>
              <a:t>                log φ</a:t>
            </a:r>
            <a:r>
              <a:rPr lang="en-US" altLang="ja-JP" sz="1800" baseline="-25000"/>
              <a:t>1</a:t>
            </a:r>
          </a:p>
          <a:p>
            <a:endParaRPr lang="en-US" altLang="ja-JP" sz="800"/>
          </a:p>
          <a:p>
            <a:r>
              <a:rPr lang="ja-JP" altLang="en-US" sz="1800"/>
              <a:t>したがって</a:t>
            </a:r>
            <a:r>
              <a:rPr lang="en-US" altLang="ja-JP" sz="1800"/>
              <a:t>h=O(log n)</a:t>
            </a:r>
          </a:p>
        </p:txBody>
      </p:sp>
      <p:grpSp>
        <p:nvGrpSpPr>
          <p:cNvPr id="30736" name="Group 51"/>
          <p:cNvGrpSpPr>
            <a:grpSpLocks/>
          </p:cNvGrpSpPr>
          <p:nvPr/>
        </p:nvGrpSpPr>
        <p:grpSpPr bwMode="auto">
          <a:xfrm>
            <a:off x="7092950" y="4418013"/>
            <a:ext cx="358775" cy="215900"/>
            <a:chOff x="3969" y="3249"/>
            <a:chExt cx="317" cy="226"/>
          </a:xfrm>
        </p:grpSpPr>
        <p:sp>
          <p:nvSpPr>
            <p:cNvPr id="17446" name="Line 52"/>
            <p:cNvSpPr>
              <a:spLocks noChangeShapeType="1"/>
            </p:cNvSpPr>
            <p:nvPr/>
          </p:nvSpPr>
          <p:spPr bwMode="auto">
            <a:xfrm>
              <a:off x="3969" y="3430"/>
              <a:ext cx="90"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7447" name="Line 53"/>
            <p:cNvSpPr>
              <a:spLocks noChangeShapeType="1"/>
            </p:cNvSpPr>
            <p:nvPr/>
          </p:nvSpPr>
          <p:spPr bwMode="auto">
            <a:xfrm flipV="1">
              <a:off x="4059" y="3249"/>
              <a:ext cx="46"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7448" name="Line 54"/>
            <p:cNvSpPr>
              <a:spLocks noChangeShapeType="1"/>
            </p:cNvSpPr>
            <p:nvPr/>
          </p:nvSpPr>
          <p:spPr bwMode="auto">
            <a:xfrm>
              <a:off x="4104" y="3249"/>
              <a:ext cx="18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grpSp>
        <p:nvGrpSpPr>
          <p:cNvPr id="30737" name="Group 55"/>
          <p:cNvGrpSpPr>
            <a:grpSpLocks/>
          </p:cNvGrpSpPr>
          <p:nvPr/>
        </p:nvGrpSpPr>
        <p:grpSpPr bwMode="auto">
          <a:xfrm>
            <a:off x="6732588" y="5210175"/>
            <a:ext cx="358775" cy="215900"/>
            <a:chOff x="3969" y="3249"/>
            <a:chExt cx="317" cy="226"/>
          </a:xfrm>
        </p:grpSpPr>
        <p:sp>
          <p:nvSpPr>
            <p:cNvPr id="17443" name="Line 56"/>
            <p:cNvSpPr>
              <a:spLocks noChangeShapeType="1"/>
            </p:cNvSpPr>
            <p:nvPr/>
          </p:nvSpPr>
          <p:spPr bwMode="auto">
            <a:xfrm>
              <a:off x="3969" y="3430"/>
              <a:ext cx="90"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7444" name="Line 57"/>
            <p:cNvSpPr>
              <a:spLocks noChangeShapeType="1"/>
            </p:cNvSpPr>
            <p:nvPr/>
          </p:nvSpPr>
          <p:spPr bwMode="auto">
            <a:xfrm flipV="1">
              <a:off x="4059" y="3249"/>
              <a:ext cx="46"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7445" name="Line 58"/>
            <p:cNvSpPr>
              <a:spLocks noChangeShapeType="1"/>
            </p:cNvSpPr>
            <p:nvPr/>
          </p:nvSpPr>
          <p:spPr bwMode="auto">
            <a:xfrm>
              <a:off x="4104" y="3249"/>
              <a:ext cx="18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sp>
        <p:nvSpPr>
          <p:cNvPr id="17427" name="Text Box 59"/>
          <p:cNvSpPr txBox="1">
            <a:spLocks noChangeArrowheads="1"/>
          </p:cNvSpPr>
          <p:nvPr/>
        </p:nvSpPr>
        <p:spPr bwMode="auto">
          <a:xfrm>
            <a:off x="5448300" y="5707063"/>
            <a:ext cx="2940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en-US" altLang="ja-JP" smtClean="0"/>
              <a:t>h</a:t>
            </a:r>
            <a:r>
              <a:rPr lang="ja-JP" altLang="en-US" smtClean="0"/>
              <a:t>　≦　　　　　　　　　　　　－ </a:t>
            </a:r>
            <a:r>
              <a:rPr lang="en-US" altLang="ja-JP" smtClean="0"/>
              <a:t>3</a:t>
            </a:r>
          </a:p>
        </p:txBody>
      </p:sp>
      <p:grpSp>
        <p:nvGrpSpPr>
          <p:cNvPr id="30739" name="Group 60"/>
          <p:cNvGrpSpPr>
            <a:grpSpLocks/>
          </p:cNvGrpSpPr>
          <p:nvPr/>
        </p:nvGrpSpPr>
        <p:grpSpPr bwMode="auto">
          <a:xfrm>
            <a:off x="6427788" y="5635625"/>
            <a:ext cx="358775" cy="215900"/>
            <a:chOff x="3969" y="3249"/>
            <a:chExt cx="317" cy="226"/>
          </a:xfrm>
        </p:grpSpPr>
        <p:sp>
          <p:nvSpPr>
            <p:cNvPr id="17440" name="Line 61"/>
            <p:cNvSpPr>
              <a:spLocks noChangeShapeType="1"/>
            </p:cNvSpPr>
            <p:nvPr/>
          </p:nvSpPr>
          <p:spPr bwMode="auto">
            <a:xfrm>
              <a:off x="3969" y="3430"/>
              <a:ext cx="90"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7441" name="Line 62"/>
            <p:cNvSpPr>
              <a:spLocks noChangeShapeType="1"/>
            </p:cNvSpPr>
            <p:nvPr/>
          </p:nvSpPr>
          <p:spPr bwMode="auto">
            <a:xfrm flipV="1">
              <a:off x="4059" y="3249"/>
              <a:ext cx="46"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7442" name="Line 63"/>
            <p:cNvSpPr>
              <a:spLocks noChangeShapeType="1"/>
            </p:cNvSpPr>
            <p:nvPr/>
          </p:nvSpPr>
          <p:spPr bwMode="auto">
            <a:xfrm>
              <a:off x="4104" y="3249"/>
              <a:ext cx="18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grpSp>
      <p:sp>
        <p:nvSpPr>
          <p:cNvPr id="17429" name="Line 64"/>
          <p:cNvSpPr>
            <a:spLocks noChangeShapeType="1"/>
          </p:cNvSpPr>
          <p:nvPr/>
        </p:nvSpPr>
        <p:spPr bwMode="auto">
          <a:xfrm>
            <a:off x="6140450" y="5924550"/>
            <a:ext cx="15843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7430" name="Line 66"/>
          <p:cNvSpPr>
            <a:spLocks noChangeShapeType="1"/>
          </p:cNvSpPr>
          <p:nvPr/>
        </p:nvSpPr>
        <p:spPr bwMode="auto">
          <a:xfrm>
            <a:off x="4859338" y="2490788"/>
            <a:ext cx="0" cy="3744912"/>
          </a:xfrm>
          <a:prstGeom prst="line">
            <a:avLst/>
          </a:prstGeom>
          <a:noFill/>
          <a:ln w="57150">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7431" name="AutoShape 67"/>
          <p:cNvSpPr>
            <a:spLocks noChangeArrowheads="1"/>
          </p:cNvSpPr>
          <p:nvPr/>
        </p:nvSpPr>
        <p:spPr bwMode="auto">
          <a:xfrm>
            <a:off x="179388" y="2276475"/>
            <a:ext cx="8713787" cy="45085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7432" name="AutoShape 68"/>
          <p:cNvSpPr>
            <a:spLocks noChangeArrowheads="1"/>
          </p:cNvSpPr>
          <p:nvPr/>
        </p:nvSpPr>
        <p:spPr bwMode="auto">
          <a:xfrm>
            <a:off x="6356350" y="3141663"/>
            <a:ext cx="360363" cy="647700"/>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7433" name="AutoShape 69"/>
          <p:cNvSpPr>
            <a:spLocks noChangeArrowheads="1"/>
          </p:cNvSpPr>
          <p:nvPr/>
        </p:nvSpPr>
        <p:spPr bwMode="auto">
          <a:xfrm>
            <a:off x="6859588" y="3141663"/>
            <a:ext cx="431800" cy="719137"/>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7434" name="Oval 70"/>
          <p:cNvSpPr>
            <a:spLocks noChangeArrowheads="1"/>
          </p:cNvSpPr>
          <p:nvPr/>
        </p:nvSpPr>
        <p:spPr bwMode="auto">
          <a:xfrm>
            <a:off x="6716713" y="2852738"/>
            <a:ext cx="142875" cy="1444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ja-JP" altLang="en-US">
              <a:latin typeface="Arial" charset="0"/>
              <a:ea typeface="ＭＳ Ｐゴシック" charset="0"/>
              <a:cs typeface="ＭＳ Ｐゴシック" charset="0"/>
            </a:endParaRPr>
          </a:p>
        </p:txBody>
      </p:sp>
      <p:sp>
        <p:nvSpPr>
          <p:cNvPr id="17435" name="Line 71"/>
          <p:cNvSpPr>
            <a:spLocks noChangeShapeType="1"/>
          </p:cNvSpPr>
          <p:nvPr/>
        </p:nvSpPr>
        <p:spPr bwMode="auto">
          <a:xfrm flipH="1">
            <a:off x="6572250" y="2997200"/>
            <a:ext cx="144463"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7436" name="Line 72"/>
          <p:cNvSpPr>
            <a:spLocks noChangeShapeType="1"/>
          </p:cNvSpPr>
          <p:nvPr/>
        </p:nvSpPr>
        <p:spPr bwMode="auto">
          <a:xfrm>
            <a:off x="6859588" y="2997200"/>
            <a:ext cx="21590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ja-JP" altLang="en-US">
              <a:latin typeface="Arial" charset="0"/>
              <a:ea typeface="ＭＳ Ｐゴシック" charset="0"/>
              <a:cs typeface="ＭＳ Ｐゴシック" charset="0"/>
            </a:endParaRPr>
          </a:p>
        </p:txBody>
      </p:sp>
      <p:sp>
        <p:nvSpPr>
          <p:cNvPr id="17437" name="Text Box 73"/>
          <p:cNvSpPr txBox="1">
            <a:spLocks noChangeArrowheads="1"/>
          </p:cNvSpPr>
          <p:nvPr/>
        </p:nvSpPr>
        <p:spPr bwMode="auto">
          <a:xfrm>
            <a:off x="5708650" y="2420938"/>
            <a:ext cx="22812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z="1600" smtClean="0"/>
              <a:t>高さ</a:t>
            </a:r>
            <a:r>
              <a:rPr lang="en-US" altLang="ja-JP" sz="1600" smtClean="0"/>
              <a:t>h</a:t>
            </a:r>
            <a:r>
              <a:rPr lang="ja-JP" altLang="en-US" sz="1600" smtClean="0"/>
              <a:t>の節点数最小の木</a:t>
            </a:r>
          </a:p>
        </p:txBody>
      </p:sp>
      <p:sp>
        <p:nvSpPr>
          <p:cNvPr id="17438" name="Text Box 74"/>
          <p:cNvSpPr txBox="1">
            <a:spLocks noChangeArrowheads="1"/>
          </p:cNvSpPr>
          <p:nvPr/>
        </p:nvSpPr>
        <p:spPr bwMode="auto">
          <a:xfrm>
            <a:off x="7243763" y="3308350"/>
            <a:ext cx="1649412"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z="1600" smtClean="0"/>
              <a:t>高さ</a:t>
            </a:r>
            <a:r>
              <a:rPr lang="en-US" altLang="ja-JP" sz="1600" smtClean="0"/>
              <a:t>h-1</a:t>
            </a:r>
            <a:r>
              <a:rPr lang="ja-JP" altLang="en-US" sz="1600" smtClean="0"/>
              <a:t>の節点数</a:t>
            </a:r>
          </a:p>
          <a:p>
            <a:pPr eaLnBrk="1" hangingPunct="1">
              <a:defRPr/>
            </a:pPr>
            <a:r>
              <a:rPr lang="ja-JP" altLang="en-US" sz="1600" smtClean="0"/>
              <a:t>最小の木</a:t>
            </a:r>
          </a:p>
        </p:txBody>
      </p:sp>
      <p:sp>
        <p:nvSpPr>
          <p:cNvPr id="17439" name="Text Box 75"/>
          <p:cNvSpPr txBox="1">
            <a:spLocks noChangeArrowheads="1"/>
          </p:cNvSpPr>
          <p:nvPr/>
        </p:nvSpPr>
        <p:spPr bwMode="auto">
          <a:xfrm>
            <a:off x="4851400" y="3357563"/>
            <a:ext cx="164941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a:solidFill>
                  <a:schemeClr val="tx1"/>
                </a:solidFill>
                <a:latin typeface="Arial" charset="0"/>
                <a:ea typeface="ＭＳ Ｐゴシック" charset="0"/>
                <a:cs typeface="ＭＳ Ｐゴシック" charset="0"/>
              </a:defRPr>
            </a:lvl1pPr>
            <a:lvl2pPr marL="742950" indent="-285750" eaLnBrk="0" hangingPunct="0">
              <a:defRPr kumimoji="1">
                <a:solidFill>
                  <a:schemeClr val="tx1"/>
                </a:solidFill>
                <a:latin typeface="Arial" charset="0"/>
                <a:ea typeface="ＭＳ Ｐゴシック" charset="0"/>
              </a:defRPr>
            </a:lvl2pPr>
            <a:lvl3pPr marL="1143000" indent="-228600" eaLnBrk="0" hangingPunct="0">
              <a:defRPr kumimoji="1">
                <a:solidFill>
                  <a:schemeClr val="tx1"/>
                </a:solidFill>
                <a:latin typeface="Arial" charset="0"/>
                <a:ea typeface="ＭＳ Ｐゴシック" charset="0"/>
              </a:defRPr>
            </a:lvl3pPr>
            <a:lvl4pPr marL="1600200" indent="-228600" eaLnBrk="0" hangingPunct="0">
              <a:defRPr kumimoji="1">
                <a:solidFill>
                  <a:schemeClr val="tx1"/>
                </a:solidFill>
                <a:latin typeface="Arial" charset="0"/>
                <a:ea typeface="ＭＳ Ｐゴシック" charset="0"/>
              </a:defRPr>
            </a:lvl4pPr>
            <a:lvl5pPr marL="2057400" indent="-228600" eaLnBrk="0" hangingPunct="0">
              <a:defRPr kumimoji="1">
                <a:solidFill>
                  <a:schemeClr val="tx1"/>
                </a:solidFill>
                <a:latin typeface="Arial" charset="0"/>
                <a:ea typeface="ＭＳ Ｐゴシック" charset="0"/>
              </a:defRPr>
            </a:lvl5pPr>
            <a:lvl6pPr marL="2514600" indent="-228600" eaLnBrk="0" fontAlgn="base" hangingPunct="0">
              <a:spcBef>
                <a:spcPct val="0"/>
              </a:spcBef>
              <a:spcAft>
                <a:spcPct val="0"/>
              </a:spcAft>
              <a:defRPr kumimoji="1">
                <a:solidFill>
                  <a:schemeClr val="tx1"/>
                </a:solidFill>
                <a:latin typeface="Arial" charset="0"/>
                <a:ea typeface="ＭＳ Ｐゴシック" charset="0"/>
              </a:defRPr>
            </a:lvl6pPr>
            <a:lvl7pPr marL="2971800" indent="-228600" eaLnBrk="0" fontAlgn="base" hangingPunct="0">
              <a:spcBef>
                <a:spcPct val="0"/>
              </a:spcBef>
              <a:spcAft>
                <a:spcPct val="0"/>
              </a:spcAft>
              <a:defRPr kumimoji="1">
                <a:solidFill>
                  <a:schemeClr val="tx1"/>
                </a:solidFill>
                <a:latin typeface="Arial" charset="0"/>
                <a:ea typeface="ＭＳ Ｐゴシック" charset="0"/>
              </a:defRPr>
            </a:lvl7pPr>
            <a:lvl8pPr marL="3429000" indent="-228600" eaLnBrk="0" fontAlgn="base" hangingPunct="0">
              <a:spcBef>
                <a:spcPct val="0"/>
              </a:spcBef>
              <a:spcAft>
                <a:spcPct val="0"/>
              </a:spcAft>
              <a:defRPr kumimoji="1">
                <a:solidFill>
                  <a:schemeClr val="tx1"/>
                </a:solidFill>
                <a:latin typeface="Arial" charset="0"/>
                <a:ea typeface="ＭＳ Ｐゴシック" charset="0"/>
              </a:defRPr>
            </a:lvl8pPr>
            <a:lvl9pPr marL="3886200" indent="-228600" eaLnBrk="0" fontAlgn="base" hangingPunct="0">
              <a:spcBef>
                <a:spcPct val="0"/>
              </a:spcBef>
              <a:spcAft>
                <a:spcPct val="0"/>
              </a:spcAft>
              <a:defRPr kumimoji="1">
                <a:solidFill>
                  <a:schemeClr val="tx1"/>
                </a:solidFill>
                <a:latin typeface="Arial" charset="0"/>
                <a:ea typeface="ＭＳ Ｐゴシック" charset="0"/>
              </a:defRPr>
            </a:lvl9pPr>
          </a:lstStyle>
          <a:p>
            <a:pPr eaLnBrk="1" hangingPunct="1">
              <a:defRPr/>
            </a:pPr>
            <a:r>
              <a:rPr lang="ja-JP" altLang="en-US" sz="1600" smtClean="0"/>
              <a:t>高さ</a:t>
            </a:r>
            <a:r>
              <a:rPr lang="en-US" altLang="ja-JP" sz="1600" smtClean="0"/>
              <a:t>h-2</a:t>
            </a:r>
            <a:r>
              <a:rPr lang="ja-JP" altLang="en-US" sz="1600" smtClean="0"/>
              <a:t>の節点数</a:t>
            </a:r>
          </a:p>
          <a:p>
            <a:pPr eaLnBrk="1" hangingPunct="1">
              <a:defRPr/>
            </a:pPr>
            <a:r>
              <a:rPr lang="ja-JP" altLang="en-US" sz="1600" smtClean="0"/>
              <a:t>最小の木</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5083</TotalTime>
  <Words>1553</Words>
  <Application>Microsoft Office PowerPoint</Application>
  <PresentationFormat>画面に合わせる (4:3)</PresentationFormat>
  <Paragraphs>633</Paragraphs>
  <Slides>16</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16</vt:i4>
      </vt:variant>
    </vt:vector>
  </HeadingPairs>
  <TitlesOfParts>
    <vt:vector size="24" baseType="lpstr">
      <vt:lpstr>Arial</vt:lpstr>
      <vt:lpstr>ＭＳ Ｐゴシック</vt:lpstr>
      <vt:lpstr>Wingdings</vt:lpstr>
      <vt:lpstr>ＭＳ Ｐ明朝</vt:lpstr>
      <vt:lpstr>Times New Roman</vt:lpstr>
      <vt:lpstr>Arial Black</vt:lpstr>
      <vt:lpstr>ＭＳ ゴシック</vt:lpstr>
      <vt:lpstr>Pixel</vt:lpstr>
      <vt:lpstr>アルゴリズムとデータ構造</vt:lpstr>
      <vt:lpstr>前回の復習</vt:lpstr>
      <vt:lpstr>探索のためのデータ構造：　辞書(dictionary)</vt:lpstr>
      <vt:lpstr>ソート済み配列</vt:lpstr>
      <vt:lpstr>2分探索木</vt:lpstr>
      <vt:lpstr>２分探索木における操作（member操作）</vt:lpstr>
      <vt:lpstr>２分探索木における操作（insert操作）</vt:lpstr>
      <vt:lpstr>２分探索木における操作（delete操作）</vt:lpstr>
      <vt:lpstr>n要素の２分探索木に対する操作の時間計算量</vt:lpstr>
      <vt:lpstr>2分探索木の節点の深さの期待値はO(log n)</vt:lpstr>
      <vt:lpstr>証明つづき</vt:lpstr>
      <vt:lpstr>木のなぞり</vt:lpstr>
      <vt:lpstr>平衡探索木</vt:lpstr>
      <vt:lpstr>AVL木における操作</vt:lpstr>
      <vt:lpstr>AVL木における操作(2)</vt:lpstr>
      <vt:lpstr>n要素のAVL木に対する操作の時間計算量</vt:lpstr>
    </vt:vector>
  </TitlesOfParts>
  <Company>情報認識学研究室</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アルゴリズムとデータ構造</dc:title>
  <dc:creator>中村　篤祥</dc:creator>
  <cp:lastModifiedBy>kida</cp:lastModifiedBy>
  <cp:revision>63</cp:revision>
  <dcterms:created xsi:type="dcterms:W3CDTF">2007-04-11T03:39:14Z</dcterms:created>
  <dcterms:modified xsi:type="dcterms:W3CDTF">2016-05-09T11:51:25Z</dcterms:modified>
</cp:coreProperties>
</file>